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6"/>
  </p:notesMasterIdLst>
  <p:sldIdLst>
    <p:sldId id="307" r:id="rId3"/>
    <p:sldId id="290" r:id="rId4"/>
    <p:sldId id="305" r:id="rId5"/>
    <p:sldId id="306" r:id="rId7"/>
    <p:sldId id="319" r:id="rId8"/>
    <p:sldId id="291" r:id="rId9"/>
    <p:sldId id="292" r:id="rId10"/>
    <p:sldId id="293" r:id="rId11"/>
    <p:sldId id="318" r:id="rId12"/>
    <p:sldId id="309" r:id="rId13"/>
    <p:sldId id="310" r:id="rId14"/>
    <p:sldId id="289" r:id="rId15"/>
  </p:sldIdLst>
  <p:sldSz cx="12192000" cy="6858000"/>
  <p:notesSz cx="6858000" cy="9144000"/>
  <p:embeddedFontLst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786" userDrawn="1">
          <p15:clr>
            <a:srgbClr val="A4A3A4"/>
          </p15:clr>
        </p15:guide>
        <p15:guide id="3" orient="horz" pos="3861" userDrawn="1">
          <p15:clr>
            <a:srgbClr val="A4A3A4"/>
          </p15:clr>
        </p15:guide>
        <p15:guide id="4" orient="horz" pos="686" userDrawn="1">
          <p15:clr>
            <a:srgbClr val="A4A3A4"/>
          </p15:clr>
        </p15:guide>
        <p15:guide id="5" orient="horz" pos="799" userDrawn="1">
          <p15:clr>
            <a:srgbClr val="A4A3A4"/>
          </p15:clr>
        </p15:guide>
        <p15:guide id="6" pos="322" userDrawn="1">
          <p15:clr>
            <a:srgbClr val="A4A3A4"/>
          </p15:clr>
        </p15:guide>
        <p15:guide id="7" pos="73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9D2"/>
    <a:srgbClr val="0156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654" y="234"/>
      </p:cViewPr>
      <p:guideLst>
        <p:guide orient="horz" pos="2139"/>
        <p:guide pos="3786"/>
        <p:guide orient="horz" pos="3861"/>
        <p:guide orient="horz" pos="686"/>
        <p:guide orient="horz" pos="799"/>
        <p:guide pos="322"/>
        <p:guide pos="73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3EC41-5853-4702-8C64-1B17000D1A1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18767D-FD34-407F-AC51-FD2FD95A6E3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40C21"/>
              </a:gs>
              <a:gs pos="48000">
                <a:srgbClr val="061830"/>
              </a:gs>
              <a:gs pos="100000">
                <a:srgbClr val="0C3957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5938" y="263525"/>
            <a:ext cx="10837862" cy="603229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B9D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8" name="TextBox 25"/>
          <p:cNvSpPr txBox="1"/>
          <p:nvPr userDrawn="1"/>
        </p:nvSpPr>
        <p:spPr>
          <a:xfrm rot="10800000" flipV="1">
            <a:off x="10783982" y="6131291"/>
            <a:ext cx="1393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fld id="{2A04BE14-D2F3-40B0-9356-B5848CF1943B}" type="slidenum">
              <a:rPr lang="en-US" sz="4000" b="1" smtClean="0">
                <a:solidFill>
                  <a:srgbClr val="FFFFFF">
                    <a:lumMod val="85000"/>
                    <a:alpha val="50000"/>
                  </a:srgbClr>
                </a:solidFill>
                <a:latin typeface="+mj-ea"/>
                <a:ea typeface="+mj-ea"/>
                <a:cs typeface="Poppins ExtraBold" panose="00000900000000000000" pitchFamily="2" charset="0"/>
              </a:rPr>
            </a:fld>
            <a:endParaRPr lang="id-ID" sz="59500" b="1" dirty="0">
              <a:solidFill>
                <a:srgbClr val="FFFFFF">
                  <a:lumMod val="85000"/>
                  <a:alpha val="50000"/>
                </a:srgbClr>
              </a:solidFill>
              <a:latin typeface="+mj-ea"/>
              <a:ea typeface="+mj-ea"/>
              <a:cs typeface="Poppins ExtraBold" panose="00000900000000000000" pitchFamily="2" charset="0"/>
            </a:endParaRPr>
          </a:p>
        </p:txBody>
      </p:sp>
      <p:sp>
        <p:nvSpPr>
          <p:cNvPr id="29" name="TextBox 27"/>
          <p:cNvSpPr txBox="1"/>
          <p:nvPr userDrawn="1"/>
        </p:nvSpPr>
        <p:spPr>
          <a:xfrm>
            <a:off x="466404" y="6396334"/>
            <a:ext cx="328372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en-US" sz="800" spc="200" dirty="0">
                <a:solidFill>
                  <a:srgbClr val="FFFFFF">
                    <a:lumMod val="75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Open Sans Light" panose="020B0306030504020204" pitchFamily="34" charset="0"/>
              </a:rPr>
              <a:t>Global-link supply chain (China) Limited</a:t>
            </a:r>
            <a:endParaRPr lang="en-US" sz="800" spc="200" dirty="0">
              <a:solidFill>
                <a:srgbClr val="FFFFFF">
                  <a:lumMod val="75000"/>
                </a:srgb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Open Sans Light" panose="020B0306030504020204" pitchFamily="34" charset="0"/>
            </a:endParaRPr>
          </a:p>
        </p:txBody>
      </p:sp>
      <p:sp>
        <p:nvSpPr>
          <p:cNvPr id="30" name="Round Single Corner Rectangle 22"/>
          <p:cNvSpPr/>
          <p:nvPr userDrawn="1"/>
        </p:nvSpPr>
        <p:spPr>
          <a:xfrm flipH="1">
            <a:off x="9960000" y="848476"/>
            <a:ext cx="2232000" cy="252000"/>
          </a:xfrm>
          <a:prstGeom prst="round1Rect">
            <a:avLst>
              <a:gd name="adj" fmla="val 50000"/>
            </a:avLst>
          </a:prstGeom>
          <a:solidFill>
            <a:srgbClr val="C00000"/>
          </a:solidFill>
          <a:ln w="254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>
              <a:solidFill>
                <a:schemeClr val="lt1"/>
              </a:solidFill>
            </a:endParaRPr>
          </a:p>
        </p:txBody>
      </p:sp>
      <p:sp>
        <p:nvSpPr>
          <p:cNvPr id="31" name="TextBox 24"/>
          <p:cNvSpPr txBox="1"/>
          <p:nvPr userDrawn="1"/>
        </p:nvSpPr>
        <p:spPr>
          <a:xfrm>
            <a:off x="9977710" y="866754"/>
            <a:ext cx="197167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800" spc="200" baseline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 panose="020B0306030504020204" pitchFamily="34" charset="0"/>
                <a:cs typeface="Open Sans Light" panose="020B0306030504020204" pitchFamily="34" charset="0"/>
              </a:rPr>
              <a:t>链接世界  </a:t>
            </a:r>
            <a:r>
              <a:rPr kumimoji="0" lang="en-US" altLang="zh-CN" sz="800" b="0" i="0" u="none" strike="noStrike" kern="0" cap="none" spc="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|  </a:t>
            </a: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link the world</a:t>
            </a:r>
            <a:endParaRPr kumimoji="0" lang="en-US" sz="800" b="0" i="0" u="none" strike="noStrike" kern="0" cap="none" spc="2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0" name="Round Single Corner Rectangle 22"/>
          <p:cNvSpPr/>
          <p:nvPr userDrawn="1"/>
        </p:nvSpPr>
        <p:spPr>
          <a:xfrm>
            <a:off x="0" y="848476"/>
            <a:ext cx="9900000" cy="252000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21000">
                <a:srgbClr val="015681"/>
              </a:gs>
              <a:gs pos="100000">
                <a:srgbClr val="01B8D1"/>
              </a:gs>
            </a:gsLst>
            <a:lin ang="0" scaled="1"/>
            <a:tileRect/>
          </a:gradFill>
          <a:ln w="254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40C21"/>
              </a:gs>
              <a:gs pos="48000">
                <a:srgbClr val="061830"/>
              </a:gs>
              <a:gs pos="100000">
                <a:srgbClr val="0C3957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 txBox="1"/>
          <p:nvPr userDrawn="1"/>
        </p:nvSpPr>
        <p:spPr>
          <a:xfrm>
            <a:off x="839788" y="428625"/>
            <a:ext cx="10515600" cy="8921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olidFill>
                  <a:srgbClr val="00B9D2"/>
                </a:solidFill>
              </a:rPr>
              <a:t>单击此处编辑母版标题样式</a:t>
            </a:r>
            <a:endParaRPr lang="zh-CN" altLang="en-US" sz="2800" dirty="0">
              <a:solidFill>
                <a:srgbClr val="00B9D2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40C21"/>
              </a:gs>
              <a:gs pos="48000">
                <a:srgbClr val="061830"/>
              </a:gs>
              <a:gs pos="100000">
                <a:srgbClr val="0C3957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0.jpeg"/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单圆角 8"/>
          <p:cNvSpPr/>
          <p:nvPr/>
        </p:nvSpPr>
        <p:spPr>
          <a:xfrm>
            <a:off x="0" y="6129338"/>
            <a:ext cx="12192000" cy="728662"/>
          </a:xfrm>
          <a:prstGeom prst="round1Rect">
            <a:avLst>
              <a:gd name="adj" fmla="val 0"/>
            </a:avLst>
          </a:prstGeom>
          <a:gradFill flip="none" rotWithShape="1">
            <a:gsLst>
              <a:gs pos="21000">
                <a:srgbClr val="015681"/>
              </a:gs>
              <a:gs pos="100000">
                <a:srgbClr val="00B9D2"/>
              </a:gs>
            </a:gsLst>
            <a:lin ang="0" scaled="1"/>
            <a:tileRect/>
          </a:gradFill>
          <a:ln w="254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endParaRPr kumimoji="1" lang="en-US" altLang="zh-CN" spc="2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New Peninim MT Regular" charset="0"/>
              <a:sym typeface="+mn-ea"/>
            </a:endParaRPr>
          </a:p>
        </p:txBody>
      </p:sp>
      <p:sp>
        <p:nvSpPr>
          <p:cNvPr id="5" name="textbox 8"/>
          <p:cNvSpPr/>
          <p:nvPr/>
        </p:nvSpPr>
        <p:spPr>
          <a:xfrm>
            <a:off x="1392826" y="1282700"/>
            <a:ext cx="7890874" cy="195589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 anchor="b"/>
          <a:lstStyle/>
          <a:p>
            <a:pPr marL="19050" algn="l" rtl="0" eaLnBrk="0"/>
            <a:endParaRPr sz="6600" cap="all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/>
            </a:endParaRPr>
          </a:p>
        </p:txBody>
      </p:sp>
      <p:sp>
        <p:nvSpPr>
          <p:cNvPr id="8" name="矩形: 单圆角 7"/>
          <p:cNvSpPr/>
          <p:nvPr/>
        </p:nvSpPr>
        <p:spPr>
          <a:xfrm>
            <a:off x="1392826" y="2905216"/>
            <a:ext cx="5376276" cy="520700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21000">
                <a:srgbClr val="015681"/>
              </a:gs>
              <a:gs pos="100000">
                <a:srgbClr val="01B8D1"/>
              </a:gs>
            </a:gsLst>
            <a:lin ang="0" scaled="1"/>
            <a:tileRect/>
          </a:gradFill>
          <a:ln w="254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92826" y="809625"/>
            <a:ext cx="9275174" cy="2095592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b="1" dirty="0">
                <a:solidFill>
                  <a:schemeClr val="bg1"/>
                </a:solidFill>
                <a:latin typeface="+mj-ea"/>
              </a:rPr>
              <a:t>链接世界 </a:t>
            </a:r>
            <a:br>
              <a:rPr lang="zh-CN" altLang="en-US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</a:br>
            <a:r>
              <a:rPr lang="en-US" altLang="zh-CN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link the world</a:t>
            </a:r>
            <a:endParaRPr lang="zh-CN" altLang="en-US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>
          <a:xfrm>
            <a:off x="1392827" y="3040765"/>
            <a:ext cx="5376276" cy="1655762"/>
          </a:xfrm>
        </p:spPr>
        <p:txBody>
          <a:bodyPr>
            <a:normAutofit/>
          </a:bodyPr>
          <a:lstStyle/>
          <a:p>
            <a:pPr algn="l"/>
            <a:r>
              <a:rPr lang="en-US" altLang="zh-CN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Global-link supply chain (China) Limited</a:t>
            </a:r>
            <a:endParaRPr lang="en-US" altLang="zh-CN" sz="20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l"/>
            <a:r>
              <a:rPr lang="zh-CN" altLang="en-US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环联供应链（中国）有限公司</a:t>
            </a:r>
            <a:endParaRPr lang="zh-CN" altLang="en-US" sz="20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副标题 5"/>
          <p:cNvSpPr txBox="1"/>
          <p:nvPr/>
        </p:nvSpPr>
        <p:spPr>
          <a:xfrm>
            <a:off x="10382250" y="6327774"/>
            <a:ext cx="1616078" cy="353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400" u="sng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→ 欢迎进入</a:t>
            </a:r>
            <a:endParaRPr lang="zh-CN" altLang="en-US" sz="1400" u="sng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299200" y="5152390"/>
            <a:ext cx="5893435" cy="977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 dirty="0">
                <a:solidFill>
                  <a:schemeClr val="bg1"/>
                </a:solidFill>
                <a:sym typeface="+mn-ea"/>
              </a:rPr>
              <a:t> Contact us: partner.globallink.sc@gmail.com</a:t>
            </a:r>
            <a:endParaRPr lang="en-US" altLang="zh-CN" sz="2800" b="1" dirty="0">
              <a:solidFill>
                <a:schemeClr val="bg1"/>
              </a:solidFill>
            </a:endParaRPr>
          </a:p>
          <a:p>
            <a:endParaRPr lang="en-US" altLang="zh-CN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71"/>
          <a:stretch>
            <a:fillRect/>
          </a:stretch>
        </p:blipFill>
        <p:spPr>
          <a:xfrm>
            <a:off x="-1" y="0"/>
            <a:ext cx="12191999" cy="5911918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0" y="0"/>
            <a:ext cx="12191998" cy="5911918"/>
          </a:xfrm>
          <a:prstGeom prst="rect">
            <a:avLst/>
          </a:prstGeom>
          <a:gradFill flip="none" rotWithShape="1">
            <a:gsLst>
              <a:gs pos="0">
                <a:srgbClr val="040C21">
                  <a:alpha val="70000"/>
                </a:srgbClr>
              </a:gs>
              <a:gs pos="48000">
                <a:srgbClr val="061830">
                  <a:alpha val="70000"/>
                </a:srgbClr>
              </a:gs>
              <a:gs pos="100000">
                <a:srgbClr val="0C3957">
                  <a:alpha val="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单圆角 16"/>
          <p:cNvSpPr/>
          <p:nvPr/>
        </p:nvSpPr>
        <p:spPr>
          <a:xfrm>
            <a:off x="0" y="5549832"/>
            <a:ext cx="12192000" cy="1308168"/>
          </a:xfrm>
          <a:prstGeom prst="round1Rect">
            <a:avLst>
              <a:gd name="adj" fmla="val 0"/>
            </a:avLst>
          </a:prstGeom>
          <a:gradFill flip="none" rotWithShape="1">
            <a:gsLst>
              <a:gs pos="21000">
                <a:srgbClr val="015681"/>
              </a:gs>
              <a:gs pos="100000">
                <a:srgbClr val="00B9D2"/>
              </a:gs>
            </a:gsLst>
            <a:lin ang="0" scaled="1"/>
            <a:tileRect/>
          </a:gradFill>
          <a:ln w="254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kumimoji="1" lang="zh-CN" altLang="en-US" spc="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New Peninim MT Regular" charset="0"/>
                <a:sym typeface="+mn-ea"/>
              </a:rPr>
              <a:t>链接世界  </a:t>
            </a:r>
            <a:r>
              <a:rPr kumimoji="1" lang="en-US" altLang="zh-CN" spc="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New Peninim MT Regular" charset="0"/>
                <a:sym typeface="+mn-ea"/>
              </a:rPr>
              <a:t>|  link the world</a:t>
            </a:r>
            <a:endParaRPr kumimoji="1" lang="en-US" altLang="zh-CN" spc="2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New Peninim MT Regular" charset="0"/>
              <a:sym typeface="+mn-ea"/>
            </a:endParaRPr>
          </a:p>
        </p:txBody>
      </p:sp>
      <p:sp>
        <p:nvSpPr>
          <p:cNvPr id="4" name="textbox 6"/>
          <p:cNvSpPr/>
          <p:nvPr/>
        </p:nvSpPr>
        <p:spPr>
          <a:xfrm>
            <a:off x="981257" y="1698631"/>
            <a:ext cx="10229487" cy="17303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 anchor="ctr"/>
          <a:lstStyle/>
          <a:p>
            <a:pPr algn="ctr" rtl="0" eaLnBrk="0">
              <a:spcAft>
                <a:spcPts val="600"/>
              </a:spcAft>
            </a:pPr>
            <a:r>
              <a:rPr lang="en-US" sz="4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 Regular" panose="020B0604020202090204" charset="0"/>
              </a:rPr>
              <a:t>Global-link supply chain (China) Limited</a:t>
            </a:r>
            <a:endParaRPr lang="en-US" sz="40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 Regular" panose="020B0604020202090204" charset="0"/>
            </a:endParaRPr>
          </a:p>
          <a:p>
            <a:pPr algn="ctr" rtl="0" eaLnBrk="0">
              <a:spcAft>
                <a:spcPts val="600"/>
              </a:spcAft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Regular" panose="020B0604020202090204" charset="0"/>
              </a:rPr>
              <a:t>环联供应链（中国）有限公司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Regular" panose="020B060402020209020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5549832"/>
            <a:ext cx="12192001" cy="216000"/>
          </a:xfrm>
          <a:prstGeom prst="rect">
            <a:avLst/>
          </a:prstGeom>
          <a:solidFill>
            <a:srgbClr val="00B9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1542368" y="2933700"/>
            <a:ext cx="9107264" cy="0"/>
            <a:chOff x="1422399" y="2933700"/>
            <a:chExt cx="9107264" cy="0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8729663" y="2933700"/>
              <a:ext cx="1800000" cy="0"/>
            </a:xfrm>
            <a:prstGeom prst="line">
              <a:avLst/>
            </a:prstGeom>
            <a:ln w="38100" cap="rnd">
              <a:gradFill>
                <a:gsLst>
                  <a:gs pos="0">
                    <a:srgbClr val="00B9D2"/>
                  </a:gs>
                  <a:gs pos="100000">
                    <a:srgbClr val="00B9D2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flipH="1">
              <a:off x="1422399" y="2933700"/>
              <a:ext cx="1800000" cy="0"/>
            </a:xfrm>
            <a:prstGeom prst="line">
              <a:avLst/>
            </a:prstGeom>
            <a:ln w="38100" cap="rnd">
              <a:gradFill>
                <a:gsLst>
                  <a:gs pos="0">
                    <a:srgbClr val="00B9D2"/>
                  </a:gs>
                  <a:gs pos="100000">
                    <a:srgbClr val="00B9D2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单圆角 4"/>
          <p:cNvSpPr/>
          <p:nvPr/>
        </p:nvSpPr>
        <p:spPr>
          <a:xfrm flipV="1">
            <a:off x="529672" y="3429000"/>
            <a:ext cx="11146391" cy="2700462"/>
          </a:xfrm>
          <a:prstGeom prst="round1Rect">
            <a:avLst>
              <a:gd name="adj" fmla="val 0"/>
            </a:avLst>
          </a:prstGeom>
          <a:gradFill flip="none" rotWithShape="1">
            <a:gsLst>
              <a:gs pos="21000">
                <a:srgbClr val="015681"/>
              </a:gs>
              <a:gs pos="100000">
                <a:srgbClr val="01B8D1"/>
              </a:gs>
            </a:gsLst>
            <a:lin ang="0" scaled="1"/>
            <a:tileRect/>
          </a:gradFill>
          <a:ln w="254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5239" y="1298907"/>
            <a:ext cx="5419204" cy="21300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New Peninim MT Regular" charset="0"/>
                <a:sym typeface="+mn-ea"/>
              </a:rPr>
              <a:t>Specializing in providing </a:t>
            </a:r>
            <a:r>
              <a:rPr lang="en-US" altLang="zh-CN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New Peninim MT Regular" charset="0"/>
                <a:sym typeface="+mn-ea"/>
              </a:rPr>
              <a:t>global order fulfillment solutions </a:t>
            </a:r>
            <a:r>
              <a:rPr lang="en-US" altLang="zh-CN" sz="1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New Peninim MT Regular" charset="0"/>
                <a:sym typeface="+mn-ea"/>
              </a:rPr>
              <a:t>for </a:t>
            </a:r>
            <a:r>
              <a:rPr lang="en-US" altLang="zh-CN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New Peninim MT Regular" charset="0"/>
                <a:sym typeface="+mn-ea"/>
              </a:rPr>
              <a:t>DTC brands</a:t>
            </a:r>
            <a:r>
              <a:rPr lang="en-US" altLang="zh-CN" sz="1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New Peninim MT Regular" charset="0"/>
                <a:sym typeface="+mn-ea"/>
              </a:rPr>
              <a:t>（Direct-to-Consumer Brand）. operating in the global e-commerce sector, particularly those leveraging Chinese manufacturing capabilities while serving international markets, to help DTC brands reduce supply chain costs.</a:t>
            </a:r>
            <a:endParaRPr lang="zh-CN" altLang="en-US" sz="14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New Peninim MT Regular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73100" y="3619723"/>
            <a:ext cx="2558968" cy="2408139"/>
            <a:chOff x="1040" y="4752"/>
            <a:chExt cx="5386" cy="5066"/>
          </a:xfrm>
        </p:grpSpPr>
        <p:sp>
          <p:nvSpPr>
            <p:cNvPr id="94" name="矩形: 圆角 93"/>
            <p:cNvSpPr/>
            <p:nvPr/>
          </p:nvSpPr>
          <p:spPr>
            <a:xfrm>
              <a:off x="1040" y="6050"/>
              <a:ext cx="5386" cy="3768"/>
            </a:xfrm>
            <a:prstGeom prst="roundRect">
              <a:avLst>
                <a:gd name="adj" fmla="val 4512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 lang="zh-CN" altLang="en-US" sz="1400" b="1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7" name="矩形 96"/>
            <p:cNvSpPr/>
            <p:nvPr/>
          </p:nvSpPr>
          <p:spPr>
            <a:xfrm>
              <a:off x="1270" y="7042"/>
              <a:ext cx="4432" cy="12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Reduce Fulfillment Costs by</a:t>
              </a:r>
              <a:r>
                <a:rPr lang="en-US" altLang="zh-CN" sz="1400" dirty="0">
                  <a:solidFill>
                    <a:schemeClr val="tx1"/>
                  </a:solidFill>
                  <a:highlight>
                    <a:srgbClr val="000000">
                      <a:alpha val="0"/>
                    </a:srgbClr>
                  </a:highlight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 up to 40%​​</a:t>
              </a:r>
              <a:endParaRPr lang="en-US" altLang="zh-CN" sz="1400" b="1" dirty="0">
                <a:solidFill>
                  <a:schemeClr val="tx1"/>
                </a:solidFill>
                <a:effectLst/>
                <a:highlight>
                  <a:srgbClr val="000000">
                    <a:alpha val="0"/>
                  </a:srgbClr>
                </a:highlight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endParaRPr>
            </a:p>
          </p:txBody>
        </p:sp>
        <p:sp>
          <p:nvSpPr>
            <p:cNvPr id="98" name="矩形 97"/>
            <p:cNvSpPr/>
            <p:nvPr/>
          </p:nvSpPr>
          <p:spPr>
            <a:xfrm>
              <a:off x="1488" y="8536"/>
              <a:ext cx="4087" cy="12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+mj-ea"/>
                  <a:ea typeface="+mj-ea"/>
                </a:rPr>
                <a:t>降低高达</a:t>
              </a:r>
              <a:r>
                <a:rPr kumimoji="1" lang="en-US" altLang="zh-CN" sz="1400" b="1" dirty="0">
                  <a:solidFill>
                    <a:schemeClr val="tx1"/>
                  </a:solidFill>
                  <a:latin typeface="+mj-ea"/>
                  <a:ea typeface="+mj-ea"/>
                </a:rPr>
                <a:t>40%</a:t>
              </a:r>
              <a:r>
                <a:rPr kumimoji="1" lang="zh-CN" altLang="en-US" sz="1400" b="1" dirty="0">
                  <a:solidFill>
                    <a:schemeClr val="tx1"/>
                  </a:solidFill>
                  <a:latin typeface="+mj-ea"/>
                  <a:ea typeface="+mj-ea"/>
                </a:rPr>
                <a:t>的</a:t>
              </a:r>
              <a:endParaRPr kumimoji="1" lang="en-US" altLang="zh-CN" sz="1400" b="1" dirty="0">
                <a:solidFill>
                  <a:schemeClr val="tx1"/>
                </a:solidFill>
                <a:latin typeface="+mj-ea"/>
                <a:ea typeface="+mj-ea"/>
              </a:endParaRPr>
            </a:p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+mj-ea"/>
                  <a:ea typeface="+mj-ea"/>
                </a:rPr>
                <a:t>履约成本</a:t>
              </a:r>
              <a:endParaRPr kumimoji="1" lang="zh-CN" altLang="en-US" sz="140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pic>
          <p:nvPicPr>
            <p:cNvPr id="6" name="https://img8.file.cache.docer.com/storage/1681108146112724700/9fb1bb561a432be1733a94513f2a03a7.png" descr="下降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99" y="4752"/>
              <a:ext cx="2014" cy="2014"/>
            </a:xfrm>
            <a:prstGeom prst="rect">
              <a:avLst/>
            </a:prstGeom>
          </p:spPr>
        </p:pic>
      </p:grpSp>
      <p:grpSp>
        <p:nvGrpSpPr>
          <p:cNvPr id="32" name="组合 31"/>
          <p:cNvGrpSpPr/>
          <p:nvPr/>
        </p:nvGrpSpPr>
        <p:grpSpPr>
          <a:xfrm>
            <a:off x="3321413" y="3612786"/>
            <a:ext cx="2765995" cy="2415101"/>
            <a:chOff x="4953" y="5947"/>
            <a:chExt cx="4356" cy="3803"/>
          </a:xfrm>
        </p:grpSpPr>
        <p:grpSp>
          <p:nvGrpSpPr>
            <p:cNvPr id="14" name="组合 13"/>
            <p:cNvGrpSpPr/>
            <p:nvPr/>
          </p:nvGrpSpPr>
          <p:grpSpPr>
            <a:xfrm>
              <a:off x="4953" y="6906"/>
              <a:ext cx="4356" cy="2844"/>
              <a:chOff x="792" y="6050"/>
              <a:chExt cx="5823" cy="3799"/>
            </a:xfrm>
          </p:grpSpPr>
          <p:sp>
            <p:nvSpPr>
              <p:cNvPr id="15" name="矩形: 圆角 93"/>
              <p:cNvSpPr/>
              <p:nvPr/>
            </p:nvSpPr>
            <p:spPr>
              <a:xfrm>
                <a:off x="1040" y="6050"/>
                <a:ext cx="5386" cy="3799"/>
              </a:xfrm>
              <a:prstGeom prst="roundRect">
                <a:avLst>
                  <a:gd name="adj" fmla="val 4512"/>
                </a:avLst>
              </a:pr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792" y="7073"/>
                <a:ext cx="5823" cy="114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10000"/>
                  </a:lnSpc>
                </a:pPr>
                <a:r>
                  <a:rPr lang="en-US" altLang="zh-CN" sz="1400" dirty="0">
                    <a:solidFill>
                      <a:schemeClr val="tx1"/>
                    </a:solidFill>
                    <a:effectLst/>
                    <a:latin typeface="微软雅黑 Light" panose="020B0502040204020203" pitchFamily="34" charset="-122"/>
                    <a:ea typeface="微软雅黑 Light" panose="020B0502040204020203" pitchFamily="34" charset="-122"/>
                    <a:cs typeface="Arial Regular" panose="020B0604020202090204" charset="0"/>
                    <a:sym typeface="+mn-ea"/>
                  </a:rPr>
                  <a:t>Scale Operations</a:t>
                </a:r>
                <a:endParaRPr lang="en-US" altLang="zh-CN" sz="1400" dirty="0">
                  <a:solidFill>
                    <a:schemeClr val="tx1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Arial Regular" panose="020B0604020202090204" charset="0"/>
                  <a:sym typeface="+mn-ea"/>
                </a:endParaRPr>
              </a:p>
              <a:p>
                <a:pPr algn="ctr" defTabSz="914400">
                  <a:lnSpc>
                    <a:spcPct val="110000"/>
                  </a:lnSpc>
                </a:pPr>
                <a:r>
                  <a:rPr lang="en-US" altLang="zh-CN" sz="1400" dirty="0">
                    <a:solidFill>
                      <a:schemeClr val="tx1"/>
                    </a:solidFill>
                    <a:effectLst/>
                    <a:latin typeface="微软雅黑 Light" panose="020B0502040204020203" pitchFamily="34" charset="-122"/>
                    <a:ea typeface="微软雅黑 Light" panose="020B0502040204020203" pitchFamily="34" charset="-122"/>
                    <a:cs typeface="Arial Regular" panose="020B0604020202090204" charset="0"/>
                    <a:sym typeface="+mn-ea"/>
                  </a:rPr>
                  <a:t>without Hiring​</a:t>
                </a:r>
                <a:endParaRPr lang="en-US" altLang="zh-CN" sz="1400" dirty="0">
                  <a:solidFill>
                    <a:schemeClr val="tx1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Arial Regular" panose="020B0604020202090204" charset="0"/>
                  <a:sym typeface="+mn-ea"/>
                </a:endParaRPr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1516" y="8502"/>
                <a:ext cx="4433" cy="10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zh-CN" altLang="en-US" sz="1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无需额外招聘</a:t>
                </a:r>
                <a:endParaRPr kumimoji="1" lang="en-US" altLang="zh-CN" sz="14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  <a:p>
                <a:pPr algn="ctr"/>
                <a:r>
                  <a:rPr kumimoji="1" lang="zh-CN" altLang="en-US" sz="1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即可扩展运营</a:t>
                </a:r>
                <a:endParaRPr kumimoji="1" lang="zh-CN" altLang="en-US" sz="14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  <a:p>
                <a:pPr algn="ctr"/>
                <a:endParaRPr kumimoji="1" lang="zh-CN" altLang="en-US" sz="14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</p:grpSp>
        <p:pic>
          <p:nvPicPr>
            <p:cNvPr id="31" name="https://img8.file.cache.docer.com/storage/1733139632544970500/ad0993e9d984a12c9e641e5a8afd6c2c.png" descr="金融与科技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73" y="5947"/>
              <a:ext cx="1429" cy="1455"/>
            </a:xfrm>
            <a:prstGeom prst="rect">
              <a:avLst/>
            </a:prstGeom>
          </p:spPr>
        </p:pic>
      </p:grpSp>
      <p:grpSp>
        <p:nvGrpSpPr>
          <p:cNvPr id="37" name="组合 36"/>
          <p:cNvGrpSpPr/>
          <p:nvPr/>
        </p:nvGrpSpPr>
        <p:grpSpPr>
          <a:xfrm>
            <a:off x="6252953" y="3665674"/>
            <a:ext cx="2558415" cy="2362200"/>
            <a:chOff x="9987" y="6029"/>
            <a:chExt cx="4029" cy="3720"/>
          </a:xfrm>
        </p:grpSpPr>
        <p:grpSp>
          <p:nvGrpSpPr>
            <p:cNvPr id="21" name="组合 20"/>
            <p:cNvGrpSpPr/>
            <p:nvPr/>
          </p:nvGrpSpPr>
          <p:grpSpPr>
            <a:xfrm>
              <a:off x="9987" y="6906"/>
              <a:ext cx="4029" cy="2843"/>
              <a:chOff x="1040" y="6050"/>
              <a:chExt cx="5386" cy="3797"/>
            </a:xfrm>
          </p:grpSpPr>
          <p:sp>
            <p:nvSpPr>
              <p:cNvPr id="22" name="矩形: 圆角 93"/>
              <p:cNvSpPr/>
              <p:nvPr/>
            </p:nvSpPr>
            <p:spPr>
              <a:xfrm>
                <a:off x="1040" y="6050"/>
                <a:ext cx="5386" cy="3797"/>
              </a:xfrm>
              <a:prstGeom prst="roundRect">
                <a:avLst>
                  <a:gd name="adj" fmla="val 4512"/>
                </a:avLst>
              </a:pr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 lang="zh-CN" altLang="en-US" sz="1400" b="1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1394" y="7071"/>
                <a:ext cx="4432" cy="10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10000"/>
                  </a:lnSpc>
                </a:pPr>
                <a:r>
                  <a:rPr lang="en-US" altLang="zh-CN" sz="1400" dirty="0">
                    <a:solidFill>
                      <a:schemeClr val="tx1"/>
                    </a:solidFill>
                    <a:effectLst/>
                    <a:latin typeface="微软雅黑 Light" panose="020B0502040204020203" pitchFamily="34" charset="-122"/>
                    <a:ea typeface="微软雅黑 Light" panose="020B0502040204020203" pitchFamily="34" charset="-122"/>
                    <a:cs typeface="Arial Regular" panose="020B0604020202090204" charset="0"/>
                    <a:sym typeface="+mn-ea"/>
                  </a:rPr>
                  <a:t>Improve Customer Satisfaction Scores​</a:t>
                </a:r>
                <a:endParaRPr lang="en-US" altLang="zh-CN" sz="1400" dirty="0">
                  <a:solidFill>
                    <a:schemeClr val="tx1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Arial Regular" panose="020B0604020202090204" charset="0"/>
                  <a:sym typeface="+mn-ea"/>
                </a:endParaRPr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1598" y="8536"/>
                <a:ext cx="4087" cy="7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zh-CN" altLang="en-US" sz="1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提升客户满意度评分</a:t>
                </a:r>
                <a:endParaRPr kumimoji="1" lang="zh-CN" altLang="en-US" sz="14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</p:grpSp>
        <p:pic>
          <p:nvPicPr>
            <p:cNvPr id="33" name="图片 32" descr="100分成绩单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213" y="6029"/>
              <a:ext cx="1440" cy="1440"/>
            </a:xfrm>
            <a:prstGeom prst="rect">
              <a:avLst/>
            </a:prstGeom>
          </p:spPr>
        </p:pic>
      </p:grpSp>
      <p:grpSp>
        <p:nvGrpSpPr>
          <p:cNvPr id="38" name="组合 37"/>
          <p:cNvGrpSpPr/>
          <p:nvPr/>
        </p:nvGrpSpPr>
        <p:grpSpPr>
          <a:xfrm>
            <a:off x="8989613" y="3607889"/>
            <a:ext cx="2558415" cy="2419985"/>
            <a:chOff x="14835" y="5938"/>
            <a:chExt cx="4029" cy="3811"/>
          </a:xfrm>
        </p:grpSpPr>
        <p:grpSp>
          <p:nvGrpSpPr>
            <p:cNvPr id="26" name="组合 25"/>
            <p:cNvGrpSpPr/>
            <p:nvPr/>
          </p:nvGrpSpPr>
          <p:grpSpPr>
            <a:xfrm>
              <a:off x="14835" y="6906"/>
              <a:ext cx="4029" cy="2843"/>
              <a:chOff x="1040" y="6050"/>
              <a:chExt cx="5386" cy="3797"/>
            </a:xfrm>
          </p:grpSpPr>
          <p:sp>
            <p:nvSpPr>
              <p:cNvPr id="27" name="矩形: 圆角 93"/>
              <p:cNvSpPr/>
              <p:nvPr/>
            </p:nvSpPr>
            <p:spPr>
              <a:xfrm>
                <a:off x="1040" y="6050"/>
                <a:ext cx="5386" cy="3797"/>
              </a:xfrm>
              <a:prstGeom prst="roundRect">
                <a:avLst>
                  <a:gd name="adj" fmla="val 4512"/>
                </a:avLst>
              </a:pr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 lang="zh-CN" altLang="en-US" sz="1400" b="1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8" name="矩形 27"/>
              <p:cNvSpPr/>
              <p:nvPr/>
            </p:nvSpPr>
            <p:spPr>
              <a:xfrm>
                <a:off x="1252" y="6989"/>
                <a:ext cx="4947" cy="123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10000"/>
                  </a:lnSpc>
                </a:pPr>
                <a:r>
                  <a:rPr lang="en-US" altLang="zh-CN" sz="1400" dirty="0">
                    <a:solidFill>
                      <a:schemeClr val="tx1"/>
                    </a:solidFill>
                    <a:effectLst/>
                    <a:highlight>
                      <a:srgbClr val="000000">
                        <a:alpha val="0"/>
                      </a:srgbClr>
                    </a:highlight>
                    <a:latin typeface="微软雅黑 Light" panose="020B0502040204020203" pitchFamily="34" charset="-122"/>
                    <a:ea typeface="微软雅黑 Light" panose="020B0502040204020203" pitchFamily="34" charset="-122"/>
                    <a:cs typeface="Arial Regular" panose="020B0604020202090204" charset="0"/>
                    <a:sym typeface="+mn-ea"/>
                  </a:rPr>
                  <a:t>​Having more time to focus on Marketing &amp; Product Innovation</a:t>
                </a:r>
                <a:r>
                  <a:rPr lang="en-US" altLang="zh-CN" sz="1400" b="1" dirty="0">
                    <a:solidFill>
                      <a:schemeClr val="tx1"/>
                    </a:solidFill>
                    <a:effectLst/>
                    <a:highlight>
                      <a:srgbClr val="FFFF00"/>
                    </a:highlight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+mn-ea"/>
                  </a:rPr>
                  <a:t>​</a:t>
                </a:r>
                <a:endParaRPr lang="en-US" altLang="zh-CN" sz="1400" b="1" dirty="0">
                  <a:solidFill>
                    <a:schemeClr val="tx1"/>
                  </a:solidFill>
                  <a:effectLst/>
                  <a:highlight>
                    <a:srgbClr val="FFFF00"/>
                  </a:highlight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endParaRPr>
              </a:p>
              <a:p>
                <a:pPr algn="ctr" defTabSz="914400">
                  <a:lnSpc>
                    <a:spcPct val="110000"/>
                  </a:lnSpc>
                </a:pPr>
                <a:endParaRPr lang="en-US" altLang="zh-CN" sz="1400" b="1" dirty="0">
                  <a:solidFill>
                    <a:schemeClr val="tx1"/>
                  </a:solidFill>
                  <a:effectLst/>
                  <a:highlight>
                    <a:srgbClr val="FFFF00"/>
                  </a:highlight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endParaRPr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1751" y="8428"/>
                <a:ext cx="4087" cy="115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en-US" altLang="zh-CN" sz="1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 </a:t>
                </a:r>
                <a:r>
                  <a:rPr kumimoji="1" lang="zh-CN" altLang="en-US" sz="1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有更多时间专注于</a:t>
                </a:r>
                <a:endParaRPr kumimoji="1" lang="en-US" altLang="zh-CN" sz="14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  <a:p>
                <a:pPr algn="ctr"/>
                <a:r>
                  <a:rPr kumimoji="1" lang="zh-CN" altLang="en-US" sz="14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市场营销与产品创新</a:t>
                </a:r>
                <a:endParaRPr kumimoji="1" lang="zh-CN" altLang="en-US" sz="14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  <a:p>
                <a:pPr algn="ctr"/>
                <a:endParaRPr kumimoji="1" lang="zh-CN" altLang="en-US" sz="14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</p:grpSp>
        <p:pic>
          <p:nvPicPr>
            <p:cNvPr id="34" name="图片 33" descr="专注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6001" y="5938"/>
              <a:ext cx="1440" cy="1440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zh-CN" altLang="en-US" dirty="0">
                <a:latin typeface="+mj-ea"/>
              </a:rPr>
              <a:t>关于我们 </a:t>
            </a:r>
            <a:r>
              <a:rPr lang="en-US" altLang="zh-CN" dirty="0">
                <a:solidFill>
                  <a:srgbClr val="00B9D2"/>
                </a:solidFill>
                <a:latin typeface="+mj-ea"/>
              </a:rPr>
              <a:t>About us</a:t>
            </a:r>
            <a:endParaRPr lang="zh-CN" altLang="en-US" dirty="0">
              <a:solidFill>
                <a:srgbClr val="00B9D2"/>
              </a:solidFill>
              <a:latin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35530" y="1298906"/>
            <a:ext cx="5419204" cy="208658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New Peninim MT Regular" charset="0"/>
                <a:sym typeface="+mn-ea"/>
              </a:rPr>
              <a:t>专注于为全球电子商务领域的</a:t>
            </a:r>
            <a:r>
              <a:rPr lang="en-US" altLang="zh-CN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New Peninim MT Regular" charset="0"/>
                <a:sym typeface="+mn-ea"/>
              </a:rPr>
              <a:t> DTC </a:t>
            </a:r>
            <a:r>
              <a:rPr lang="zh-CN" altLang="en-US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New Peninim MT Regular" charset="0"/>
                <a:sym typeface="+mn-ea"/>
              </a:rPr>
              <a:t>品牌提供全球订单履约解决方案，主要服务依托中国制造业能力</a:t>
            </a:r>
            <a:r>
              <a:rPr lang="en-US" altLang="zh-CN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New Peninim MT Regular" charset="0"/>
                <a:sym typeface="+mn-ea"/>
              </a:rPr>
              <a:t>，</a:t>
            </a:r>
            <a:r>
              <a:rPr lang="zh-CN" altLang="en-US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New Peninim MT Regular" charset="0"/>
                <a:sym typeface="+mn-ea"/>
              </a:rPr>
              <a:t>同时面向国际市场的</a:t>
            </a:r>
            <a:r>
              <a:rPr lang="en-US" altLang="zh-CN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New Peninim MT Regular" charset="0"/>
                <a:sym typeface="+mn-ea"/>
              </a:rPr>
              <a:t> DTC </a:t>
            </a:r>
            <a:r>
              <a:rPr lang="zh-CN" altLang="en-US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New Peninim MT Regular" charset="0"/>
                <a:sym typeface="+mn-ea"/>
              </a:rPr>
              <a:t>品牌，助力其降低供应链成本</a:t>
            </a:r>
            <a:r>
              <a:rPr lang="en-US" altLang="zh-CN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New Peninim MT Regular" charset="0"/>
                <a:sym typeface="+mn-ea"/>
              </a:rPr>
              <a:t>！</a:t>
            </a:r>
            <a:endParaRPr lang="zh-CN" altLang="en-US" sz="20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New Peninim MT Regular" charset="0"/>
            </a:endParaRPr>
          </a:p>
          <a:p>
            <a:pPr algn="just"/>
            <a:endParaRPr lang="zh-CN" altLang="en-US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New Peninim MT Regular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核心优势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Competition advantage</a:t>
            </a:r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0" name="Rectangle 3"/>
          <p:cNvSpPr/>
          <p:nvPr/>
        </p:nvSpPr>
        <p:spPr>
          <a:xfrm>
            <a:off x="511411" y="1950657"/>
            <a:ext cx="2704920" cy="3835020"/>
          </a:xfrm>
          <a:prstGeom prst="rect">
            <a:avLst/>
          </a:prstGeom>
          <a:solidFill>
            <a:sysClr val="window" lastClr="FFFFFF"/>
          </a:solidFill>
          <a:ln w="38100" cap="flat" cmpd="sng" algn="ctr">
            <a:solidFill>
              <a:srgbClr val="00B9D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Rectangle 4"/>
          <p:cNvSpPr/>
          <p:nvPr/>
        </p:nvSpPr>
        <p:spPr>
          <a:xfrm>
            <a:off x="3335799" y="1950656"/>
            <a:ext cx="2704920" cy="3835020"/>
          </a:xfrm>
          <a:prstGeom prst="rect">
            <a:avLst/>
          </a:prstGeom>
          <a:solidFill>
            <a:sysClr val="window" lastClr="FFFFFF"/>
          </a:solidFill>
          <a:ln w="38100" cap="flat" cmpd="sng" algn="ctr">
            <a:solidFill>
              <a:srgbClr val="00B9D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ectangle 5"/>
          <p:cNvSpPr/>
          <p:nvPr/>
        </p:nvSpPr>
        <p:spPr>
          <a:xfrm>
            <a:off x="6172888" y="1950657"/>
            <a:ext cx="2704920" cy="3835020"/>
          </a:xfrm>
          <a:prstGeom prst="rect">
            <a:avLst/>
          </a:prstGeom>
          <a:solidFill>
            <a:sysClr val="window" lastClr="FFFFFF"/>
          </a:solidFill>
          <a:ln w="38100" cap="flat" cmpd="sng" algn="ctr">
            <a:solidFill>
              <a:srgbClr val="00B9D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angle 6"/>
          <p:cNvSpPr/>
          <p:nvPr/>
        </p:nvSpPr>
        <p:spPr>
          <a:xfrm>
            <a:off x="8997276" y="1950656"/>
            <a:ext cx="2704920" cy="3835020"/>
          </a:xfrm>
          <a:prstGeom prst="rect">
            <a:avLst/>
          </a:prstGeom>
          <a:solidFill>
            <a:sysClr val="window" lastClr="FFFFFF"/>
          </a:solidFill>
          <a:ln w="38100" cap="flat" cmpd="sng" algn="ctr">
            <a:solidFill>
              <a:srgbClr val="00B9D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Box 23"/>
          <p:cNvSpPr txBox="1"/>
          <p:nvPr/>
        </p:nvSpPr>
        <p:spPr>
          <a:xfrm>
            <a:off x="632778" y="2585674"/>
            <a:ext cx="2508787" cy="782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sz="1400" b="1" dirty="0">
                <a:solidFill>
                  <a:srgbClr val="00B9D2"/>
                </a:solidFill>
                <a:latin typeface="+mj-ea"/>
                <a:ea typeface="+mj-ea"/>
              </a:rPr>
              <a:t>E-commerce Fulfilment</a:t>
            </a:r>
            <a:endParaRPr lang="en-US" sz="1400" b="1" dirty="0">
              <a:solidFill>
                <a:srgbClr val="00B9D2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00B9D2"/>
                </a:solidFill>
                <a:latin typeface="+mj-ea"/>
                <a:ea typeface="+mj-ea"/>
              </a:rPr>
              <a:t>电商履约服务</a:t>
            </a:r>
            <a:endParaRPr lang="zh-CN" altLang="en-US" dirty="0">
              <a:solidFill>
                <a:srgbClr val="00B9D2"/>
              </a:solidFill>
              <a:latin typeface="+mj-ea"/>
              <a:ea typeface="+mj-ea"/>
            </a:endParaRPr>
          </a:p>
        </p:txBody>
      </p:sp>
      <p:sp>
        <p:nvSpPr>
          <p:cNvPr id="69" name="Rectangle 24"/>
          <p:cNvSpPr/>
          <p:nvPr/>
        </p:nvSpPr>
        <p:spPr>
          <a:xfrm>
            <a:off x="632778" y="3365207"/>
            <a:ext cx="2508787" cy="1704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Your online order, fulfilled. We manage storage, picking, packing &amp; shipping directly to your customers.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消费者下单后，直接为您完成从仓储、拣货、打包到将商品配送至最终消费者手中的全流程服务。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0" name="Rectangle: Rounded Corners 25"/>
          <p:cNvSpPr/>
          <p:nvPr/>
        </p:nvSpPr>
        <p:spPr>
          <a:xfrm>
            <a:off x="1103493" y="5097869"/>
            <a:ext cx="1520757" cy="437543"/>
          </a:xfrm>
          <a:prstGeom prst="roundRect">
            <a:avLst>
              <a:gd name="adj" fmla="val 20277"/>
            </a:avLst>
          </a:prstGeom>
          <a:solidFill>
            <a:srgbClr val="00B9D2"/>
          </a:solidFill>
          <a:ln>
            <a:noFill/>
          </a:ln>
          <a:effectLst>
            <a:outerShdw blurRad="254000" dist="127000" dir="5400000" algn="t" rotWithShape="0">
              <a:schemeClr val="accent1">
                <a:lumMod val="75000"/>
                <a:alpha val="20000"/>
              </a:schemeClr>
            </a:outerShdw>
          </a:effectLst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algn="ctr">
              <a:spcBef>
                <a:spcPts val="1000"/>
              </a:spcBef>
            </a:pPr>
            <a:r>
              <a:rPr lang="en-US" cap="all" dirty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link the world</a:t>
            </a:r>
            <a:endParaRPr lang="en-US" cap="all" dirty="0">
              <a:solidFill>
                <a:srgbClr val="FFFF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1" name="TextBox 26"/>
          <p:cNvSpPr txBox="1"/>
          <p:nvPr/>
        </p:nvSpPr>
        <p:spPr>
          <a:xfrm>
            <a:off x="3335800" y="2543542"/>
            <a:ext cx="2612990" cy="782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sz="1400" b="1" dirty="0">
                <a:solidFill>
                  <a:srgbClr val="00B9D2"/>
                </a:solidFill>
                <a:latin typeface="+mj-ea"/>
                <a:ea typeface="+mj-ea"/>
              </a:rPr>
              <a:t>Crowdfunding Fulfillment</a:t>
            </a:r>
            <a:endParaRPr lang="en-US" sz="1400" b="1" dirty="0">
              <a:solidFill>
                <a:srgbClr val="00B9D2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00B9D2"/>
                </a:solidFill>
                <a:latin typeface="+mj-ea"/>
                <a:ea typeface="+mj-ea"/>
              </a:rPr>
              <a:t>众筹履约服务</a:t>
            </a:r>
            <a:endParaRPr lang="zh-CN" altLang="en-US" dirty="0">
              <a:solidFill>
                <a:srgbClr val="00B9D2"/>
              </a:solidFill>
              <a:latin typeface="+mj-ea"/>
              <a:ea typeface="+mj-ea"/>
            </a:endParaRPr>
          </a:p>
        </p:txBody>
      </p:sp>
      <p:sp>
        <p:nvSpPr>
          <p:cNvPr id="72" name="Rectangle 27"/>
          <p:cNvSpPr/>
          <p:nvPr/>
        </p:nvSpPr>
        <p:spPr>
          <a:xfrm>
            <a:off x="3409768" y="3365207"/>
            <a:ext cx="2539022" cy="1704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Provides rewards fulfillment for crowdfunding projects, helps startup brands complete product delivery.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为众筹项目提供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rewards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履约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助力初创品牌完成产品交付。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3" name="Rectangle: Rounded Corners 28"/>
          <p:cNvSpPr/>
          <p:nvPr/>
        </p:nvSpPr>
        <p:spPr>
          <a:xfrm>
            <a:off x="3900299" y="5097869"/>
            <a:ext cx="1520757" cy="437543"/>
          </a:xfrm>
          <a:prstGeom prst="roundRect">
            <a:avLst>
              <a:gd name="adj" fmla="val 20277"/>
            </a:avLst>
          </a:prstGeom>
          <a:solidFill>
            <a:srgbClr val="00B9D2"/>
          </a:solidFill>
          <a:ln>
            <a:noFill/>
          </a:ln>
          <a:effectLst>
            <a:outerShdw blurRad="254000" dist="127000" dir="5400000" algn="t" rotWithShape="0">
              <a:schemeClr val="accent1">
                <a:lumMod val="75000"/>
                <a:alpha val="20000"/>
              </a:schemeClr>
            </a:outerShdw>
          </a:effectLst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algn="ctr">
              <a:spcBef>
                <a:spcPts val="1000"/>
              </a:spcBef>
            </a:pPr>
            <a:r>
              <a:rPr lang="en-US" cap="all" dirty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link the world</a:t>
            </a:r>
            <a:endParaRPr lang="en-US" cap="all" dirty="0">
              <a:solidFill>
                <a:srgbClr val="FFFF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4" name="TextBox 29"/>
          <p:cNvSpPr txBox="1"/>
          <p:nvPr/>
        </p:nvSpPr>
        <p:spPr>
          <a:xfrm>
            <a:off x="6366325" y="2551651"/>
            <a:ext cx="2312656" cy="782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sz="1400" b="1" dirty="0">
                <a:solidFill>
                  <a:srgbClr val="00B9D2"/>
                </a:solidFill>
                <a:latin typeface="+mj-ea"/>
                <a:ea typeface="+mj-ea"/>
              </a:rPr>
              <a:t>Amazon Fulfillment</a:t>
            </a:r>
            <a:endParaRPr lang="en-US" sz="1400" b="1" dirty="0">
              <a:solidFill>
                <a:srgbClr val="00B9D2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00B9D2"/>
                </a:solidFill>
                <a:latin typeface="+mj-ea"/>
                <a:ea typeface="+mj-ea"/>
              </a:rPr>
              <a:t>亚马逊履约服务</a:t>
            </a:r>
            <a:endParaRPr lang="zh-CN" altLang="en-US" dirty="0">
              <a:solidFill>
                <a:srgbClr val="00B9D2"/>
              </a:solidFill>
              <a:latin typeface="+mj-ea"/>
              <a:ea typeface="+mj-ea"/>
            </a:endParaRPr>
          </a:p>
        </p:txBody>
      </p:sp>
      <p:sp>
        <p:nvSpPr>
          <p:cNvPr id="75" name="Rectangle 30"/>
          <p:cNvSpPr/>
          <p:nvPr/>
        </p:nvSpPr>
        <p:spPr>
          <a:xfrm>
            <a:off x="6366325" y="3365207"/>
            <a:ext cx="2416779" cy="130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FBA Prep services for Amazon warehouse replenishment and overseas warehousing.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为亚马逊仓库补货提供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FBA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预处理服务及海外仓储。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6" name="Rectangle: Rounded Corners 31"/>
          <p:cNvSpPr/>
          <p:nvPr/>
        </p:nvSpPr>
        <p:spPr>
          <a:xfrm>
            <a:off x="6743292" y="5103459"/>
            <a:ext cx="1520757" cy="437543"/>
          </a:xfrm>
          <a:prstGeom prst="roundRect">
            <a:avLst>
              <a:gd name="adj" fmla="val 20277"/>
            </a:avLst>
          </a:prstGeom>
          <a:solidFill>
            <a:srgbClr val="00B9D2"/>
          </a:solidFill>
          <a:ln>
            <a:noFill/>
          </a:ln>
          <a:effectLst>
            <a:outerShdw blurRad="254000" dist="127000" dir="5400000" algn="t" rotWithShape="0">
              <a:schemeClr val="accent1">
                <a:lumMod val="75000"/>
                <a:alpha val="20000"/>
              </a:schemeClr>
            </a:outerShdw>
          </a:effectLst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algn="ctr">
              <a:spcBef>
                <a:spcPts val="1000"/>
              </a:spcBef>
            </a:pPr>
            <a:r>
              <a:rPr lang="en-US" cap="all" dirty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link the world</a:t>
            </a:r>
            <a:endParaRPr lang="en-US" cap="all" dirty="0">
              <a:solidFill>
                <a:srgbClr val="FFFF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7" name="TextBox 32"/>
          <p:cNvSpPr txBox="1"/>
          <p:nvPr/>
        </p:nvSpPr>
        <p:spPr>
          <a:xfrm>
            <a:off x="9193408" y="2563020"/>
            <a:ext cx="2312656" cy="781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sz="1400" b="1" dirty="0">
                <a:solidFill>
                  <a:srgbClr val="00B9D2"/>
                </a:solidFill>
                <a:latin typeface="+mj-ea"/>
                <a:ea typeface="+mj-ea"/>
              </a:rPr>
              <a:t>B2B Fulfillment</a:t>
            </a:r>
            <a:endParaRPr lang="en-US" sz="1400" b="1" dirty="0">
              <a:solidFill>
                <a:srgbClr val="00B9D2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dirty="0">
                <a:solidFill>
                  <a:srgbClr val="00B9D2"/>
                </a:solidFill>
                <a:latin typeface="+mj-ea"/>
                <a:ea typeface="+mj-ea"/>
              </a:rPr>
              <a:t>B2B</a:t>
            </a:r>
            <a:r>
              <a:rPr lang="zh-CN" altLang="en-US" dirty="0">
                <a:solidFill>
                  <a:srgbClr val="00B9D2"/>
                </a:solidFill>
                <a:latin typeface="+mj-ea"/>
                <a:ea typeface="+mj-ea"/>
              </a:rPr>
              <a:t>履约服务</a:t>
            </a:r>
            <a:endParaRPr lang="zh-CN" altLang="en-US" dirty="0">
              <a:solidFill>
                <a:srgbClr val="00B9D2"/>
              </a:solidFill>
              <a:latin typeface="+mj-ea"/>
              <a:ea typeface="+mj-ea"/>
            </a:endParaRPr>
          </a:p>
        </p:txBody>
      </p:sp>
      <p:sp>
        <p:nvSpPr>
          <p:cNvPr id="78" name="Rectangle 33"/>
          <p:cNvSpPr/>
          <p:nvPr/>
        </p:nvSpPr>
        <p:spPr>
          <a:xfrm>
            <a:off x="9071245" y="3365207"/>
            <a:ext cx="2485751" cy="1504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Streamlined order fulfillment and distribution for bulk, business-to-business transactions.​​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为大批量的企业间交易提供简化的订单履行与分销服务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9" name="Rectangle: Rounded Corners 34"/>
          <p:cNvSpPr/>
          <p:nvPr/>
        </p:nvSpPr>
        <p:spPr>
          <a:xfrm>
            <a:off x="9565544" y="5102835"/>
            <a:ext cx="1520757" cy="437543"/>
          </a:xfrm>
          <a:prstGeom prst="roundRect">
            <a:avLst>
              <a:gd name="adj" fmla="val 20277"/>
            </a:avLst>
          </a:prstGeom>
          <a:solidFill>
            <a:srgbClr val="00B9D2"/>
          </a:solidFill>
          <a:ln>
            <a:noFill/>
          </a:ln>
          <a:effectLst>
            <a:outerShdw blurRad="254000" dist="127000" dir="5400000" algn="t" rotWithShape="0">
              <a:schemeClr val="accent1">
                <a:lumMod val="75000"/>
                <a:alpha val="20000"/>
              </a:schemeClr>
            </a:outerShdw>
          </a:effectLst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algn="ctr">
              <a:spcBef>
                <a:spcPts val="1000"/>
              </a:spcBef>
            </a:pPr>
            <a:r>
              <a:rPr lang="en-US" cap="all" dirty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link the world</a:t>
            </a:r>
            <a:endParaRPr lang="en-US" cap="all" dirty="0">
              <a:solidFill>
                <a:srgbClr val="FFFF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8" name="矩形: 圆角 497"/>
          <p:cNvSpPr>
            <a:spLocks noChangeAspect="1"/>
          </p:cNvSpPr>
          <p:nvPr/>
        </p:nvSpPr>
        <p:spPr>
          <a:xfrm>
            <a:off x="1358904" y="1445689"/>
            <a:ext cx="1009934" cy="1009934"/>
          </a:xfrm>
          <a:prstGeom prst="roundRect">
            <a:avLst>
              <a:gd name="adj" fmla="val 50000"/>
            </a:avLst>
          </a:prstGeom>
          <a:solidFill>
            <a:srgbClr val="00B9D2"/>
          </a:solidFill>
          <a:ln w="6055" cap="flat">
            <a:noFill/>
            <a:prstDash val="solid"/>
            <a:miter/>
          </a:ln>
        </p:spPr>
        <p:txBody>
          <a:bodyPr lIns="108000" tIns="108000" rIns="108000" bIns="108000" rtlCol="0" anchor="ctr"/>
          <a:lstStyle/>
          <a:p>
            <a:pPr algn="ctr"/>
            <a:endParaRPr lang="zh-CN" altLang="en-US" dirty="0"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00" name="矩形: 圆角 497"/>
          <p:cNvSpPr>
            <a:spLocks noChangeAspect="1"/>
          </p:cNvSpPr>
          <p:nvPr/>
        </p:nvSpPr>
        <p:spPr>
          <a:xfrm>
            <a:off x="4155711" y="1445689"/>
            <a:ext cx="1009934" cy="1009934"/>
          </a:xfrm>
          <a:prstGeom prst="roundRect">
            <a:avLst>
              <a:gd name="adj" fmla="val 50000"/>
            </a:avLst>
          </a:prstGeom>
          <a:solidFill>
            <a:srgbClr val="00B9D2"/>
          </a:solidFill>
          <a:ln w="6055" cap="flat">
            <a:noFill/>
            <a:prstDash val="solid"/>
            <a:miter/>
          </a:ln>
        </p:spPr>
        <p:txBody>
          <a:bodyPr lIns="108000" tIns="108000" rIns="108000" bIns="108000" rtlCol="0" anchor="ctr"/>
          <a:lstStyle/>
          <a:p>
            <a:pPr algn="ctr"/>
            <a:endParaRPr lang="zh-CN" altLang="en-US" dirty="0"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01" name="矩形: 圆角 497"/>
          <p:cNvSpPr>
            <a:spLocks noChangeAspect="1"/>
          </p:cNvSpPr>
          <p:nvPr/>
        </p:nvSpPr>
        <p:spPr>
          <a:xfrm>
            <a:off x="7020382" y="1445689"/>
            <a:ext cx="1009934" cy="1009934"/>
          </a:xfrm>
          <a:prstGeom prst="roundRect">
            <a:avLst>
              <a:gd name="adj" fmla="val 50000"/>
            </a:avLst>
          </a:prstGeom>
          <a:solidFill>
            <a:srgbClr val="00B9D2"/>
          </a:solidFill>
          <a:ln w="6055" cap="flat">
            <a:noFill/>
            <a:prstDash val="solid"/>
            <a:miter/>
          </a:ln>
        </p:spPr>
        <p:txBody>
          <a:bodyPr lIns="108000" tIns="108000" rIns="108000" bIns="108000" rtlCol="0" anchor="ctr"/>
          <a:lstStyle/>
          <a:p>
            <a:pPr algn="ctr"/>
            <a:endParaRPr lang="zh-CN" altLang="en-US" dirty="0"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02" name="矩形: 圆角 497"/>
          <p:cNvSpPr>
            <a:spLocks noChangeAspect="1"/>
          </p:cNvSpPr>
          <p:nvPr/>
        </p:nvSpPr>
        <p:spPr>
          <a:xfrm>
            <a:off x="9844770" y="1445689"/>
            <a:ext cx="1009934" cy="1009934"/>
          </a:xfrm>
          <a:prstGeom prst="roundRect">
            <a:avLst>
              <a:gd name="adj" fmla="val 50000"/>
            </a:avLst>
          </a:prstGeom>
          <a:solidFill>
            <a:srgbClr val="00B9D2"/>
          </a:solidFill>
          <a:ln w="6055" cap="flat">
            <a:noFill/>
            <a:prstDash val="solid"/>
            <a:miter/>
          </a:ln>
        </p:spPr>
        <p:txBody>
          <a:bodyPr lIns="108000" tIns="108000" rIns="108000" bIns="108000" rtlCol="0" anchor="ctr"/>
          <a:lstStyle/>
          <a:p>
            <a:pPr algn="ctr"/>
            <a:endParaRPr lang="zh-CN" altLang="en-US" dirty="0"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80" name="Freeform 430"/>
          <p:cNvSpPr>
            <a:spLocks noEditPoints="1"/>
          </p:cNvSpPr>
          <p:nvPr/>
        </p:nvSpPr>
        <p:spPr bwMode="auto">
          <a:xfrm>
            <a:off x="7317385" y="1771123"/>
            <a:ext cx="410536" cy="333038"/>
          </a:xfrm>
          <a:custGeom>
            <a:avLst/>
            <a:gdLst>
              <a:gd name="T0" fmla="*/ 2641 w 3331"/>
              <a:gd name="T1" fmla="*/ 529 h 2704"/>
              <a:gd name="T2" fmla="*/ 2597 w 3331"/>
              <a:gd name="T3" fmla="*/ 760 h 2704"/>
              <a:gd name="T4" fmla="*/ 2523 w 3331"/>
              <a:gd name="T5" fmla="*/ 995 h 2704"/>
              <a:gd name="T6" fmla="*/ 2433 w 3331"/>
              <a:gd name="T7" fmla="*/ 1191 h 2704"/>
              <a:gd name="T8" fmla="*/ 2596 w 3331"/>
              <a:gd name="T9" fmla="*/ 1166 h 2704"/>
              <a:gd name="T10" fmla="*/ 2738 w 3331"/>
              <a:gd name="T11" fmla="*/ 1105 h 2704"/>
              <a:gd name="T12" fmla="*/ 2859 w 3331"/>
              <a:gd name="T13" fmla="*/ 1008 h 2704"/>
              <a:gd name="T14" fmla="*/ 2956 w 3331"/>
              <a:gd name="T15" fmla="*/ 877 h 2704"/>
              <a:gd name="T16" fmla="*/ 3024 w 3331"/>
              <a:gd name="T17" fmla="*/ 733 h 2704"/>
              <a:gd name="T18" fmla="*/ 3069 w 3331"/>
              <a:gd name="T19" fmla="*/ 589 h 2704"/>
              <a:gd name="T20" fmla="*/ 3096 w 3331"/>
              <a:gd name="T21" fmla="*/ 459 h 2704"/>
              <a:gd name="T22" fmla="*/ 2657 w 3331"/>
              <a:gd name="T23" fmla="*/ 385 h 2704"/>
              <a:gd name="T24" fmla="*/ 236 w 3331"/>
              <a:gd name="T25" fmla="*/ 459 h 2704"/>
              <a:gd name="T26" fmla="*/ 262 w 3331"/>
              <a:gd name="T27" fmla="*/ 589 h 2704"/>
              <a:gd name="T28" fmla="*/ 307 w 3331"/>
              <a:gd name="T29" fmla="*/ 733 h 2704"/>
              <a:gd name="T30" fmla="*/ 375 w 3331"/>
              <a:gd name="T31" fmla="*/ 877 h 2704"/>
              <a:gd name="T32" fmla="*/ 472 w 3331"/>
              <a:gd name="T33" fmla="*/ 1008 h 2704"/>
              <a:gd name="T34" fmla="*/ 594 w 3331"/>
              <a:gd name="T35" fmla="*/ 1105 h 2704"/>
              <a:gd name="T36" fmla="*/ 735 w 3331"/>
              <a:gd name="T37" fmla="*/ 1166 h 2704"/>
              <a:gd name="T38" fmla="*/ 899 w 3331"/>
              <a:gd name="T39" fmla="*/ 1191 h 2704"/>
              <a:gd name="T40" fmla="*/ 808 w 3331"/>
              <a:gd name="T41" fmla="*/ 995 h 2704"/>
              <a:gd name="T42" fmla="*/ 734 w 3331"/>
              <a:gd name="T43" fmla="*/ 760 h 2704"/>
              <a:gd name="T44" fmla="*/ 691 w 3331"/>
              <a:gd name="T45" fmla="*/ 529 h 2704"/>
              <a:gd name="T46" fmla="*/ 225 w 3331"/>
              <a:gd name="T47" fmla="*/ 385 h 2704"/>
              <a:gd name="T48" fmla="*/ 2668 w 3331"/>
              <a:gd name="T49" fmla="*/ 0 h 2704"/>
              <a:gd name="T50" fmla="*/ 2669 w 3331"/>
              <a:gd name="T51" fmla="*/ 27 h 2704"/>
              <a:gd name="T52" fmla="*/ 2670 w 3331"/>
              <a:gd name="T53" fmla="*/ 98 h 2704"/>
              <a:gd name="T54" fmla="*/ 3331 w 3331"/>
              <a:gd name="T55" fmla="*/ 167 h 2704"/>
              <a:gd name="T56" fmla="*/ 3331 w 3331"/>
              <a:gd name="T57" fmla="*/ 297 h 2704"/>
              <a:gd name="T58" fmla="*/ 3326 w 3331"/>
              <a:gd name="T59" fmla="*/ 370 h 2704"/>
              <a:gd name="T60" fmla="*/ 3313 w 3331"/>
              <a:gd name="T61" fmla="*/ 486 h 2704"/>
              <a:gd name="T62" fmla="*/ 3283 w 3331"/>
              <a:gd name="T63" fmla="*/ 631 h 2704"/>
              <a:gd name="T64" fmla="*/ 3235 w 3331"/>
              <a:gd name="T65" fmla="*/ 793 h 2704"/>
              <a:gd name="T66" fmla="*/ 3160 w 3331"/>
              <a:gd name="T67" fmla="*/ 958 h 2704"/>
              <a:gd name="T68" fmla="*/ 3055 w 3331"/>
              <a:gd name="T69" fmla="*/ 1115 h 2704"/>
              <a:gd name="T70" fmla="*/ 2913 w 3331"/>
              <a:gd name="T71" fmla="*/ 1250 h 2704"/>
              <a:gd name="T72" fmla="*/ 2742 w 3331"/>
              <a:gd name="T73" fmla="*/ 1347 h 2704"/>
              <a:gd name="T74" fmla="*/ 2546 w 3331"/>
              <a:gd name="T75" fmla="*/ 1399 h 2704"/>
              <a:gd name="T76" fmla="*/ 2352 w 3331"/>
              <a:gd name="T77" fmla="*/ 1408 h 2704"/>
              <a:gd name="T78" fmla="*/ 2201 w 3331"/>
              <a:gd name="T79" fmla="*/ 1524 h 2704"/>
              <a:gd name="T80" fmla="*/ 2041 w 3331"/>
              <a:gd name="T81" fmla="*/ 1666 h 2704"/>
              <a:gd name="T82" fmla="*/ 1864 w 3331"/>
              <a:gd name="T83" fmla="*/ 1758 h 2704"/>
              <a:gd name="T84" fmla="*/ 2345 w 3331"/>
              <a:gd name="T85" fmla="*/ 2535 h 2704"/>
              <a:gd name="T86" fmla="*/ 827 w 3331"/>
              <a:gd name="T87" fmla="*/ 2704 h 2704"/>
              <a:gd name="T88" fmla="*/ 986 w 3331"/>
              <a:gd name="T89" fmla="*/ 2236 h 2704"/>
              <a:gd name="T90" fmla="*/ 1407 w 3331"/>
              <a:gd name="T91" fmla="*/ 1733 h 2704"/>
              <a:gd name="T92" fmla="*/ 1235 w 3331"/>
              <a:gd name="T93" fmla="*/ 1624 h 2704"/>
              <a:gd name="T94" fmla="*/ 1079 w 3331"/>
              <a:gd name="T95" fmla="*/ 1467 h 2704"/>
              <a:gd name="T96" fmla="*/ 928 w 3331"/>
              <a:gd name="T97" fmla="*/ 1409 h 2704"/>
              <a:gd name="T98" fmla="*/ 717 w 3331"/>
              <a:gd name="T99" fmla="*/ 1387 h 2704"/>
              <a:gd name="T100" fmla="*/ 529 w 3331"/>
              <a:gd name="T101" fmla="*/ 1319 h 2704"/>
              <a:gd name="T102" fmla="*/ 366 w 3331"/>
              <a:gd name="T103" fmla="*/ 1208 h 2704"/>
              <a:gd name="T104" fmla="*/ 238 w 3331"/>
              <a:gd name="T105" fmla="*/ 1064 h 2704"/>
              <a:gd name="T106" fmla="*/ 143 w 3331"/>
              <a:gd name="T107" fmla="*/ 903 h 2704"/>
              <a:gd name="T108" fmla="*/ 78 w 3331"/>
              <a:gd name="T109" fmla="*/ 738 h 2704"/>
              <a:gd name="T110" fmla="*/ 36 w 3331"/>
              <a:gd name="T111" fmla="*/ 581 h 2704"/>
              <a:gd name="T112" fmla="*/ 12 w 3331"/>
              <a:gd name="T113" fmla="*/ 443 h 2704"/>
              <a:gd name="T114" fmla="*/ 2 w 3331"/>
              <a:gd name="T115" fmla="*/ 340 h 2704"/>
              <a:gd name="T116" fmla="*/ 0 w 3331"/>
              <a:gd name="T117" fmla="*/ 283 h 2704"/>
              <a:gd name="T118" fmla="*/ 661 w 3331"/>
              <a:gd name="T119" fmla="*/ 167 h 2704"/>
              <a:gd name="T120" fmla="*/ 661 w 3331"/>
              <a:gd name="T121" fmla="*/ 69 h 2704"/>
              <a:gd name="T122" fmla="*/ 662 w 3331"/>
              <a:gd name="T123" fmla="*/ 12 h 2704"/>
              <a:gd name="T124" fmla="*/ 1661 w 3331"/>
              <a:gd name="T125" fmla="*/ 0 h 2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331" h="2704">
                <a:moveTo>
                  <a:pt x="2657" y="385"/>
                </a:moveTo>
                <a:lnTo>
                  <a:pt x="2650" y="456"/>
                </a:lnTo>
                <a:lnTo>
                  <a:pt x="2641" y="529"/>
                </a:lnTo>
                <a:lnTo>
                  <a:pt x="2630" y="604"/>
                </a:lnTo>
                <a:lnTo>
                  <a:pt x="2614" y="682"/>
                </a:lnTo>
                <a:lnTo>
                  <a:pt x="2597" y="760"/>
                </a:lnTo>
                <a:lnTo>
                  <a:pt x="2577" y="840"/>
                </a:lnTo>
                <a:lnTo>
                  <a:pt x="2552" y="918"/>
                </a:lnTo>
                <a:lnTo>
                  <a:pt x="2523" y="995"/>
                </a:lnTo>
                <a:lnTo>
                  <a:pt x="2492" y="1072"/>
                </a:lnTo>
                <a:lnTo>
                  <a:pt x="2462" y="1132"/>
                </a:lnTo>
                <a:lnTo>
                  <a:pt x="2433" y="1191"/>
                </a:lnTo>
                <a:lnTo>
                  <a:pt x="2489" y="1187"/>
                </a:lnTo>
                <a:lnTo>
                  <a:pt x="2544" y="1178"/>
                </a:lnTo>
                <a:lnTo>
                  <a:pt x="2596" y="1166"/>
                </a:lnTo>
                <a:lnTo>
                  <a:pt x="2645" y="1150"/>
                </a:lnTo>
                <a:lnTo>
                  <a:pt x="2693" y="1130"/>
                </a:lnTo>
                <a:lnTo>
                  <a:pt x="2738" y="1105"/>
                </a:lnTo>
                <a:lnTo>
                  <a:pt x="2780" y="1078"/>
                </a:lnTo>
                <a:lnTo>
                  <a:pt x="2819" y="1045"/>
                </a:lnTo>
                <a:lnTo>
                  <a:pt x="2859" y="1008"/>
                </a:lnTo>
                <a:lnTo>
                  <a:pt x="2895" y="967"/>
                </a:lnTo>
                <a:lnTo>
                  <a:pt x="2927" y="923"/>
                </a:lnTo>
                <a:lnTo>
                  <a:pt x="2956" y="877"/>
                </a:lnTo>
                <a:lnTo>
                  <a:pt x="2981" y="830"/>
                </a:lnTo>
                <a:lnTo>
                  <a:pt x="3005" y="781"/>
                </a:lnTo>
                <a:lnTo>
                  <a:pt x="3024" y="733"/>
                </a:lnTo>
                <a:lnTo>
                  <a:pt x="3042" y="685"/>
                </a:lnTo>
                <a:lnTo>
                  <a:pt x="3057" y="636"/>
                </a:lnTo>
                <a:lnTo>
                  <a:pt x="3069" y="589"/>
                </a:lnTo>
                <a:lnTo>
                  <a:pt x="3080" y="543"/>
                </a:lnTo>
                <a:lnTo>
                  <a:pt x="3089" y="499"/>
                </a:lnTo>
                <a:lnTo>
                  <a:pt x="3096" y="459"/>
                </a:lnTo>
                <a:lnTo>
                  <a:pt x="3102" y="420"/>
                </a:lnTo>
                <a:lnTo>
                  <a:pt x="3106" y="385"/>
                </a:lnTo>
                <a:lnTo>
                  <a:pt x="2657" y="385"/>
                </a:lnTo>
                <a:close/>
                <a:moveTo>
                  <a:pt x="225" y="385"/>
                </a:moveTo>
                <a:lnTo>
                  <a:pt x="230" y="420"/>
                </a:lnTo>
                <a:lnTo>
                  <a:pt x="236" y="459"/>
                </a:lnTo>
                <a:lnTo>
                  <a:pt x="243" y="499"/>
                </a:lnTo>
                <a:lnTo>
                  <a:pt x="251" y="543"/>
                </a:lnTo>
                <a:lnTo>
                  <a:pt x="262" y="589"/>
                </a:lnTo>
                <a:lnTo>
                  <a:pt x="274" y="636"/>
                </a:lnTo>
                <a:lnTo>
                  <a:pt x="290" y="685"/>
                </a:lnTo>
                <a:lnTo>
                  <a:pt x="307" y="733"/>
                </a:lnTo>
                <a:lnTo>
                  <a:pt x="327" y="781"/>
                </a:lnTo>
                <a:lnTo>
                  <a:pt x="350" y="830"/>
                </a:lnTo>
                <a:lnTo>
                  <a:pt x="375" y="877"/>
                </a:lnTo>
                <a:lnTo>
                  <a:pt x="404" y="923"/>
                </a:lnTo>
                <a:lnTo>
                  <a:pt x="437" y="967"/>
                </a:lnTo>
                <a:lnTo>
                  <a:pt x="472" y="1008"/>
                </a:lnTo>
                <a:lnTo>
                  <a:pt x="512" y="1045"/>
                </a:lnTo>
                <a:lnTo>
                  <a:pt x="552" y="1078"/>
                </a:lnTo>
                <a:lnTo>
                  <a:pt x="594" y="1105"/>
                </a:lnTo>
                <a:lnTo>
                  <a:pt x="639" y="1130"/>
                </a:lnTo>
                <a:lnTo>
                  <a:pt x="686" y="1150"/>
                </a:lnTo>
                <a:lnTo>
                  <a:pt x="735" y="1166"/>
                </a:lnTo>
                <a:lnTo>
                  <a:pt x="787" y="1178"/>
                </a:lnTo>
                <a:lnTo>
                  <a:pt x="843" y="1187"/>
                </a:lnTo>
                <a:lnTo>
                  <a:pt x="899" y="1191"/>
                </a:lnTo>
                <a:lnTo>
                  <a:pt x="869" y="1132"/>
                </a:lnTo>
                <a:lnTo>
                  <a:pt x="839" y="1072"/>
                </a:lnTo>
                <a:lnTo>
                  <a:pt x="808" y="995"/>
                </a:lnTo>
                <a:lnTo>
                  <a:pt x="779" y="918"/>
                </a:lnTo>
                <a:lnTo>
                  <a:pt x="755" y="840"/>
                </a:lnTo>
                <a:lnTo>
                  <a:pt x="734" y="760"/>
                </a:lnTo>
                <a:lnTo>
                  <a:pt x="717" y="682"/>
                </a:lnTo>
                <a:lnTo>
                  <a:pt x="703" y="604"/>
                </a:lnTo>
                <a:lnTo>
                  <a:pt x="691" y="529"/>
                </a:lnTo>
                <a:lnTo>
                  <a:pt x="681" y="456"/>
                </a:lnTo>
                <a:lnTo>
                  <a:pt x="674" y="385"/>
                </a:lnTo>
                <a:lnTo>
                  <a:pt x="225" y="385"/>
                </a:lnTo>
                <a:close/>
                <a:moveTo>
                  <a:pt x="1661" y="0"/>
                </a:moveTo>
                <a:lnTo>
                  <a:pt x="1671" y="0"/>
                </a:lnTo>
                <a:lnTo>
                  <a:pt x="2668" y="0"/>
                </a:lnTo>
                <a:lnTo>
                  <a:pt x="2668" y="3"/>
                </a:lnTo>
                <a:lnTo>
                  <a:pt x="2669" y="12"/>
                </a:lnTo>
                <a:lnTo>
                  <a:pt x="2669" y="27"/>
                </a:lnTo>
                <a:lnTo>
                  <a:pt x="2670" y="46"/>
                </a:lnTo>
                <a:lnTo>
                  <a:pt x="2670" y="69"/>
                </a:lnTo>
                <a:lnTo>
                  <a:pt x="2670" y="98"/>
                </a:lnTo>
                <a:lnTo>
                  <a:pt x="2670" y="131"/>
                </a:lnTo>
                <a:lnTo>
                  <a:pt x="2670" y="167"/>
                </a:lnTo>
                <a:lnTo>
                  <a:pt x="3331" y="167"/>
                </a:lnTo>
                <a:lnTo>
                  <a:pt x="3331" y="276"/>
                </a:lnTo>
                <a:lnTo>
                  <a:pt x="3331" y="283"/>
                </a:lnTo>
                <a:lnTo>
                  <a:pt x="3331" y="297"/>
                </a:lnTo>
                <a:lnTo>
                  <a:pt x="3330" y="316"/>
                </a:lnTo>
                <a:lnTo>
                  <a:pt x="3328" y="340"/>
                </a:lnTo>
                <a:lnTo>
                  <a:pt x="3326" y="370"/>
                </a:lnTo>
                <a:lnTo>
                  <a:pt x="3323" y="405"/>
                </a:lnTo>
                <a:lnTo>
                  <a:pt x="3319" y="443"/>
                </a:lnTo>
                <a:lnTo>
                  <a:pt x="3313" y="486"/>
                </a:lnTo>
                <a:lnTo>
                  <a:pt x="3305" y="532"/>
                </a:lnTo>
                <a:lnTo>
                  <a:pt x="3296" y="581"/>
                </a:lnTo>
                <a:lnTo>
                  <a:pt x="3283" y="631"/>
                </a:lnTo>
                <a:lnTo>
                  <a:pt x="3270" y="684"/>
                </a:lnTo>
                <a:lnTo>
                  <a:pt x="3254" y="738"/>
                </a:lnTo>
                <a:lnTo>
                  <a:pt x="3235" y="793"/>
                </a:lnTo>
                <a:lnTo>
                  <a:pt x="3213" y="848"/>
                </a:lnTo>
                <a:lnTo>
                  <a:pt x="3189" y="903"/>
                </a:lnTo>
                <a:lnTo>
                  <a:pt x="3160" y="958"/>
                </a:lnTo>
                <a:lnTo>
                  <a:pt x="3129" y="1012"/>
                </a:lnTo>
                <a:lnTo>
                  <a:pt x="3094" y="1064"/>
                </a:lnTo>
                <a:lnTo>
                  <a:pt x="3055" y="1115"/>
                </a:lnTo>
                <a:lnTo>
                  <a:pt x="3012" y="1162"/>
                </a:lnTo>
                <a:lnTo>
                  <a:pt x="2965" y="1208"/>
                </a:lnTo>
                <a:lnTo>
                  <a:pt x="2913" y="1250"/>
                </a:lnTo>
                <a:lnTo>
                  <a:pt x="2859" y="1288"/>
                </a:lnTo>
                <a:lnTo>
                  <a:pt x="2801" y="1319"/>
                </a:lnTo>
                <a:lnTo>
                  <a:pt x="2742" y="1347"/>
                </a:lnTo>
                <a:lnTo>
                  <a:pt x="2680" y="1369"/>
                </a:lnTo>
                <a:lnTo>
                  <a:pt x="2614" y="1387"/>
                </a:lnTo>
                <a:lnTo>
                  <a:pt x="2546" y="1399"/>
                </a:lnTo>
                <a:lnTo>
                  <a:pt x="2476" y="1407"/>
                </a:lnTo>
                <a:lnTo>
                  <a:pt x="2403" y="1409"/>
                </a:lnTo>
                <a:lnTo>
                  <a:pt x="2352" y="1408"/>
                </a:lnTo>
                <a:lnTo>
                  <a:pt x="2300" y="1405"/>
                </a:lnTo>
                <a:lnTo>
                  <a:pt x="2252" y="1467"/>
                </a:lnTo>
                <a:lnTo>
                  <a:pt x="2201" y="1524"/>
                </a:lnTo>
                <a:lnTo>
                  <a:pt x="2150" y="1576"/>
                </a:lnTo>
                <a:lnTo>
                  <a:pt x="2096" y="1624"/>
                </a:lnTo>
                <a:lnTo>
                  <a:pt x="2041" y="1666"/>
                </a:lnTo>
                <a:lnTo>
                  <a:pt x="1983" y="1701"/>
                </a:lnTo>
                <a:lnTo>
                  <a:pt x="1925" y="1733"/>
                </a:lnTo>
                <a:lnTo>
                  <a:pt x="1864" y="1758"/>
                </a:lnTo>
                <a:lnTo>
                  <a:pt x="1864" y="2236"/>
                </a:lnTo>
                <a:lnTo>
                  <a:pt x="2345" y="2236"/>
                </a:lnTo>
                <a:lnTo>
                  <a:pt x="2345" y="2535"/>
                </a:lnTo>
                <a:lnTo>
                  <a:pt x="2504" y="2535"/>
                </a:lnTo>
                <a:lnTo>
                  <a:pt x="2504" y="2704"/>
                </a:lnTo>
                <a:lnTo>
                  <a:pt x="827" y="2704"/>
                </a:lnTo>
                <a:lnTo>
                  <a:pt x="827" y="2535"/>
                </a:lnTo>
                <a:lnTo>
                  <a:pt x="986" y="2535"/>
                </a:lnTo>
                <a:lnTo>
                  <a:pt x="986" y="2236"/>
                </a:lnTo>
                <a:lnTo>
                  <a:pt x="1468" y="2236"/>
                </a:lnTo>
                <a:lnTo>
                  <a:pt x="1468" y="1758"/>
                </a:lnTo>
                <a:lnTo>
                  <a:pt x="1407" y="1733"/>
                </a:lnTo>
                <a:lnTo>
                  <a:pt x="1347" y="1701"/>
                </a:lnTo>
                <a:lnTo>
                  <a:pt x="1290" y="1666"/>
                </a:lnTo>
                <a:lnTo>
                  <a:pt x="1235" y="1624"/>
                </a:lnTo>
                <a:lnTo>
                  <a:pt x="1181" y="1576"/>
                </a:lnTo>
                <a:lnTo>
                  <a:pt x="1130" y="1524"/>
                </a:lnTo>
                <a:lnTo>
                  <a:pt x="1079" y="1467"/>
                </a:lnTo>
                <a:lnTo>
                  <a:pt x="1031" y="1405"/>
                </a:lnTo>
                <a:lnTo>
                  <a:pt x="979" y="1408"/>
                </a:lnTo>
                <a:lnTo>
                  <a:pt x="928" y="1409"/>
                </a:lnTo>
                <a:lnTo>
                  <a:pt x="856" y="1407"/>
                </a:lnTo>
                <a:lnTo>
                  <a:pt x="785" y="1399"/>
                </a:lnTo>
                <a:lnTo>
                  <a:pt x="717" y="1387"/>
                </a:lnTo>
                <a:lnTo>
                  <a:pt x="652" y="1369"/>
                </a:lnTo>
                <a:lnTo>
                  <a:pt x="590" y="1347"/>
                </a:lnTo>
                <a:lnTo>
                  <a:pt x="529" y="1319"/>
                </a:lnTo>
                <a:lnTo>
                  <a:pt x="472" y="1288"/>
                </a:lnTo>
                <a:lnTo>
                  <a:pt x="418" y="1250"/>
                </a:lnTo>
                <a:lnTo>
                  <a:pt x="366" y="1208"/>
                </a:lnTo>
                <a:lnTo>
                  <a:pt x="319" y="1162"/>
                </a:lnTo>
                <a:lnTo>
                  <a:pt x="276" y="1115"/>
                </a:lnTo>
                <a:lnTo>
                  <a:pt x="238" y="1064"/>
                </a:lnTo>
                <a:lnTo>
                  <a:pt x="202" y="1012"/>
                </a:lnTo>
                <a:lnTo>
                  <a:pt x="171" y="958"/>
                </a:lnTo>
                <a:lnTo>
                  <a:pt x="143" y="903"/>
                </a:lnTo>
                <a:lnTo>
                  <a:pt x="118" y="848"/>
                </a:lnTo>
                <a:lnTo>
                  <a:pt x="96" y="793"/>
                </a:lnTo>
                <a:lnTo>
                  <a:pt x="78" y="738"/>
                </a:lnTo>
                <a:lnTo>
                  <a:pt x="61" y="684"/>
                </a:lnTo>
                <a:lnTo>
                  <a:pt x="47" y="631"/>
                </a:lnTo>
                <a:lnTo>
                  <a:pt x="36" y="581"/>
                </a:lnTo>
                <a:lnTo>
                  <a:pt x="27" y="532"/>
                </a:lnTo>
                <a:lnTo>
                  <a:pt x="18" y="486"/>
                </a:lnTo>
                <a:lnTo>
                  <a:pt x="12" y="443"/>
                </a:lnTo>
                <a:lnTo>
                  <a:pt x="8" y="405"/>
                </a:lnTo>
                <a:lnTo>
                  <a:pt x="5" y="370"/>
                </a:lnTo>
                <a:lnTo>
                  <a:pt x="2" y="340"/>
                </a:lnTo>
                <a:lnTo>
                  <a:pt x="1" y="316"/>
                </a:lnTo>
                <a:lnTo>
                  <a:pt x="0" y="297"/>
                </a:lnTo>
                <a:lnTo>
                  <a:pt x="0" y="283"/>
                </a:lnTo>
                <a:lnTo>
                  <a:pt x="0" y="276"/>
                </a:lnTo>
                <a:lnTo>
                  <a:pt x="0" y="167"/>
                </a:lnTo>
                <a:lnTo>
                  <a:pt x="661" y="167"/>
                </a:lnTo>
                <a:lnTo>
                  <a:pt x="661" y="131"/>
                </a:lnTo>
                <a:lnTo>
                  <a:pt x="661" y="98"/>
                </a:lnTo>
                <a:lnTo>
                  <a:pt x="661" y="69"/>
                </a:lnTo>
                <a:lnTo>
                  <a:pt x="661" y="46"/>
                </a:lnTo>
                <a:lnTo>
                  <a:pt x="662" y="27"/>
                </a:lnTo>
                <a:lnTo>
                  <a:pt x="662" y="12"/>
                </a:lnTo>
                <a:lnTo>
                  <a:pt x="663" y="3"/>
                </a:lnTo>
                <a:lnTo>
                  <a:pt x="663" y="0"/>
                </a:lnTo>
                <a:lnTo>
                  <a:pt x="1661" y="0"/>
                </a:lnTo>
                <a:close/>
              </a:path>
            </a:pathLst>
          </a:custGeom>
          <a:solidFill>
            <a:sysClr val="window" lastClr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81" name="Group 617"/>
          <p:cNvGrpSpPr>
            <a:grpSpLocks noChangeAspect="1"/>
          </p:cNvGrpSpPr>
          <p:nvPr/>
        </p:nvGrpSpPr>
        <p:grpSpPr bwMode="auto">
          <a:xfrm>
            <a:off x="10173213" y="1770331"/>
            <a:ext cx="408962" cy="311112"/>
            <a:chOff x="1858" y="3941"/>
            <a:chExt cx="326" cy="248"/>
          </a:xfrm>
          <a:solidFill>
            <a:sysClr val="window" lastClr="FFFFFF"/>
          </a:solidFill>
        </p:grpSpPr>
        <p:sp>
          <p:nvSpPr>
            <p:cNvPr id="82" name="Freeform 619"/>
            <p:cNvSpPr>
              <a:spLocks noEditPoints="1"/>
            </p:cNvSpPr>
            <p:nvPr/>
          </p:nvSpPr>
          <p:spPr bwMode="auto">
            <a:xfrm>
              <a:off x="1900" y="4125"/>
              <a:ext cx="64" cy="64"/>
            </a:xfrm>
            <a:custGeom>
              <a:avLst/>
              <a:gdLst>
                <a:gd name="T0" fmla="*/ 327 w 707"/>
                <a:gd name="T1" fmla="*/ 217 h 643"/>
                <a:gd name="T2" fmla="*/ 280 w 707"/>
                <a:gd name="T3" fmla="*/ 238 h 643"/>
                <a:gd name="T4" fmla="*/ 249 w 707"/>
                <a:gd name="T5" fmla="*/ 274 h 643"/>
                <a:gd name="T6" fmla="*/ 236 w 707"/>
                <a:gd name="T7" fmla="*/ 321 h 643"/>
                <a:gd name="T8" fmla="*/ 249 w 707"/>
                <a:gd name="T9" fmla="*/ 368 h 643"/>
                <a:gd name="T10" fmla="*/ 280 w 707"/>
                <a:gd name="T11" fmla="*/ 405 h 643"/>
                <a:gd name="T12" fmla="*/ 327 w 707"/>
                <a:gd name="T13" fmla="*/ 425 h 643"/>
                <a:gd name="T14" fmla="*/ 381 w 707"/>
                <a:gd name="T15" fmla="*/ 425 h 643"/>
                <a:gd name="T16" fmla="*/ 428 w 707"/>
                <a:gd name="T17" fmla="*/ 405 h 643"/>
                <a:gd name="T18" fmla="*/ 460 w 707"/>
                <a:gd name="T19" fmla="*/ 368 h 643"/>
                <a:gd name="T20" fmla="*/ 472 w 707"/>
                <a:gd name="T21" fmla="*/ 321 h 643"/>
                <a:gd name="T22" fmla="*/ 460 w 707"/>
                <a:gd name="T23" fmla="*/ 274 h 643"/>
                <a:gd name="T24" fmla="*/ 428 w 707"/>
                <a:gd name="T25" fmla="*/ 238 h 643"/>
                <a:gd name="T26" fmla="*/ 381 w 707"/>
                <a:gd name="T27" fmla="*/ 217 h 643"/>
                <a:gd name="T28" fmla="*/ 354 w 707"/>
                <a:gd name="T29" fmla="*/ 0 h 643"/>
                <a:gd name="T30" fmla="*/ 448 w 707"/>
                <a:gd name="T31" fmla="*/ 11 h 643"/>
                <a:gd name="T32" fmla="*/ 532 w 707"/>
                <a:gd name="T33" fmla="*/ 44 h 643"/>
                <a:gd name="T34" fmla="*/ 604 w 707"/>
                <a:gd name="T35" fmla="*/ 94 h 643"/>
                <a:gd name="T36" fmla="*/ 659 w 707"/>
                <a:gd name="T37" fmla="*/ 159 h 643"/>
                <a:gd name="T38" fmla="*/ 695 w 707"/>
                <a:gd name="T39" fmla="*/ 236 h 643"/>
                <a:gd name="T40" fmla="*/ 707 w 707"/>
                <a:gd name="T41" fmla="*/ 321 h 643"/>
                <a:gd name="T42" fmla="*/ 695 w 707"/>
                <a:gd name="T43" fmla="*/ 407 h 643"/>
                <a:gd name="T44" fmla="*/ 659 w 707"/>
                <a:gd name="T45" fmla="*/ 484 h 643"/>
                <a:gd name="T46" fmla="*/ 604 w 707"/>
                <a:gd name="T47" fmla="*/ 549 h 643"/>
                <a:gd name="T48" fmla="*/ 532 w 707"/>
                <a:gd name="T49" fmla="*/ 600 h 643"/>
                <a:gd name="T50" fmla="*/ 448 w 707"/>
                <a:gd name="T51" fmla="*/ 632 h 643"/>
                <a:gd name="T52" fmla="*/ 354 w 707"/>
                <a:gd name="T53" fmla="*/ 643 h 643"/>
                <a:gd name="T54" fmla="*/ 260 w 707"/>
                <a:gd name="T55" fmla="*/ 632 h 643"/>
                <a:gd name="T56" fmla="*/ 175 w 707"/>
                <a:gd name="T57" fmla="*/ 600 h 643"/>
                <a:gd name="T58" fmla="*/ 103 w 707"/>
                <a:gd name="T59" fmla="*/ 549 h 643"/>
                <a:gd name="T60" fmla="*/ 48 w 707"/>
                <a:gd name="T61" fmla="*/ 484 h 643"/>
                <a:gd name="T62" fmla="*/ 13 w 707"/>
                <a:gd name="T63" fmla="*/ 407 h 643"/>
                <a:gd name="T64" fmla="*/ 0 w 707"/>
                <a:gd name="T65" fmla="*/ 321 h 643"/>
                <a:gd name="T66" fmla="*/ 13 w 707"/>
                <a:gd name="T67" fmla="*/ 236 h 643"/>
                <a:gd name="T68" fmla="*/ 48 w 707"/>
                <a:gd name="T69" fmla="*/ 159 h 643"/>
                <a:gd name="T70" fmla="*/ 103 w 707"/>
                <a:gd name="T71" fmla="*/ 94 h 643"/>
                <a:gd name="T72" fmla="*/ 175 w 707"/>
                <a:gd name="T73" fmla="*/ 44 h 643"/>
                <a:gd name="T74" fmla="*/ 260 w 707"/>
                <a:gd name="T75" fmla="*/ 11 h 643"/>
                <a:gd name="T76" fmla="*/ 354 w 707"/>
                <a:gd name="T77" fmla="*/ 0 h 6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07" h="643">
                  <a:moveTo>
                    <a:pt x="354" y="214"/>
                  </a:moveTo>
                  <a:lnTo>
                    <a:pt x="327" y="217"/>
                  </a:lnTo>
                  <a:lnTo>
                    <a:pt x="302" y="225"/>
                  </a:lnTo>
                  <a:lnTo>
                    <a:pt x="280" y="238"/>
                  </a:lnTo>
                  <a:lnTo>
                    <a:pt x="262" y="254"/>
                  </a:lnTo>
                  <a:lnTo>
                    <a:pt x="249" y="274"/>
                  </a:lnTo>
                  <a:lnTo>
                    <a:pt x="240" y="297"/>
                  </a:lnTo>
                  <a:lnTo>
                    <a:pt x="236" y="321"/>
                  </a:lnTo>
                  <a:lnTo>
                    <a:pt x="240" y="346"/>
                  </a:lnTo>
                  <a:lnTo>
                    <a:pt x="249" y="368"/>
                  </a:lnTo>
                  <a:lnTo>
                    <a:pt x="262" y="388"/>
                  </a:lnTo>
                  <a:lnTo>
                    <a:pt x="280" y="405"/>
                  </a:lnTo>
                  <a:lnTo>
                    <a:pt x="302" y="417"/>
                  </a:lnTo>
                  <a:lnTo>
                    <a:pt x="327" y="425"/>
                  </a:lnTo>
                  <a:lnTo>
                    <a:pt x="354" y="428"/>
                  </a:lnTo>
                  <a:lnTo>
                    <a:pt x="381" y="425"/>
                  </a:lnTo>
                  <a:lnTo>
                    <a:pt x="406" y="417"/>
                  </a:lnTo>
                  <a:lnTo>
                    <a:pt x="428" y="405"/>
                  </a:lnTo>
                  <a:lnTo>
                    <a:pt x="445" y="388"/>
                  </a:lnTo>
                  <a:lnTo>
                    <a:pt x="460" y="368"/>
                  </a:lnTo>
                  <a:lnTo>
                    <a:pt x="469" y="346"/>
                  </a:lnTo>
                  <a:lnTo>
                    <a:pt x="472" y="321"/>
                  </a:lnTo>
                  <a:lnTo>
                    <a:pt x="469" y="297"/>
                  </a:lnTo>
                  <a:lnTo>
                    <a:pt x="460" y="274"/>
                  </a:lnTo>
                  <a:lnTo>
                    <a:pt x="445" y="254"/>
                  </a:lnTo>
                  <a:lnTo>
                    <a:pt x="428" y="238"/>
                  </a:lnTo>
                  <a:lnTo>
                    <a:pt x="406" y="225"/>
                  </a:lnTo>
                  <a:lnTo>
                    <a:pt x="381" y="217"/>
                  </a:lnTo>
                  <a:lnTo>
                    <a:pt x="354" y="214"/>
                  </a:lnTo>
                  <a:close/>
                  <a:moveTo>
                    <a:pt x="354" y="0"/>
                  </a:moveTo>
                  <a:lnTo>
                    <a:pt x="401" y="3"/>
                  </a:lnTo>
                  <a:lnTo>
                    <a:pt x="448" y="11"/>
                  </a:lnTo>
                  <a:lnTo>
                    <a:pt x="492" y="25"/>
                  </a:lnTo>
                  <a:lnTo>
                    <a:pt x="532" y="44"/>
                  </a:lnTo>
                  <a:lnTo>
                    <a:pt x="570" y="67"/>
                  </a:lnTo>
                  <a:lnTo>
                    <a:pt x="604" y="94"/>
                  </a:lnTo>
                  <a:lnTo>
                    <a:pt x="634" y="125"/>
                  </a:lnTo>
                  <a:lnTo>
                    <a:pt x="659" y="159"/>
                  </a:lnTo>
                  <a:lnTo>
                    <a:pt x="680" y="196"/>
                  </a:lnTo>
                  <a:lnTo>
                    <a:pt x="695" y="236"/>
                  </a:lnTo>
                  <a:lnTo>
                    <a:pt x="704" y="278"/>
                  </a:lnTo>
                  <a:lnTo>
                    <a:pt x="707" y="321"/>
                  </a:lnTo>
                  <a:lnTo>
                    <a:pt x="704" y="365"/>
                  </a:lnTo>
                  <a:lnTo>
                    <a:pt x="695" y="407"/>
                  </a:lnTo>
                  <a:lnTo>
                    <a:pt x="680" y="446"/>
                  </a:lnTo>
                  <a:lnTo>
                    <a:pt x="659" y="484"/>
                  </a:lnTo>
                  <a:lnTo>
                    <a:pt x="634" y="519"/>
                  </a:lnTo>
                  <a:lnTo>
                    <a:pt x="604" y="549"/>
                  </a:lnTo>
                  <a:lnTo>
                    <a:pt x="570" y="577"/>
                  </a:lnTo>
                  <a:lnTo>
                    <a:pt x="532" y="600"/>
                  </a:lnTo>
                  <a:lnTo>
                    <a:pt x="492" y="618"/>
                  </a:lnTo>
                  <a:lnTo>
                    <a:pt x="448" y="632"/>
                  </a:lnTo>
                  <a:lnTo>
                    <a:pt x="401" y="640"/>
                  </a:lnTo>
                  <a:lnTo>
                    <a:pt x="354" y="643"/>
                  </a:lnTo>
                  <a:lnTo>
                    <a:pt x="306" y="640"/>
                  </a:lnTo>
                  <a:lnTo>
                    <a:pt x="260" y="632"/>
                  </a:lnTo>
                  <a:lnTo>
                    <a:pt x="217" y="618"/>
                  </a:lnTo>
                  <a:lnTo>
                    <a:pt x="175" y="600"/>
                  </a:lnTo>
                  <a:lnTo>
                    <a:pt x="137" y="577"/>
                  </a:lnTo>
                  <a:lnTo>
                    <a:pt x="103" y="549"/>
                  </a:lnTo>
                  <a:lnTo>
                    <a:pt x="74" y="519"/>
                  </a:lnTo>
                  <a:lnTo>
                    <a:pt x="48" y="484"/>
                  </a:lnTo>
                  <a:lnTo>
                    <a:pt x="29" y="446"/>
                  </a:lnTo>
                  <a:lnTo>
                    <a:pt x="13" y="407"/>
                  </a:lnTo>
                  <a:lnTo>
                    <a:pt x="3" y="365"/>
                  </a:lnTo>
                  <a:lnTo>
                    <a:pt x="0" y="321"/>
                  </a:lnTo>
                  <a:lnTo>
                    <a:pt x="3" y="278"/>
                  </a:lnTo>
                  <a:lnTo>
                    <a:pt x="13" y="236"/>
                  </a:lnTo>
                  <a:lnTo>
                    <a:pt x="29" y="196"/>
                  </a:lnTo>
                  <a:lnTo>
                    <a:pt x="48" y="159"/>
                  </a:lnTo>
                  <a:lnTo>
                    <a:pt x="74" y="125"/>
                  </a:lnTo>
                  <a:lnTo>
                    <a:pt x="103" y="94"/>
                  </a:lnTo>
                  <a:lnTo>
                    <a:pt x="137" y="67"/>
                  </a:lnTo>
                  <a:lnTo>
                    <a:pt x="175" y="44"/>
                  </a:lnTo>
                  <a:lnTo>
                    <a:pt x="217" y="25"/>
                  </a:lnTo>
                  <a:lnTo>
                    <a:pt x="260" y="11"/>
                  </a:lnTo>
                  <a:lnTo>
                    <a:pt x="306" y="3"/>
                  </a:lnTo>
                  <a:lnTo>
                    <a:pt x="3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83" name="Freeform 620"/>
            <p:cNvSpPr>
              <a:spLocks noEditPoints="1"/>
            </p:cNvSpPr>
            <p:nvPr/>
          </p:nvSpPr>
          <p:spPr bwMode="auto">
            <a:xfrm>
              <a:off x="2080" y="4125"/>
              <a:ext cx="65" cy="64"/>
            </a:xfrm>
            <a:custGeom>
              <a:avLst/>
              <a:gdLst>
                <a:gd name="T0" fmla="*/ 327 w 707"/>
                <a:gd name="T1" fmla="*/ 217 h 643"/>
                <a:gd name="T2" fmla="*/ 280 w 707"/>
                <a:gd name="T3" fmla="*/ 238 h 643"/>
                <a:gd name="T4" fmla="*/ 248 w 707"/>
                <a:gd name="T5" fmla="*/ 274 h 643"/>
                <a:gd name="T6" fmla="*/ 236 w 707"/>
                <a:gd name="T7" fmla="*/ 321 h 643"/>
                <a:gd name="T8" fmla="*/ 248 w 707"/>
                <a:gd name="T9" fmla="*/ 368 h 643"/>
                <a:gd name="T10" fmla="*/ 280 w 707"/>
                <a:gd name="T11" fmla="*/ 405 h 643"/>
                <a:gd name="T12" fmla="*/ 327 w 707"/>
                <a:gd name="T13" fmla="*/ 425 h 643"/>
                <a:gd name="T14" fmla="*/ 381 w 707"/>
                <a:gd name="T15" fmla="*/ 425 h 643"/>
                <a:gd name="T16" fmla="*/ 427 w 707"/>
                <a:gd name="T17" fmla="*/ 405 h 643"/>
                <a:gd name="T18" fmla="*/ 459 w 707"/>
                <a:gd name="T19" fmla="*/ 368 h 643"/>
                <a:gd name="T20" fmla="*/ 471 w 707"/>
                <a:gd name="T21" fmla="*/ 321 h 643"/>
                <a:gd name="T22" fmla="*/ 459 w 707"/>
                <a:gd name="T23" fmla="*/ 274 h 643"/>
                <a:gd name="T24" fmla="*/ 427 w 707"/>
                <a:gd name="T25" fmla="*/ 238 h 643"/>
                <a:gd name="T26" fmla="*/ 381 w 707"/>
                <a:gd name="T27" fmla="*/ 217 h 643"/>
                <a:gd name="T28" fmla="*/ 354 w 707"/>
                <a:gd name="T29" fmla="*/ 0 h 643"/>
                <a:gd name="T30" fmla="*/ 447 w 707"/>
                <a:gd name="T31" fmla="*/ 11 h 643"/>
                <a:gd name="T32" fmla="*/ 532 w 707"/>
                <a:gd name="T33" fmla="*/ 44 h 643"/>
                <a:gd name="T34" fmla="*/ 603 w 707"/>
                <a:gd name="T35" fmla="*/ 94 h 643"/>
                <a:gd name="T36" fmla="*/ 658 w 707"/>
                <a:gd name="T37" fmla="*/ 159 h 643"/>
                <a:gd name="T38" fmla="*/ 695 w 707"/>
                <a:gd name="T39" fmla="*/ 236 h 643"/>
                <a:gd name="T40" fmla="*/ 707 w 707"/>
                <a:gd name="T41" fmla="*/ 321 h 643"/>
                <a:gd name="T42" fmla="*/ 695 w 707"/>
                <a:gd name="T43" fmla="*/ 407 h 643"/>
                <a:gd name="T44" fmla="*/ 658 w 707"/>
                <a:gd name="T45" fmla="*/ 484 h 643"/>
                <a:gd name="T46" fmla="*/ 603 w 707"/>
                <a:gd name="T47" fmla="*/ 549 h 643"/>
                <a:gd name="T48" fmla="*/ 532 w 707"/>
                <a:gd name="T49" fmla="*/ 600 h 643"/>
                <a:gd name="T50" fmla="*/ 447 w 707"/>
                <a:gd name="T51" fmla="*/ 632 h 643"/>
                <a:gd name="T52" fmla="*/ 354 w 707"/>
                <a:gd name="T53" fmla="*/ 643 h 643"/>
                <a:gd name="T54" fmla="*/ 260 w 707"/>
                <a:gd name="T55" fmla="*/ 632 h 643"/>
                <a:gd name="T56" fmla="*/ 175 w 707"/>
                <a:gd name="T57" fmla="*/ 600 h 643"/>
                <a:gd name="T58" fmla="*/ 104 w 707"/>
                <a:gd name="T59" fmla="*/ 549 h 643"/>
                <a:gd name="T60" fmla="*/ 49 w 707"/>
                <a:gd name="T61" fmla="*/ 484 h 643"/>
                <a:gd name="T62" fmla="*/ 13 w 707"/>
                <a:gd name="T63" fmla="*/ 407 h 643"/>
                <a:gd name="T64" fmla="*/ 0 w 707"/>
                <a:gd name="T65" fmla="*/ 321 h 643"/>
                <a:gd name="T66" fmla="*/ 13 w 707"/>
                <a:gd name="T67" fmla="*/ 236 h 643"/>
                <a:gd name="T68" fmla="*/ 49 w 707"/>
                <a:gd name="T69" fmla="*/ 159 h 643"/>
                <a:gd name="T70" fmla="*/ 104 w 707"/>
                <a:gd name="T71" fmla="*/ 94 h 643"/>
                <a:gd name="T72" fmla="*/ 175 w 707"/>
                <a:gd name="T73" fmla="*/ 44 h 643"/>
                <a:gd name="T74" fmla="*/ 260 w 707"/>
                <a:gd name="T75" fmla="*/ 11 h 643"/>
                <a:gd name="T76" fmla="*/ 354 w 707"/>
                <a:gd name="T77" fmla="*/ 0 h 6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07" h="643">
                  <a:moveTo>
                    <a:pt x="354" y="214"/>
                  </a:moveTo>
                  <a:lnTo>
                    <a:pt x="327" y="217"/>
                  </a:lnTo>
                  <a:lnTo>
                    <a:pt x="302" y="225"/>
                  </a:lnTo>
                  <a:lnTo>
                    <a:pt x="280" y="238"/>
                  </a:lnTo>
                  <a:lnTo>
                    <a:pt x="262" y="254"/>
                  </a:lnTo>
                  <a:lnTo>
                    <a:pt x="248" y="274"/>
                  </a:lnTo>
                  <a:lnTo>
                    <a:pt x="239" y="297"/>
                  </a:lnTo>
                  <a:lnTo>
                    <a:pt x="236" y="321"/>
                  </a:lnTo>
                  <a:lnTo>
                    <a:pt x="239" y="346"/>
                  </a:lnTo>
                  <a:lnTo>
                    <a:pt x="248" y="368"/>
                  </a:lnTo>
                  <a:lnTo>
                    <a:pt x="262" y="388"/>
                  </a:lnTo>
                  <a:lnTo>
                    <a:pt x="280" y="405"/>
                  </a:lnTo>
                  <a:lnTo>
                    <a:pt x="302" y="417"/>
                  </a:lnTo>
                  <a:lnTo>
                    <a:pt x="327" y="425"/>
                  </a:lnTo>
                  <a:lnTo>
                    <a:pt x="354" y="428"/>
                  </a:lnTo>
                  <a:lnTo>
                    <a:pt x="381" y="425"/>
                  </a:lnTo>
                  <a:lnTo>
                    <a:pt x="405" y="417"/>
                  </a:lnTo>
                  <a:lnTo>
                    <a:pt x="427" y="405"/>
                  </a:lnTo>
                  <a:lnTo>
                    <a:pt x="445" y="388"/>
                  </a:lnTo>
                  <a:lnTo>
                    <a:pt x="459" y="368"/>
                  </a:lnTo>
                  <a:lnTo>
                    <a:pt x="468" y="346"/>
                  </a:lnTo>
                  <a:lnTo>
                    <a:pt x="471" y="321"/>
                  </a:lnTo>
                  <a:lnTo>
                    <a:pt x="468" y="297"/>
                  </a:lnTo>
                  <a:lnTo>
                    <a:pt x="459" y="274"/>
                  </a:lnTo>
                  <a:lnTo>
                    <a:pt x="445" y="254"/>
                  </a:lnTo>
                  <a:lnTo>
                    <a:pt x="427" y="238"/>
                  </a:lnTo>
                  <a:lnTo>
                    <a:pt x="405" y="225"/>
                  </a:lnTo>
                  <a:lnTo>
                    <a:pt x="381" y="217"/>
                  </a:lnTo>
                  <a:lnTo>
                    <a:pt x="354" y="214"/>
                  </a:lnTo>
                  <a:close/>
                  <a:moveTo>
                    <a:pt x="354" y="0"/>
                  </a:moveTo>
                  <a:lnTo>
                    <a:pt x="402" y="3"/>
                  </a:lnTo>
                  <a:lnTo>
                    <a:pt x="447" y="11"/>
                  </a:lnTo>
                  <a:lnTo>
                    <a:pt x="491" y="25"/>
                  </a:lnTo>
                  <a:lnTo>
                    <a:pt x="532" y="44"/>
                  </a:lnTo>
                  <a:lnTo>
                    <a:pt x="569" y="67"/>
                  </a:lnTo>
                  <a:lnTo>
                    <a:pt x="603" y="94"/>
                  </a:lnTo>
                  <a:lnTo>
                    <a:pt x="633" y="125"/>
                  </a:lnTo>
                  <a:lnTo>
                    <a:pt x="658" y="159"/>
                  </a:lnTo>
                  <a:lnTo>
                    <a:pt x="679" y="196"/>
                  </a:lnTo>
                  <a:lnTo>
                    <a:pt x="695" y="236"/>
                  </a:lnTo>
                  <a:lnTo>
                    <a:pt x="703" y="278"/>
                  </a:lnTo>
                  <a:lnTo>
                    <a:pt x="707" y="321"/>
                  </a:lnTo>
                  <a:lnTo>
                    <a:pt x="703" y="365"/>
                  </a:lnTo>
                  <a:lnTo>
                    <a:pt x="695" y="407"/>
                  </a:lnTo>
                  <a:lnTo>
                    <a:pt x="679" y="446"/>
                  </a:lnTo>
                  <a:lnTo>
                    <a:pt x="658" y="484"/>
                  </a:lnTo>
                  <a:lnTo>
                    <a:pt x="633" y="519"/>
                  </a:lnTo>
                  <a:lnTo>
                    <a:pt x="603" y="549"/>
                  </a:lnTo>
                  <a:lnTo>
                    <a:pt x="569" y="577"/>
                  </a:lnTo>
                  <a:lnTo>
                    <a:pt x="532" y="600"/>
                  </a:lnTo>
                  <a:lnTo>
                    <a:pt x="491" y="618"/>
                  </a:lnTo>
                  <a:lnTo>
                    <a:pt x="447" y="632"/>
                  </a:lnTo>
                  <a:lnTo>
                    <a:pt x="402" y="640"/>
                  </a:lnTo>
                  <a:lnTo>
                    <a:pt x="354" y="643"/>
                  </a:lnTo>
                  <a:lnTo>
                    <a:pt x="305" y="640"/>
                  </a:lnTo>
                  <a:lnTo>
                    <a:pt x="260" y="632"/>
                  </a:lnTo>
                  <a:lnTo>
                    <a:pt x="216" y="618"/>
                  </a:lnTo>
                  <a:lnTo>
                    <a:pt x="175" y="600"/>
                  </a:lnTo>
                  <a:lnTo>
                    <a:pt x="138" y="577"/>
                  </a:lnTo>
                  <a:lnTo>
                    <a:pt x="104" y="549"/>
                  </a:lnTo>
                  <a:lnTo>
                    <a:pt x="74" y="519"/>
                  </a:lnTo>
                  <a:lnTo>
                    <a:pt x="49" y="484"/>
                  </a:lnTo>
                  <a:lnTo>
                    <a:pt x="28" y="446"/>
                  </a:lnTo>
                  <a:lnTo>
                    <a:pt x="13" y="407"/>
                  </a:lnTo>
                  <a:lnTo>
                    <a:pt x="4" y="365"/>
                  </a:lnTo>
                  <a:lnTo>
                    <a:pt x="0" y="321"/>
                  </a:lnTo>
                  <a:lnTo>
                    <a:pt x="4" y="278"/>
                  </a:lnTo>
                  <a:lnTo>
                    <a:pt x="13" y="236"/>
                  </a:lnTo>
                  <a:lnTo>
                    <a:pt x="28" y="196"/>
                  </a:lnTo>
                  <a:lnTo>
                    <a:pt x="49" y="159"/>
                  </a:lnTo>
                  <a:lnTo>
                    <a:pt x="74" y="125"/>
                  </a:lnTo>
                  <a:lnTo>
                    <a:pt x="104" y="94"/>
                  </a:lnTo>
                  <a:lnTo>
                    <a:pt x="138" y="67"/>
                  </a:lnTo>
                  <a:lnTo>
                    <a:pt x="175" y="44"/>
                  </a:lnTo>
                  <a:lnTo>
                    <a:pt x="216" y="25"/>
                  </a:lnTo>
                  <a:lnTo>
                    <a:pt x="260" y="11"/>
                  </a:lnTo>
                  <a:lnTo>
                    <a:pt x="305" y="3"/>
                  </a:lnTo>
                  <a:lnTo>
                    <a:pt x="3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84" name="Freeform 621"/>
            <p:cNvSpPr>
              <a:spLocks noEditPoints="1"/>
            </p:cNvSpPr>
            <p:nvPr/>
          </p:nvSpPr>
          <p:spPr bwMode="auto">
            <a:xfrm>
              <a:off x="1858" y="3941"/>
              <a:ext cx="326" cy="216"/>
            </a:xfrm>
            <a:custGeom>
              <a:avLst/>
              <a:gdLst>
                <a:gd name="T0" fmla="*/ 3147 w 3590"/>
                <a:gd name="T1" fmla="*/ 976 h 2153"/>
                <a:gd name="T2" fmla="*/ 2840 w 3590"/>
                <a:gd name="T3" fmla="*/ 611 h 2153"/>
                <a:gd name="T4" fmla="*/ 2768 w 3590"/>
                <a:gd name="T5" fmla="*/ 591 h 2153"/>
                <a:gd name="T6" fmla="*/ 2209 w 3590"/>
                <a:gd name="T7" fmla="*/ 0 h 2153"/>
                <a:gd name="T8" fmla="*/ 2261 w 3590"/>
                <a:gd name="T9" fmla="*/ 19 h 2153"/>
                <a:gd name="T10" fmla="*/ 2281 w 3590"/>
                <a:gd name="T11" fmla="*/ 66 h 2153"/>
                <a:gd name="T12" fmla="*/ 2955 w 3590"/>
                <a:gd name="T13" fmla="*/ 343 h 2153"/>
                <a:gd name="T14" fmla="*/ 3018 w 3590"/>
                <a:gd name="T15" fmla="*/ 367 h 2153"/>
                <a:gd name="T16" fmla="*/ 3452 w 3590"/>
                <a:gd name="T17" fmla="*/ 875 h 2153"/>
                <a:gd name="T18" fmla="*/ 3483 w 3590"/>
                <a:gd name="T19" fmla="*/ 931 h 2153"/>
                <a:gd name="T20" fmla="*/ 3496 w 3590"/>
                <a:gd name="T21" fmla="*/ 993 h 2153"/>
                <a:gd name="T22" fmla="*/ 3539 w 3590"/>
                <a:gd name="T23" fmla="*/ 1795 h 2153"/>
                <a:gd name="T24" fmla="*/ 3581 w 3590"/>
                <a:gd name="T25" fmla="*/ 1824 h 2153"/>
                <a:gd name="T26" fmla="*/ 3590 w 3590"/>
                <a:gd name="T27" fmla="*/ 2087 h 2153"/>
                <a:gd name="T28" fmla="*/ 3570 w 3590"/>
                <a:gd name="T29" fmla="*/ 2134 h 2153"/>
                <a:gd name="T30" fmla="*/ 3518 w 3590"/>
                <a:gd name="T31" fmla="*/ 2153 h 2153"/>
                <a:gd name="T32" fmla="*/ 3281 w 3590"/>
                <a:gd name="T33" fmla="*/ 2050 h 2153"/>
                <a:gd name="T34" fmla="*/ 3218 w 3590"/>
                <a:gd name="T35" fmla="*/ 1912 h 2153"/>
                <a:gd name="T36" fmla="*/ 3109 w 3590"/>
                <a:gd name="T37" fmla="*/ 1802 h 2153"/>
                <a:gd name="T38" fmla="*/ 2967 w 3590"/>
                <a:gd name="T39" fmla="*/ 1728 h 2153"/>
                <a:gd name="T40" fmla="*/ 2800 w 3590"/>
                <a:gd name="T41" fmla="*/ 1702 h 2153"/>
                <a:gd name="T42" fmla="*/ 2632 w 3590"/>
                <a:gd name="T43" fmla="*/ 1728 h 2153"/>
                <a:gd name="T44" fmla="*/ 2490 w 3590"/>
                <a:gd name="T45" fmla="*/ 1802 h 2153"/>
                <a:gd name="T46" fmla="*/ 2382 w 3590"/>
                <a:gd name="T47" fmla="*/ 1912 h 2153"/>
                <a:gd name="T48" fmla="*/ 2318 w 3590"/>
                <a:gd name="T49" fmla="*/ 2050 h 2153"/>
                <a:gd name="T50" fmla="*/ 1310 w 3590"/>
                <a:gd name="T51" fmla="*/ 2153 h 2153"/>
                <a:gd name="T52" fmla="*/ 1280 w 3590"/>
                <a:gd name="T53" fmla="*/ 2002 h 2153"/>
                <a:gd name="T54" fmla="*/ 1201 w 3590"/>
                <a:gd name="T55" fmla="*/ 1872 h 2153"/>
                <a:gd name="T56" fmla="*/ 1080 w 3590"/>
                <a:gd name="T57" fmla="*/ 1772 h 2153"/>
                <a:gd name="T58" fmla="*/ 928 w 3590"/>
                <a:gd name="T59" fmla="*/ 1714 h 2153"/>
                <a:gd name="T60" fmla="*/ 757 w 3590"/>
                <a:gd name="T61" fmla="*/ 1705 h 2153"/>
                <a:gd name="T62" fmla="*/ 597 w 3590"/>
                <a:gd name="T63" fmla="*/ 1748 h 2153"/>
                <a:gd name="T64" fmla="*/ 465 w 3590"/>
                <a:gd name="T65" fmla="*/ 1835 h 2153"/>
                <a:gd name="T66" fmla="*/ 370 w 3590"/>
                <a:gd name="T67" fmla="*/ 1955 h 2153"/>
                <a:gd name="T68" fmla="*/ 323 w 3590"/>
                <a:gd name="T69" fmla="*/ 2101 h 2153"/>
                <a:gd name="T70" fmla="*/ 53 w 3590"/>
                <a:gd name="T71" fmla="*/ 2151 h 2153"/>
                <a:gd name="T72" fmla="*/ 10 w 3590"/>
                <a:gd name="T73" fmla="*/ 2120 h 2153"/>
                <a:gd name="T74" fmla="*/ 0 w 3590"/>
                <a:gd name="T75" fmla="*/ 1857 h 2153"/>
                <a:gd name="T76" fmla="*/ 21 w 3590"/>
                <a:gd name="T77" fmla="*/ 1811 h 2153"/>
                <a:gd name="T78" fmla="*/ 70 w 3590"/>
                <a:gd name="T79" fmla="*/ 1792 h 2153"/>
                <a:gd name="T80" fmla="*/ 112 w 3590"/>
                <a:gd name="T81" fmla="*/ 224 h 2153"/>
                <a:gd name="T82" fmla="*/ 155 w 3590"/>
                <a:gd name="T83" fmla="*/ 119 h 2153"/>
                <a:gd name="T84" fmla="*/ 241 w 3590"/>
                <a:gd name="T85" fmla="*/ 42 h 2153"/>
                <a:gd name="T86" fmla="*/ 355 w 3590"/>
                <a:gd name="T87" fmla="*/ 2 h 2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590" h="2153">
                  <a:moveTo>
                    <a:pt x="2465" y="591"/>
                  </a:moveTo>
                  <a:lnTo>
                    <a:pt x="2465" y="976"/>
                  </a:lnTo>
                  <a:lnTo>
                    <a:pt x="3147" y="976"/>
                  </a:lnTo>
                  <a:lnTo>
                    <a:pt x="2878" y="641"/>
                  </a:lnTo>
                  <a:lnTo>
                    <a:pt x="2861" y="625"/>
                  </a:lnTo>
                  <a:lnTo>
                    <a:pt x="2840" y="611"/>
                  </a:lnTo>
                  <a:lnTo>
                    <a:pt x="2816" y="600"/>
                  </a:lnTo>
                  <a:lnTo>
                    <a:pt x="2791" y="593"/>
                  </a:lnTo>
                  <a:lnTo>
                    <a:pt x="2768" y="591"/>
                  </a:lnTo>
                  <a:lnTo>
                    <a:pt x="2465" y="591"/>
                  </a:lnTo>
                  <a:close/>
                  <a:moveTo>
                    <a:pt x="398" y="0"/>
                  </a:moveTo>
                  <a:lnTo>
                    <a:pt x="2209" y="0"/>
                  </a:lnTo>
                  <a:lnTo>
                    <a:pt x="2229" y="2"/>
                  </a:lnTo>
                  <a:lnTo>
                    <a:pt x="2246" y="9"/>
                  </a:lnTo>
                  <a:lnTo>
                    <a:pt x="2261" y="19"/>
                  </a:lnTo>
                  <a:lnTo>
                    <a:pt x="2272" y="32"/>
                  </a:lnTo>
                  <a:lnTo>
                    <a:pt x="2279" y="48"/>
                  </a:lnTo>
                  <a:lnTo>
                    <a:pt x="2281" y="66"/>
                  </a:lnTo>
                  <a:lnTo>
                    <a:pt x="2281" y="342"/>
                  </a:lnTo>
                  <a:lnTo>
                    <a:pt x="2934" y="342"/>
                  </a:lnTo>
                  <a:lnTo>
                    <a:pt x="2955" y="343"/>
                  </a:lnTo>
                  <a:lnTo>
                    <a:pt x="2977" y="349"/>
                  </a:lnTo>
                  <a:lnTo>
                    <a:pt x="2999" y="357"/>
                  </a:lnTo>
                  <a:lnTo>
                    <a:pt x="3018" y="367"/>
                  </a:lnTo>
                  <a:lnTo>
                    <a:pt x="3036" y="380"/>
                  </a:lnTo>
                  <a:lnTo>
                    <a:pt x="3050" y="394"/>
                  </a:lnTo>
                  <a:lnTo>
                    <a:pt x="3452" y="875"/>
                  </a:lnTo>
                  <a:lnTo>
                    <a:pt x="3464" y="891"/>
                  </a:lnTo>
                  <a:lnTo>
                    <a:pt x="3474" y="910"/>
                  </a:lnTo>
                  <a:lnTo>
                    <a:pt x="3483" y="931"/>
                  </a:lnTo>
                  <a:lnTo>
                    <a:pt x="3489" y="952"/>
                  </a:lnTo>
                  <a:lnTo>
                    <a:pt x="3494" y="973"/>
                  </a:lnTo>
                  <a:lnTo>
                    <a:pt x="3496" y="993"/>
                  </a:lnTo>
                  <a:lnTo>
                    <a:pt x="3496" y="1792"/>
                  </a:lnTo>
                  <a:lnTo>
                    <a:pt x="3520" y="1792"/>
                  </a:lnTo>
                  <a:lnTo>
                    <a:pt x="3539" y="1795"/>
                  </a:lnTo>
                  <a:lnTo>
                    <a:pt x="3555" y="1801"/>
                  </a:lnTo>
                  <a:lnTo>
                    <a:pt x="3570" y="1811"/>
                  </a:lnTo>
                  <a:lnTo>
                    <a:pt x="3581" y="1824"/>
                  </a:lnTo>
                  <a:lnTo>
                    <a:pt x="3588" y="1840"/>
                  </a:lnTo>
                  <a:lnTo>
                    <a:pt x="3590" y="1857"/>
                  </a:lnTo>
                  <a:lnTo>
                    <a:pt x="3590" y="2087"/>
                  </a:lnTo>
                  <a:lnTo>
                    <a:pt x="3588" y="2105"/>
                  </a:lnTo>
                  <a:lnTo>
                    <a:pt x="3581" y="2120"/>
                  </a:lnTo>
                  <a:lnTo>
                    <a:pt x="3570" y="2134"/>
                  </a:lnTo>
                  <a:lnTo>
                    <a:pt x="3554" y="2144"/>
                  </a:lnTo>
                  <a:lnTo>
                    <a:pt x="3538" y="2151"/>
                  </a:lnTo>
                  <a:lnTo>
                    <a:pt x="3518" y="2153"/>
                  </a:lnTo>
                  <a:lnTo>
                    <a:pt x="3295" y="2153"/>
                  </a:lnTo>
                  <a:lnTo>
                    <a:pt x="3291" y="2101"/>
                  </a:lnTo>
                  <a:lnTo>
                    <a:pt x="3281" y="2050"/>
                  </a:lnTo>
                  <a:lnTo>
                    <a:pt x="3266" y="2002"/>
                  </a:lnTo>
                  <a:lnTo>
                    <a:pt x="3244" y="1955"/>
                  </a:lnTo>
                  <a:lnTo>
                    <a:pt x="3218" y="1912"/>
                  </a:lnTo>
                  <a:lnTo>
                    <a:pt x="3186" y="1872"/>
                  </a:lnTo>
                  <a:lnTo>
                    <a:pt x="3149" y="1835"/>
                  </a:lnTo>
                  <a:lnTo>
                    <a:pt x="3109" y="1802"/>
                  </a:lnTo>
                  <a:lnTo>
                    <a:pt x="3065" y="1772"/>
                  </a:lnTo>
                  <a:lnTo>
                    <a:pt x="3017" y="1748"/>
                  </a:lnTo>
                  <a:lnTo>
                    <a:pt x="2967" y="1728"/>
                  </a:lnTo>
                  <a:lnTo>
                    <a:pt x="2913" y="1714"/>
                  </a:lnTo>
                  <a:lnTo>
                    <a:pt x="2857" y="1705"/>
                  </a:lnTo>
                  <a:lnTo>
                    <a:pt x="2800" y="1702"/>
                  </a:lnTo>
                  <a:lnTo>
                    <a:pt x="2741" y="1705"/>
                  </a:lnTo>
                  <a:lnTo>
                    <a:pt x="2686" y="1714"/>
                  </a:lnTo>
                  <a:lnTo>
                    <a:pt x="2632" y="1728"/>
                  </a:lnTo>
                  <a:lnTo>
                    <a:pt x="2582" y="1748"/>
                  </a:lnTo>
                  <a:lnTo>
                    <a:pt x="2534" y="1772"/>
                  </a:lnTo>
                  <a:lnTo>
                    <a:pt x="2490" y="1802"/>
                  </a:lnTo>
                  <a:lnTo>
                    <a:pt x="2450" y="1835"/>
                  </a:lnTo>
                  <a:lnTo>
                    <a:pt x="2413" y="1872"/>
                  </a:lnTo>
                  <a:lnTo>
                    <a:pt x="2382" y="1912"/>
                  </a:lnTo>
                  <a:lnTo>
                    <a:pt x="2355" y="1955"/>
                  </a:lnTo>
                  <a:lnTo>
                    <a:pt x="2333" y="2002"/>
                  </a:lnTo>
                  <a:lnTo>
                    <a:pt x="2318" y="2050"/>
                  </a:lnTo>
                  <a:lnTo>
                    <a:pt x="2308" y="2101"/>
                  </a:lnTo>
                  <a:lnTo>
                    <a:pt x="2305" y="2153"/>
                  </a:lnTo>
                  <a:lnTo>
                    <a:pt x="1310" y="2153"/>
                  </a:lnTo>
                  <a:lnTo>
                    <a:pt x="1307" y="2101"/>
                  </a:lnTo>
                  <a:lnTo>
                    <a:pt x="1297" y="2050"/>
                  </a:lnTo>
                  <a:lnTo>
                    <a:pt x="1280" y="2002"/>
                  </a:lnTo>
                  <a:lnTo>
                    <a:pt x="1260" y="1955"/>
                  </a:lnTo>
                  <a:lnTo>
                    <a:pt x="1233" y="1912"/>
                  </a:lnTo>
                  <a:lnTo>
                    <a:pt x="1201" y="1872"/>
                  </a:lnTo>
                  <a:lnTo>
                    <a:pt x="1165" y="1835"/>
                  </a:lnTo>
                  <a:lnTo>
                    <a:pt x="1124" y="1802"/>
                  </a:lnTo>
                  <a:lnTo>
                    <a:pt x="1080" y="1772"/>
                  </a:lnTo>
                  <a:lnTo>
                    <a:pt x="1032" y="1748"/>
                  </a:lnTo>
                  <a:lnTo>
                    <a:pt x="981" y="1728"/>
                  </a:lnTo>
                  <a:lnTo>
                    <a:pt x="928" y="1714"/>
                  </a:lnTo>
                  <a:lnTo>
                    <a:pt x="872" y="1705"/>
                  </a:lnTo>
                  <a:lnTo>
                    <a:pt x="815" y="1702"/>
                  </a:lnTo>
                  <a:lnTo>
                    <a:pt x="757" y="1705"/>
                  </a:lnTo>
                  <a:lnTo>
                    <a:pt x="702" y="1714"/>
                  </a:lnTo>
                  <a:lnTo>
                    <a:pt x="648" y="1728"/>
                  </a:lnTo>
                  <a:lnTo>
                    <a:pt x="597" y="1748"/>
                  </a:lnTo>
                  <a:lnTo>
                    <a:pt x="550" y="1772"/>
                  </a:lnTo>
                  <a:lnTo>
                    <a:pt x="505" y="1802"/>
                  </a:lnTo>
                  <a:lnTo>
                    <a:pt x="465" y="1835"/>
                  </a:lnTo>
                  <a:lnTo>
                    <a:pt x="429" y="1872"/>
                  </a:lnTo>
                  <a:lnTo>
                    <a:pt x="397" y="1912"/>
                  </a:lnTo>
                  <a:lnTo>
                    <a:pt x="370" y="1955"/>
                  </a:lnTo>
                  <a:lnTo>
                    <a:pt x="349" y="2002"/>
                  </a:lnTo>
                  <a:lnTo>
                    <a:pt x="332" y="2050"/>
                  </a:lnTo>
                  <a:lnTo>
                    <a:pt x="323" y="2101"/>
                  </a:lnTo>
                  <a:lnTo>
                    <a:pt x="319" y="2153"/>
                  </a:lnTo>
                  <a:lnTo>
                    <a:pt x="73" y="2153"/>
                  </a:lnTo>
                  <a:lnTo>
                    <a:pt x="53" y="2151"/>
                  </a:lnTo>
                  <a:lnTo>
                    <a:pt x="36" y="2144"/>
                  </a:lnTo>
                  <a:lnTo>
                    <a:pt x="21" y="2134"/>
                  </a:lnTo>
                  <a:lnTo>
                    <a:pt x="10" y="2120"/>
                  </a:lnTo>
                  <a:lnTo>
                    <a:pt x="2" y="2105"/>
                  </a:lnTo>
                  <a:lnTo>
                    <a:pt x="0" y="2087"/>
                  </a:lnTo>
                  <a:lnTo>
                    <a:pt x="0" y="1857"/>
                  </a:lnTo>
                  <a:lnTo>
                    <a:pt x="2" y="1840"/>
                  </a:lnTo>
                  <a:lnTo>
                    <a:pt x="10" y="1824"/>
                  </a:lnTo>
                  <a:lnTo>
                    <a:pt x="21" y="1811"/>
                  </a:lnTo>
                  <a:lnTo>
                    <a:pt x="35" y="1801"/>
                  </a:lnTo>
                  <a:lnTo>
                    <a:pt x="52" y="1795"/>
                  </a:lnTo>
                  <a:lnTo>
                    <a:pt x="70" y="1792"/>
                  </a:lnTo>
                  <a:lnTo>
                    <a:pt x="109" y="1792"/>
                  </a:lnTo>
                  <a:lnTo>
                    <a:pt x="109" y="264"/>
                  </a:lnTo>
                  <a:lnTo>
                    <a:pt x="112" y="224"/>
                  </a:lnTo>
                  <a:lnTo>
                    <a:pt x="121" y="187"/>
                  </a:lnTo>
                  <a:lnTo>
                    <a:pt x="135" y="152"/>
                  </a:lnTo>
                  <a:lnTo>
                    <a:pt x="155" y="119"/>
                  </a:lnTo>
                  <a:lnTo>
                    <a:pt x="179" y="90"/>
                  </a:lnTo>
                  <a:lnTo>
                    <a:pt x="208" y="64"/>
                  </a:lnTo>
                  <a:lnTo>
                    <a:pt x="241" y="42"/>
                  </a:lnTo>
                  <a:lnTo>
                    <a:pt x="276" y="24"/>
                  </a:lnTo>
                  <a:lnTo>
                    <a:pt x="315" y="11"/>
                  </a:lnTo>
                  <a:lnTo>
                    <a:pt x="355" y="2"/>
                  </a:lnTo>
                  <a:lnTo>
                    <a:pt x="39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85" name="Group 124"/>
          <p:cNvGrpSpPr>
            <a:grpSpLocks noChangeAspect="1"/>
          </p:cNvGrpSpPr>
          <p:nvPr/>
        </p:nvGrpSpPr>
        <p:grpSpPr bwMode="auto">
          <a:xfrm>
            <a:off x="4480206" y="1742986"/>
            <a:ext cx="365988" cy="365988"/>
            <a:chOff x="1872" y="196"/>
            <a:chExt cx="3932" cy="3932"/>
          </a:xfrm>
          <a:solidFill>
            <a:sysClr val="window" lastClr="FFFFFF"/>
          </a:solidFill>
        </p:grpSpPr>
        <p:sp>
          <p:nvSpPr>
            <p:cNvPr id="86" name="Freeform 126"/>
            <p:cNvSpPr/>
            <p:nvPr/>
          </p:nvSpPr>
          <p:spPr bwMode="auto">
            <a:xfrm>
              <a:off x="2586" y="2161"/>
              <a:ext cx="885" cy="1053"/>
            </a:xfrm>
            <a:custGeom>
              <a:avLst/>
              <a:gdLst>
                <a:gd name="T0" fmla="*/ 582 w 885"/>
                <a:gd name="T1" fmla="*/ 5 h 1053"/>
                <a:gd name="T2" fmla="*/ 808 w 885"/>
                <a:gd name="T3" fmla="*/ 87 h 1053"/>
                <a:gd name="T4" fmla="*/ 846 w 885"/>
                <a:gd name="T5" fmla="*/ 117 h 1053"/>
                <a:gd name="T6" fmla="*/ 870 w 885"/>
                <a:gd name="T7" fmla="*/ 150 h 1053"/>
                <a:gd name="T8" fmla="*/ 882 w 885"/>
                <a:gd name="T9" fmla="*/ 178 h 1053"/>
                <a:gd name="T10" fmla="*/ 885 w 885"/>
                <a:gd name="T11" fmla="*/ 191 h 1053"/>
                <a:gd name="T12" fmla="*/ 885 w 885"/>
                <a:gd name="T13" fmla="*/ 440 h 1053"/>
                <a:gd name="T14" fmla="*/ 885 w 885"/>
                <a:gd name="T15" fmla="*/ 442 h 1053"/>
                <a:gd name="T16" fmla="*/ 879 w 885"/>
                <a:gd name="T17" fmla="*/ 594 h 1053"/>
                <a:gd name="T18" fmla="*/ 859 w 885"/>
                <a:gd name="T19" fmla="*/ 686 h 1053"/>
                <a:gd name="T20" fmla="*/ 833 w 885"/>
                <a:gd name="T21" fmla="*/ 760 h 1053"/>
                <a:gd name="T22" fmla="*/ 802 w 885"/>
                <a:gd name="T23" fmla="*/ 817 h 1053"/>
                <a:gd name="T24" fmla="*/ 771 w 885"/>
                <a:gd name="T25" fmla="*/ 860 h 1053"/>
                <a:gd name="T26" fmla="*/ 742 w 885"/>
                <a:gd name="T27" fmla="*/ 889 h 1053"/>
                <a:gd name="T28" fmla="*/ 718 w 885"/>
                <a:gd name="T29" fmla="*/ 907 h 1053"/>
                <a:gd name="T30" fmla="*/ 673 w 885"/>
                <a:gd name="T31" fmla="*/ 940 h 1053"/>
                <a:gd name="T32" fmla="*/ 603 w 885"/>
                <a:gd name="T33" fmla="*/ 999 h 1053"/>
                <a:gd name="T34" fmla="*/ 536 w 885"/>
                <a:gd name="T35" fmla="*/ 1034 h 1053"/>
                <a:gd name="T36" fmla="*/ 481 w 885"/>
                <a:gd name="T37" fmla="*/ 1050 h 1053"/>
                <a:gd name="T38" fmla="*/ 443 w 885"/>
                <a:gd name="T39" fmla="*/ 1053 h 1053"/>
                <a:gd name="T40" fmla="*/ 432 w 885"/>
                <a:gd name="T41" fmla="*/ 1053 h 1053"/>
                <a:gd name="T42" fmla="*/ 427 w 885"/>
                <a:gd name="T43" fmla="*/ 1053 h 1053"/>
                <a:gd name="T44" fmla="*/ 414 w 885"/>
                <a:gd name="T45" fmla="*/ 1052 h 1053"/>
                <a:gd name="T46" fmla="*/ 371 w 885"/>
                <a:gd name="T47" fmla="*/ 1043 h 1053"/>
                <a:gd name="T48" fmla="*/ 315 w 885"/>
                <a:gd name="T49" fmla="*/ 1016 h 1053"/>
                <a:gd name="T50" fmla="*/ 251 w 885"/>
                <a:gd name="T51" fmla="*/ 975 h 1053"/>
                <a:gd name="T52" fmla="*/ 198 w 885"/>
                <a:gd name="T53" fmla="*/ 935 h 1053"/>
                <a:gd name="T54" fmla="*/ 175 w 885"/>
                <a:gd name="T55" fmla="*/ 919 h 1053"/>
                <a:gd name="T56" fmla="*/ 172 w 885"/>
                <a:gd name="T57" fmla="*/ 916 h 1053"/>
                <a:gd name="T58" fmla="*/ 138 w 885"/>
                <a:gd name="T59" fmla="*/ 890 h 1053"/>
                <a:gd name="T60" fmla="*/ 86 w 885"/>
                <a:gd name="T61" fmla="*/ 830 h 1053"/>
                <a:gd name="T62" fmla="*/ 49 w 885"/>
                <a:gd name="T63" fmla="*/ 762 h 1053"/>
                <a:gd name="T64" fmla="*/ 25 w 885"/>
                <a:gd name="T65" fmla="*/ 694 h 1053"/>
                <a:gd name="T66" fmla="*/ 11 w 885"/>
                <a:gd name="T67" fmla="*/ 632 h 1053"/>
                <a:gd name="T68" fmla="*/ 4 w 885"/>
                <a:gd name="T69" fmla="*/ 583 h 1053"/>
                <a:gd name="T70" fmla="*/ 2 w 885"/>
                <a:gd name="T71" fmla="*/ 556 h 1053"/>
                <a:gd name="T72" fmla="*/ 0 w 885"/>
                <a:gd name="T73" fmla="*/ 192 h 1053"/>
                <a:gd name="T74" fmla="*/ 12 w 885"/>
                <a:gd name="T75" fmla="*/ 158 h 1053"/>
                <a:gd name="T76" fmla="*/ 17 w 885"/>
                <a:gd name="T77" fmla="*/ 149 h 1053"/>
                <a:gd name="T78" fmla="*/ 29 w 885"/>
                <a:gd name="T79" fmla="*/ 130 h 1053"/>
                <a:gd name="T80" fmla="*/ 35 w 885"/>
                <a:gd name="T81" fmla="*/ 122 h 1053"/>
                <a:gd name="T82" fmla="*/ 47 w 885"/>
                <a:gd name="T83" fmla="*/ 109 h 1053"/>
                <a:gd name="T84" fmla="*/ 57 w 885"/>
                <a:gd name="T85" fmla="*/ 100 h 1053"/>
                <a:gd name="T86" fmla="*/ 66 w 885"/>
                <a:gd name="T87" fmla="*/ 92 h 1053"/>
                <a:gd name="T88" fmla="*/ 79 w 885"/>
                <a:gd name="T89" fmla="*/ 84 h 1053"/>
                <a:gd name="T90" fmla="*/ 84 w 885"/>
                <a:gd name="T91" fmla="*/ 80 h 1053"/>
                <a:gd name="T92" fmla="*/ 115 w 885"/>
                <a:gd name="T93" fmla="*/ 67 h 1053"/>
                <a:gd name="T94" fmla="*/ 309 w 885"/>
                <a:gd name="T95" fmla="*/ 65 h 1053"/>
                <a:gd name="T96" fmla="*/ 380 w 885"/>
                <a:gd name="T97" fmla="*/ 54 h 1053"/>
                <a:gd name="T98" fmla="*/ 430 w 885"/>
                <a:gd name="T99" fmla="*/ 37 h 1053"/>
                <a:gd name="T100" fmla="*/ 487 w 885"/>
                <a:gd name="T101" fmla="*/ 16 h 1053"/>
                <a:gd name="T102" fmla="*/ 536 w 885"/>
                <a:gd name="T103" fmla="*/ 0 h 10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85" h="1053">
                  <a:moveTo>
                    <a:pt x="560" y="0"/>
                  </a:moveTo>
                  <a:lnTo>
                    <a:pt x="582" y="5"/>
                  </a:lnTo>
                  <a:lnTo>
                    <a:pt x="780" y="74"/>
                  </a:lnTo>
                  <a:lnTo>
                    <a:pt x="808" y="87"/>
                  </a:lnTo>
                  <a:lnTo>
                    <a:pt x="829" y="102"/>
                  </a:lnTo>
                  <a:lnTo>
                    <a:pt x="846" y="117"/>
                  </a:lnTo>
                  <a:lnTo>
                    <a:pt x="860" y="134"/>
                  </a:lnTo>
                  <a:lnTo>
                    <a:pt x="870" y="150"/>
                  </a:lnTo>
                  <a:lnTo>
                    <a:pt x="877" y="165"/>
                  </a:lnTo>
                  <a:lnTo>
                    <a:pt x="882" y="178"/>
                  </a:lnTo>
                  <a:lnTo>
                    <a:pt x="884" y="187"/>
                  </a:lnTo>
                  <a:lnTo>
                    <a:pt x="885" y="191"/>
                  </a:lnTo>
                  <a:lnTo>
                    <a:pt x="885" y="193"/>
                  </a:lnTo>
                  <a:lnTo>
                    <a:pt x="885" y="440"/>
                  </a:lnTo>
                  <a:lnTo>
                    <a:pt x="885" y="442"/>
                  </a:lnTo>
                  <a:lnTo>
                    <a:pt x="885" y="442"/>
                  </a:lnTo>
                  <a:lnTo>
                    <a:pt x="885" y="539"/>
                  </a:lnTo>
                  <a:lnTo>
                    <a:pt x="879" y="594"/>
                  </a:lnTo>
                  <a:lnTo>
                    <a:pt x="870" y="642"/>
                  </a:lnTo>
                  <a:lnTo>
                    <a:pt x="859" y="686"/>
                  </a:lnTo>
                  <a:lnTo>
                    <a:pt x="846" y="725"/>
                  </a:lnTo>
                  <a:lnTo>
                    <a:pt x="833" y="760"/>
                  </a:lnTo>
                  <a:lnTo>
                    <a:pt x="817" y="791"/>
                  </a:lnTo>
                  <a:lnTo>
                    <a:pt x="802" y="817"/>
                  </a:lnTo>
                  <a:lnTo>
                    <a:pt x="786" y="840"/>
                  </a:lnTo>
                  <a:lnTo>
                    <a:pt x="771" y="860"/>
                  </a:lnTo>
                  <a:lnTo>
                    <a:pt x="755" y="876"/>
                  </a:lnTo>
                  <a:lnTo>
                    <a:pt x="742" y="889"/>
                  </a:lnTo>
                  <a:lnTo>
                    <a:pt x="729" y="900"/>
                  </a:lnTo>
                  <a:lnTo>
                    <a:pt x="718" y="907"/>
                  </a:lnTo>
                  <a:lnTo>
                    <a:pt x="711" y="913"/>
                  </a:lnTo>
                  <a:lnTo>
                    <a:pt x="673" y="940"/>
                  </a:lnTo>
                  <a:lnTo>
                    <a:pt x="639" y="970"/>
                  </a:lnTo>
                  <a:lnTo>
                    <a:pt x="603" y="999"/>
                  </a:lnTo>
                  <a:lnTo>
                    <a:pt x="568" y="1020"/>
                  </a:lnTo>
                  <a:lnTo>
                    <a:pt x="536" y="1034"/>
                  </a:lnTo>
                  <a:lnTo>
                    <a:pt x="506" y="1045"/>
                  </a:lnTo>
                  <a:lnTo>
                    <a:pt x="481" y="1050"/>
                  </a:lnTo>
                  <a:lnTo>
                    <a:pt x="460" y="1053"/>
                  </a:lnTo>
                  <a:lnTo>
                    <a:pt x="443" y="1053"/>
                  </a:lnTo>
                  <a:lnTo>
                    <a:pt x="437" y="1053"/>
                  </a:lnTo>
                  <a:lnTo>
                    <a:pt x="432" y="1053"/>
                  </a:lnTo>
                  <a:lnTo>
                    <a:pt x="430" y="1053"/>
                  </a:lnTo>
                  <a:lnTo>
                    <a:pt x="427" y="1053"/>
                  </a:lnTo>
                  <a:lnTo>
                    <a:pt x="418" y="1052"/>
                  </a:lnTo>
                  <a:lnTo>
                    <a:pt x="414" y="1052"/>
                  </a:lnTo>
                  <a:lnTo>
                    <a:pt x="395" y="1050"/>
                  </a:lnTo>
                  <a:lnTo>
                    <a:pt x="371" y="1043"/>
                  </a:lnTo>
                  <a:lnTo>
                    <a:pt x="345" y="1032"/>
                  </a:lnTo>
                  <a:lnTo>
                    <a:pt x="315" y="1016"/>
                  </a:lnTo>
                  <a:lnTo>
                    <a:pt x="284" y="997"/>
                  </a:lnTo>
                  <a:lnTo>
                    <a:pt x="251" y="975"/>
                  </a:lnTo>
                  <a:lnTo>
                    <a:pt x="216" y="948"/>
                  </a:lnTo>
                  <a:lnTo>
                    <a:pt x="198" y="935"/>
                  </a:lnTo>
                  <a:lnTo>
                    <a:pt x="178" y="921"/>
                  </a:lnTo>
                  <a:lnTo>
                    <a:pt x="175" y="919"/>
                  </a:lnTo>
                  <a:lnTo>
                    <a:pt x="175" y="917"/>
                  </a:lnTo>
                  <a:lnTo>
                    <a:pt x="172" y="916"/>
                  </a:lnTo>
                  <a:lnTo>
                    <a:pt x="170" y="915"/>
                  </a:lnTo>
                  <a:lnTo>
                    <a:pt x="138" y="890"/>
                  </a:lnTo>
                  <a:lnTo>
                    <a:pt x="110" y="861"/>
                  </a:lnTo>
                  <a:lnTo>
                    <a:pt x="86" y="830"/>
                  </a:lnTo>
                  <a:lnTo>
                    <a:pt x="66" y="797"/>
                  </a:lnTo>
                  <a:lnTo>
                    <a:pt x="49" y="762"/>
                  </a:lnTo>
                  <a:lnTo>
                    <a:pt x="36" y="728"/>
                  </a:lnTo>
                  <a:lnTo>
                    <a:pt x="25" y="694"/>
                  </a:lnTo>
                  <a:lnTo>
                    <a:pt x="17" y="662"/>
                  </a:lnTo>
                  <a:lnTo>
                    <a:pt x="11" y="632"/>
                  </a:lnTo>
                  <a:lnTo>
                    <a:pt x="6" y="606"/>
                  </a:lnTo>
                  <a:lnTo>
                    <a:pt x="4" y="583"/>
                  </a:lnTo>
                  <a:lnTo>
                    <a:pt x="2" y="567"/>
                  </a:lnTo>
                  <a:lnTo>
                    <a:pt x="2" y="556"/>
                  </a:lnTo>
                  <a:lnTo>
                    <a:pt x="0" y="552"/>
                  </a:lnTo>
                  <a:lnTo>
                    <a:pt x="0" y="192"/>
                  </a:lnTo>
                  <a:lnTo>
                    <a:pt x="6" y="173"/>
                  </a:lnTo>
                  <a:lnTo>
                    <a:pt x="12" y="158"/>
                  </a:lnTo>
                  <a:lnTo>
                    <a:pt x="15" y="153"/>
                  </a:lnTo>
                  <a:lnTo>
                    <a:pt x="17" y="149"/>
                  </a:lnTo>
                  <a:lnTo>
                    <a:pt x="23" y="140"/>
                  </a:lnTo>
                  <a:lnTo>
                    <a:pt x="29" y="130"/>
                  </a:lnTo>
                  <a:lnTo>
                    <a:pt x="31" y="125"/>
                  </a:lnTo>
                  <a:lnTo>
                    <a:pt x="35" y="122"/>
                  </a:lnTo>
                  <a:lnTo>
                    <a:pt x="41" y="115"/>
                  </a:lnTo>
                  <a:lnTo>
                    <a:pt x="47" y="109"/>
                  </a:lnTo>
                  <a:lnTo>
                    <a:pt x="52" y="104"/>
                  </a:lnTo>
                  <a:lnTo>
                    <a:pt x="57" y="100"/>
                  </a:lnTo>
                  <a:lnTo>
                    <a:pt x="61" y="96"/>
                  </a:lnTo>
                  <a:lnTo>
                    <a:pt x="66" y="92"/>
                  </a:lnTo>
                  <a:lnTo>
                    <a:pt x="72" y="87"/>
                  </a:lnTo>
                  <a:lnTo>
                    <a:pt x="79" y="84"/>
                  </a:lnTo>
                  <a:lnTo>
                    <a:pt x="82" y="81"/>
                  </a:lnTo>
                  <a:lnTo>
                    <a:pt x="84" y="80"/>
                  </a:lnTo>
                  <a:lnTo>
                    <a:pt x="102" y="72"/>
                  </a:lnTo>
                  <a:lnTo>
                    <a:pt x="115" y="67"/>
                  </a:lnTo>
                  <a:lnTo>
                    <a:pt x="126" y="65"/>
                  </a:lnTo>
                  <a:lnTo>
                    <a:pt x="309" y="65"/>
                  </a:lnTo>
                  <a:lnTo>
                    <a:pt x="345" y="62"/>
                  </a:lnTo>
                  <a:lnTo>
                    <a:pt x="380" y="54"/>
                  </a:lnTo>
                  <a:lnTo>
                    <a:pt x="404" y="47"/>
                  </a:lnTo>
                  <a:lnTo>
                    <a:pt x="430" y="37"/>
                  </a:lnTo>
                  <a:lnTo>
                    <a:pt x="458" y="26"/>
                  </a:lnTo>
                  <a:lnTo>
                    <a:pt x="487" y="16"/>
                  </a:lnTo>
                  <a:lnTo>
                    <a:pt x="513" y="6"/>
                  </a:lnTo>
                  <a:lnTo>
                    <a:pt x="536" y="0"/>
                  </a:lnTo>
                  <a:lnTo>
                    <a:pt x="5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87" name="Freeform 127"/>
            <p:cNvSpPr/>
            <p:nvPr/>
          </p:nvSpPr>
          <p:spPr bwMode="auto">
            <a:xfrm>
              <a:off x="3122" y="3353"/>
              <a:ext cx="281" cy="312"/>
            </a:xfrm>
            <a:custGeom>
              <a:avLst/>
              <a:gdLst>
                <a:gd name="T0" fmla="*/ 221 w 281"/>
                <a:gd name="T1" fmla="*/ 0 h 312"/>
                <a:gd name="T2" fmla="*/ 281 w 281"/>
                <a:gd name="T3" fmla="*/ 22 h 312"/>
                <a:gd name="T4" fmla="*/ 122 w 281"/>
                <a:gd name="T5" fmla="*/ 312 h 312"/>
                <a:gd name="T6" fmla="*/ 0 w 281"/>
                <a:gd name="T7" fmla="*/ 148 h 312"/>
                <a:gd name="T8" fmla="*/ 221 w 281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1" h="312">
                  <a:moveTo>
                    <a:pt x="221" y="0"/>
                  </a:moveTo>
                  <a:lnTo>
                    <a:pt x="281" y="22"/>
                  </a:lnTo>
                  <a:lnTo>
                    <a:pt x="122" y="312"/>
                  </a:lnTo>
                  <a:lnTo>
                    <a:pt x="0" y="148"/>
                  </a:lnTo>
                  <a:lnTo>
                    <a:pt x="2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88" name="Freeform 128"/>
            <p:cNvSpPr/>
            <p:nvPr/>
          </p:nvSpPr>
          <p:spPr bwMode="auto">
            <a:xfrm>
              <a:off x="2911" y="3325"/>
              <a:ext cx="238" cy="80"/>
            </a:xfrm>
            <a:custGeom>
              <a:avLst/>
              <a:gdLst>
                <a:gd name="T0" fmla="*/ 238 w 238"/>
                <a:gd name="T1" fmla="*/ 0 h 80"/>
                <a:gd name="T2" fmla="*/ 118 w 238"/>
                <a:gd name="T3" fmla="*/ 80 h 80"/>
                <a:gd name="T4" fmla="*/ 0 w 238"/>
                <a:gd name="T5" fmla="*/ 1 h 80"/>
                <a:gd name="T6" fmla="*/ 3 w 238"/>
                <a:gd name="T7" fmla="*/ 1 h 80"/>
                <a:gd name="T8" fmla="*/ 6 w 238"/>
                <a:gd name="T9" fmla="*/ 3 h 80"/>
                <a:gd name="T10" fmla="*/ 36 w 238"/>
                <a:gd name="T11" fmla="*/ 12 h 80"/>
                <a:gd name="T12" fmla="*/ 43 w 238"/>
                <a:gd name="T13" fmla="*/ 13 h 80"/>
                <a:gd name="T14" fmla="*/ 49 w 238"/>
                <a:gd name="T15" fmla="*/ 15 h 80"/>
                <a:gd name="T16" fmla="*/ 69 w 238"/>
                <a:gd name="T17" fmla="*/ 18 h 80"/>
                <a:gd name="T18" fmla="*/ 89 w 238"/>
                <a:gd name="T19" fmla="*/ 19 h 80"/>
                <a:gd name="T20" fmla="*/ 100 w 238"/>
                <a:gd name="T21" fmla="*/ 21 h 80"/>
                <a:gd name="T22" fmla="*/ 116 w 238"/>
                <a:gd name="T23" fmla="*/ 21 h 80"/>
                <a:gd name="T24" fmla="*/ 129 w 238"/>
                <a:gd name="T25" fmla="*/ 21 h 80"/>
                <a:gd name="T26" fmla="*/ 143 w 238"/>
                <a:gd name="T27" fmla="*/ 19 h 80"/>
                <a:gd name="T28" fmla="*/ 147 w 238"/>
                <a:gd name="T29" fmla="*/ 19 h 80"/>
                <a:gd name="T30" fmla="*/ 163 w 238"/>
                <a:gd name="T31" fmla="*/ 17 h 80"/>
                <a:gd name="T32" fmla="*/ 181 w 238"/>
                <a:gd name="T33" fmla="*/ 15 h 80"/>
                <a:gd name="T34" fmla="*/ 186 w 238"/>
                <a:gd name="T35" fmla="*/ 13 h 80"/>
                <a:gd name="T36" fmla="*/ 191 w 238"/>
                <a:gd name="T37" fmla="*/ 12 h 80"/>
                <a:gd name="T38" fmla="*/ 213 w 238"/>
                <a:gd name="T39" fmla="*/ 7 h 80"/>
                <a:gd name="T40" fmla="*/ 237 w 238"/>
                <a:gd name="T41" fmla="*/ 0 h 80"/>
                <a:gd name="T42" fmla="*/ 238 w 238"/>
                <a:gd name="T43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8" h="80">
                  <a:moveTo>
                    <a:pt x="238" y="0"/>
                  </a:moveTo>
                  <a:lnTo>
                    <a:pt x="118" y="80"/>
                  </a:lnTo>
                  <a:lnTo>
                    <a:pt x="0" y="1"/>
                  </a:lnTo>
                  <a:lnTo>
                    <a:pt x="3" y="1"/>
                  </a:lnTo>
                  <a:lnTo>
                    <a:pt x="6" y="3"/>
                  </a:lnTo>
                  <a:lnTo>
                    <a:pt x="36" y="12"/>
                  </a:lnTo>
                  <a:lnTo>
                    <a:pt x="43" y="13"/>
                  </a:lnTo>
                  <a:lnTo>
                    <a:pt x="49" y="15"/>
                  </a:lnTo>
                  <a:lnTo>
                    <a:pt x="69" y="18"/>
                  </a:lnTo>
                  <a:lnTo>
                    <a:pt x="89" y="19"/>
                  </a:lnTo>
                  <a:lnTo>
                    <a:pt x="100" y="21"/>
                  </a:lnTo>
                  <a:lnTo>
                    <a:pt x="116" y="21"/>
                  </a:lnTo>
                  <a:lnTo>
                    <a:pt x="129" y="21"/>
                  </a:lnTo>
                  <a:lnTo>
                    <a:pt x="143" y="19"/>
                  </a:lnTo>
                  <a:lnTo>
                    <a:pt x="147" y="19"/>
                  </a:lnTo>
                  <a:lnTo>
                    <a:pt x="163" y="17"/>
                  </a:lnTo>
                  <a:lnTo>
                    <a:pt x="181" y="15"/>
                  </a:lnTo>
                  <a:lnTo>
                    <a:pt x="186" y="13"/>
                  </a:lnTo>
                  <a:lnTo>
                    <a:pt x="191" y="12"/>
                  </a:lnTo>
                  <a:lnTo>
                    <a:pt x="213" y="7"/>
                  </a:lnTo>
                  <a:lnTo>
                    <a:pt x="237" y="0"/>
                  </a:lnTo>
                  <a:lnTo>
                    <a:pt x="2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89" name="Freeform 129"/>
            <p:cNvSpPr/>
            <p:nvPr/>
          </p:nvSpPr>
          <p:spPr bwMode="auto">
            <a:xfrm>
              <a:off x="2487" y="1825"/>
              <a:ext cx="1086" cy="427"/>
            </a:xfrm>
            <a:custGeom>
              <a:avLst/>
              <a:gdLst>
                <a:gd name="T0" fmla="*/ 882 w 1086"/>
                <a:gd name="T1" fmla="*/ 0 h 427"/>
                <a:gd name="T2" fmla="*/ 919 w 1086"/>
                <a:gd name="T3" fmla="*/ 14 h 427"/>
                <a:gd name="T4" fmla="*/ 931 w 1086"/>
                <a:gd name="T5" fmla="*/ 33 h 427"/>
                <a:gd name="T6" fmla="*/ 928 w 1086"/>
                <a:gd name="T7" fmla="*/ 56 h 427"/>
                <a:gd name="T8" fmla="*/ 920 w 1086"/>
                <a:gd name="T9" fmla="*/ 83 h 427"/>
                <a:gd name="T10" fmla="*/ 926 w 1086"/>
                <a:gd name="T11" fmla="*/ 120 h 427"/>
                <a:gd name="T12" fmla="*/ 951 w 1086"/>
                <a:gd name="T13" fmla="*/ 149 h 427"/>
                <a:gd name="T14" fmla="*/ 995 w 1086"/>
                <a:gd name="T15" fmla="*/ 164 h 427"/>
                <a:gd name="T16" fmla="*/ 1035 w 1086"/>
                <a:gd name="T17" fmla="*/ 189 h 427"/>
                <a:gd name="T18" fmla="*/ 1061 w 1086"/>
                <a:gd name="T19" fmla="*/ 222 h 427"/>
                <a:gd name="T20" fmla="*/ 1076 w 1086"/>
                <a:gd name="T21" fmla="*/ 253 h 427"/>
                <a:gd name="T22" fmla="*/ 1085 w 1086"/>
                <a:gd name="T23" fmla="*/ 277 h 427"/>
                <a:gd name="T24" fmla="*/ 1086 w 1086"/>
                <a:gd name="T25" fmla="*/ 427 h 427"/>
                <a:gd name="T26" fmla="*/ 1082 w 1086"/>
                <a:gd name="T27" fmla="*/ 421 h 427"/>
                <a:gd name="T28" fmla="*/ 1058 w 1086"/>
                <a:gd name="T29" fmla="*/ 384 h 427"/>
                <a:gd name="T30" fmla="*/ 1027 w 1086"/>
                <a:gd name="T31" fmla="*/ 349 h 427"/>
                <a:gd name="T32" fmla="*/ 1005 w 1086"/>
                <a:gd name="T33" fmla="*/ 331 h 427"/>
                <a:gd name="T34" fmla="*/ 981 w 1086"/>
                <a:gd name="T35" fmla="*/ 315 h 427"/>
                <a:gd name="T36" fmla="*/ 925 w 1086"/>
                <a:gd name="T37" fmla="*/ 287 h 427"/>
                <a:gd name="T38" fmla="*/ 686 w 1086"/>
                <a:gd name="T39" fmla="*/ 207 h 427"/>
                <a:gd name="T40" fmla="*/ 673 w 1086"/>
                <a:gd name="T41" fmla="*/ 206 h 427"/>
                <a:gd name="T42" fmla="*/ 647 w 1086"/>
                <a:gd name="T43" fmla="*/ 205 h 427"/>
                <a:gd name="T44" fmla="*/ 614 w 1086"/>
                <a:gd name="T45" fmla="*/ 207 h 427"/>
                <a:gd name="T46" fmla="*/ 586 w 1086"/>
                <a:gd name="T47" fmla="*/ 213 h 427"/>
                <a:gd name="T48" fmla="*/ 541 w 1086"/>
                <a:gd name="T49" fmla="*/ 229 h 427"/>
                <a:gd name="T50" fmla="*/ 486 w 1086"/>
                <a:gd name="T51" fmla="*/ 249 h 427"/>
                <a:gd name="T52" fmla="*/ 439 w 1086"/>
                <a:gd name="T53" fmla="*/ 265 h 427"/>
                <a:gd name="T54" fmla="*/ 408 w 1086"/>
                <a:gd name="T55" fmla="*/ 269 h 427"/>
                <a:gd name="T56" fmla="*/ 210 w 1086"/>
                <a:gd name="T57" fmla="*/ 271 h 427"/>
                <a:gd name="T58" fmla="*/ 207 w 1086"/>
                <a:gd name="T59" fmla="*/ 271 h 427"/>
                <a:gd name="T60" fmla="*/ 203 w 1086"/>
                <a:gd name="T61" fmla="*/ 272 h 427"/>
                <a:gd name="T62" fmla="*/ 197 w 1086"/>
                <a:gd name="T63" fmla="*/ 273 h 427"/>
                <a:gd name="T64" fmla="*/ 185 w 1086"/>
                <a:gd name="T65" fmla="*/ 275 h 427"/>
                <a:gd name="T66" fmla="*/ 172 w 1086"/>
                <a:gd name="T67" fmla="*/ 280 h 427"/>
                <a:gd name="T68" fmla="*/ 159 w 1086"/>
                <a:gd name="T69" fmla="*/ 285 h 427"/>
                <a:gd name="T70" fmla="*/ 128 w 1086"/>
                <a:gd name="T71" fmla="*/ 298 h 427"/>
                <a:gd name="T72" fmla="*/ 92 w 1086"/>
                <a:gd name="T73" fmla="*/ 318 h 427"/>
                <a:gd name="T74" fmla="*/ 59 w 1086"/>
                <a:gd name="T75" fmla="*/ 346 h 427"/>
                <a:gd name="T76" fmla="*/ 31 w 1086"/>
                <a:gd name="T77" fmla="*/ 376 h 427"/>
                <a:gd name="T78" fmla="*/ 15 w 1086"/>
                <a:gd name="T79" fmla="*/ 398 h 427"/>
                <a:gd name="T80" fmla="*/ 2 w 1086"/>
                <a:gd name="T81" fmla="*/ 421 h 427"/>
                <a:gd name="T82" fmla="*/ 0 w 1086"/>
                <a:gd name="T83" fmla="*/ 314 h 427"/>
                <a:gd name="T84" fmla="*/ 14 w 1086"/>
                <a:gd name="T85" fmla="*/ 223 h 427"/>
                <a:gd name="T86" fmla="*/ 51 w 1086"/>
                <a:gd name="T87" fmla="*/ 143 h 427"/>
                <a:gd name="T88" fmla="*/ 108 w 1086"/>
                <a:gd name="T89" fmla="*/ 76 h 427"/>
                <a:gd name="T90" fmla="*/ 182 w 1086"/>
                <a:gd name="T91" fmla="*/ 28 h 427"/>
                <a:gd name="T92" fmla="*/ 268 w 1086"/>
                <a:gd name="T93" fmla="*/ 2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086" h="427">
                  <a:moveTo>
                    <a:pt x="314" y="0"/>
                  </a:moveTo>
                  <a:lnTo>
                    <a:pt x="882" y="0"/>
                  </a:lnTo>
                  <a:lnTo>
                    <a:pt x="903" y="6"/>
                  </a:lnTo>
                  <a:lnTo>
                    <a:pt x="919" y="14"/>
                  </a:lnTo>
                  <a:lnTo>
                    <a:pt x="927" y="24"/>
                  </a:lnTo>
                  <a:lnTo>
                    <a:pt x="931" y="33"/>
                  </a:lnTo>
                  <a:lnTo>
                    <a:pt x="930" y="45"/>
                  </a:lnTo>
                  <a:lnTo>
                    <a:pt x="928" y="56"/>
                  </a:lnTo>
                  <a:lnTo>
                    <a:pt x="925" y="64"/>
                  </a:lnTo>
                  <a:lnTo>
                    <a:pt x="920" y="83"/>
                  </a:lnTo>
                  <a:lnTo>
                    <a:pt x="920" y="102"/>
                  </a:lnTo>
                  <a:lnTo>
                    <a:pt x="926" y="120"/>
                  </a:lnTo>
                  <a:lnTo>
                    <a:pt x="937" y="137"/>
                  </a:lnTo>
                  <a:lnTo>
                    <a:pt x="951" y="149"/>
                  </a:lnTo>
                  <a:lnTo>
                    <a:pt x="969" y="156"/>
                  </a:lnTo>
                  <a:lnTo>
                    <a:pt x="995" y="164"/>
                  </a:lnTo>
                  <a:lnTo>
                    <a:pt x="1017" y="176"/>
                  </a:lnTo>
                  <a:lnTo>
                    <a:pt x="1035" y="189"/>
                  </a:lnTo>
                  <a:lnTo>
                    <a:pt x="1049" y="205"/>
                  </a:lnTo>
                  <a:lnTo>
                    <a:pt x="1061" y="222"/>
                  </a:lnTo>
                  <a:lnTo>
                    <a:pt x="1070" y="237"/>
                  </a:lnTo>
                  <a:lnTo>
                    <a:pt x="1076" y="253"/>
                  </a:lnTo>
                  <a:lnTo>
                    <a:pt x="1081" y="266"/>
                  </a:lnTo>
                  <a:lnTo>
                    <a:pt x="1085" y="277"/>
                  </a:lnTo>
                  <a:lnTo>
                    <a:pt x="1086" y="284"/>
                  </a:lnTo>
                  <a:lnTo>
                    <a:pt x="1086" y="427"/>
                  </a:lnTo>
                  <a:lnTo>
                    <a:pt x="1085" y="424"/>
                  </a:lnTo>
                  <a:lnTo>
                    <a:pt x="1082" y="421"/>
                  </a:lnTo>
                  <a:lnTo>
                    <a:pt x="1061" y="386"/>
                  </a:lnTo>
                  <a:lnTo>
                    <a:pt x="1058" y="384"/>
                  </a:lnTo>
                  <a:lnTo>
                    <a:pt x="1044" y="367"/>
                  </a:lnTo>
                  <a:lnTo>
                    <a:pt x="1027" y="349"/>
                  </a:lnTo>
                  <a:lnTo>
                    <a:pt x="1025" y="348"/>
                  </a:lnTo>
                  <a:lnTo>
                    <a:pt x="1005" y="331"/>
                  </a:lnTo>
                  <a:lnTo>
                    <a:pt x="982" y="315"/>
                  </a:lnTo>
                  <a:lnTo>
                    <a:pt x="981" y="315"/>
                  </a:lnTo>
                  <a:lnTo>
                    <a:pt x="953" y="300"/>
                  </a:lnTo>
                  <a:lnTo>
                    <a:pt x="925" y="287"/>
                  </a:lnTo>
                  <a:lnTo>
                    <a:pt x="726" y="217"/>
                  </a:lnTo>
                  <a:lnTo>
                    <a:pt x="686" y="207"/>
                  </a:lnTo>
                  <a:lnTo>
                    <a:pt x="680" y="207"/>
                  </a:lnTo>
                  <a:lnTo>
                    <a:pt x="673" y="206"/>
                  </a:lnTo>
                  <a:lnTo>
                    <a:pt x="648" y="204"/>
                  </a:lnTo>
                  <a:lnTo>
                    <a:pt x="647" y="205"/>
                  </a:lnTo>
                  <a:lnTo>
                    <a:pt x="621" y="207"/>
                  </a:lnTo>
                  <a:lnTo>
                    <a:pt x="614" y="207"/>
                  </a:lnTo>
                  <a:lnTo>
                    <a:pt x="605" y="209"/>
                  </a:lnTo>
                  <a:lnTo>
                    <a:pt x="586" y="213"/>
                  </a:lnTo>
                  <a:lnTo>
                    <a:pt x="566" y="219"/>
                  </a:lnTo>
                  <a:lnTo>
                    <a:pt x="541" y="229"/>
                  </a:lnTo>
                  <a:lnTo>
                    <a:pt x="513" y="240"/>
                  </a:lnTo>
                  <a:lnTo>
                    <a:pt x="486" y="249"/>
                  </a:lnTo>
                  <a:lnTo>
                    <a:pt x="461" y="257"/>
                  </a:lnTo>
                  <a:lnTo>
                    <a:pt x="439" y="265"/>
                  </a:lnTo>
                  <a:lnTo>
                    <a:pt x="424" y="268"/>
                  </a:lnTo>
                  <a:lnTo>
                    <a:pt x="408" y="269"/>
                  </a:lnTo>
                  <a:lnTo>
                    <a:pt x="219" y="269"/>
                  </a:lnTo>
                  <a:lnTo>
                    <a:pt x="210" y="271"/>
                  </a:lnTo>
                  <a:lnTo>
                    <a:pt x="209" y="271"/>
                  </a:lnTo>
                  <a:lnTo>
                    <a:pt x="207" y="271"/>
                  </a:lnTo>
                  <a:lnTo>
                    <a:pt x="203" y="272"/>
                  </a:lnTo>
                  <a:lnTo>
                    <a:pt x="203" y="272"/>
                  </a:lnTo>
                  <a:lnTo>
                    <a:pt x="202" y="272"/>
                  </a:lnTo>
                  <a:lnTo>
                    <a:pt x="197" y="273"/>
                  </a:lnTo>
                  <a:lnTo>
                    <a:pt x="192" y="274"/>
                  </a:lnTo>
                  <a:lnTo>
                    <a:pt x="185" y="275"/>
                  </a:lnTo>
                  <a:lnTo>
                    <a:pt x="183" y="277"/>
                  </a:lnTo>
                  <a:lnTo>
                    <a:pt x="172" y="280"/>
                  </a:lnTo>
                  <a:lnTo>
                    <a:pt x="159" y="284"/>
                  </a:lnTo>
                  <a:lnTo>
                    <a:pt x="159" y="285"/>
                  </a:lnTo>
                  <a:lnTo>
                    <a:pt x="132" y="297"/>
                  </a:lnTo>
                  <a:lnTo>
                    <a:pt x="128" y="298"/>
                  </a:lnTo>
                  <a:lnTo>
                    <a:pt x="98" y="315"/>
                  </a:lnTo>
                  <a:lnTo>
                    <a:pt x="92" y="318"/>
                  </a:lnTo>
                  <a:lnTo>
                    <a:pt x="62" y="342"/>
                  </a:lnTo>
                  <a:lnTo>
                    <a:pt x="59" y="346"/>
                  </a:lnTo>
                  <a:lnTo>
                    <a:pt x="45" y="360"/>
                  </a:lnTo>
                  <a:lnTo>
                    <a:pt x="31" y="376"/>
                  </a:lnTo>
                  <a:lnTo>
                    <a:pt x="28" y="379"/>
                  </a:lnTo>
                  <a:lnTo>
                    <a:pt x="15" y="398"/>
                  </a:lnTo>
                  <a:lnTo>
                    <a:pt x="3" y="418"/>
                  </a:lnTo>
                  <a:lnTo>
                    <a:pt x="2" y="421"/>
                  </a:lnTo>
                  <a:lnTo>
                    <a:pt x="0" y="423"/>
                  </a:lnTo>
                  <a:lnTo>
                    <a:pt x="0" y="314"/>
                  </a:lnTo>
                  <a:lnTo>
                    <a:pt x="4" y="267"/>
                  </a:lnTo>
                  <a:lnTo>
                    <a:pt x="14" y="223"/>
                  </a:lnTo>
                  <a:lnTo>
                    <a:pt x="29" y="181"/>
                  </a:lnTo>
                  <a:lnTo>
                    <a:pt x="51" y="143"/>
                  </a:lnTo>
                  <a:lnTo>
                    <a:pt x="77" y="107"/>
                  </a:lnTo>
                  <a:lnTo>
                    <a:pt x="108" y="76"/>
                  </a:lnTo>
                  <a:lnTo>
                    <a:pt x="144" y="50"/>
                  </a:lnTo>
                  <a:lnTo>
                    <a:pt x="182" y="28"/>
                  </a:lnTo>
                  <a:lnTo>
                    <a:pt x="223" y="13"/>
                  </a:lnTo>
                  <a:lnTo>
                    <a:pt x="268" y="2"/>
                  </a:lnTo>
                  <a:lnTo>
                    <a:pt x="3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90" name="Freeform 130"/>
            <p:cNvSpPr/>
            <p:nvPr/>
          </p:nvSpPr>
          <p:spPr bwMode="auto">
            <a:xfrm>
              <a:off x="1872" y="3420"/>
              <a:ext cx="2314" cy="708"/>
            </a:xfrm>
            <a:custGeom>
              <a:avLst/>
              <a:gdLst>
                <a:gd name="T0" fmla="*/ 1657 w 2314"/>
                <a:gd name="T1" fmla="*/ 0 h 708"/>
                <a:gd name="T2" fmla="*/ 2137 w 2314"/>
                <a:gd name="T3" fmla="*/ 174 h 708"/>
                <a:gd name="T4" fmla="*/ 2168 w 2314"/>
                <a:gd name="T5" fmla="*/ 188 h 708"/>
                <a:gd name="T6" fmla="*/ 2195 w 2314"/>
                <a:gd name="T7" fmla="*/ 207 h 708"/>
                <a:gd name="T8" fmla="*/ 2217 w 2314"/>
                <a:gd name="T9" fmla="*/ 230 h 708"/>
                <a:gd name="T10" fmla="*/ 2236 w 2314"/>
                <a:gd name="T11" fmla="*/ 257 h 708"/>
                <a:gd name="T12" fmla="*/ 2249 w 2314"/>
                <a:gd name="T13" fmla="*/ 287 h 708"/>
                <a:gd name="T14" fmla="*/ 2258 w 2314"/>
                <a:gd name="T15" fmla="*/ 319 h 708"/>
                <a:gd name="T16" fmla="*/ 2314 w 2314"/>
                <a:gd name="T17" fmla="*/ 652 h 708"/>
                <a:gd name="T18" fmla="*/ 2314 w 2314"/>
                <a:gd name="T19" fmla="*/ 665 h 708"/>
                <a:gd name="T20" fmla="*/ 2312 w 2314"/>
                <a:gd name="T21" fmla="*/ 676 h 708"/>
                <a:gd name="T22" fmla="*/ 2307 w 2314"/>
                <a:gd name="T23" fmla="*/ 685 h 708"/>
                <a:gd name="T24" fmla="*/ 2303 w 2314"/>
                <a:gd name="T25" fmla="*/ 691 h 708"/>
                <a:gd name="T26" fmla="*/ 2297 w 2314"/>
                <a:gd name="T27" fmla="*/ 696 h 708"/>
                <a:gd name="T28" fmla="*/ 2290 w 2314"/>
                <a:gd name="T29" fmla="*/ 702 h 708"/>
                <a:gd name="T30" fmla="*/ 2279 w 2314"/>
                <a:gd name="T31" fmla="*/ 707 h 708"/>
                <a:gd name="T32" fmla="*/ 2266 w 2314"/>
                <a:gd name="T33" fmla="*/ 708 h 708"/>
                <a:gd name="T34" fmla="*/ 48 w 2314"/>
                <a:gd name="T35" fmla="*/ 708 h 708"/>
                <a:gd name="T36" fmla="*/ 35 w 2314"/>
                <a:gd name="T37" fmla="*/ 707 h 708"/>
                <a:gd name="T38" fmla="*/ 25 w 2314"/>
                <a:gd name="T39" fmla="*/ 702 h 708"/>
                <a:gd name="T40" fmla="*/ 17 w 2314"/>
                <a:gd name="T41" fmla="*/ 696 h 708"/>
                <a:gd name="T42" fmla="*/ 12 w 2314"/>
                <a:gd name="T43" fmla="*/ 691 h 708"/>
                <a:gd name="T44" fmla="*/ 7 w 2314"/>
                <a:gd name="T45" fmla="*/ 685 h 708"/>
                <a:gd name="T46" fmla="*/ 2 w 2314"/>
                <a:gd name="T47" fmla="*/ 676 h 708"/>
                <a:gd name="T48" fmla="*/ 0 w 2314"/>
                <a:gd name="T49" fmla="*/ 665 h 708"/>
                <a:gd name="T50" fmla="*/ 1 w 2314"/>
                <a:gd name="T51" fmla="*/ 652 h 708"/>
                <a:gd name="T52" fmla="*/ 56 w 2314"/>
                <a:gd name="T53" fmla="*/ 319 h 708"/>
                <a:gd name="T54" fmla="*/ 64 w 2314"/>
                <a:gd name="T55" fmla="*/ 287 h 708"/>
                <a:gd name="T56" fmla="*/ 78 w 2314"/>
                <a:gd name="T57" fmla="*/ 257 h 708"/>
                <a:gd name="T58" fmla="*/ 97 w 2314"/>
                <a:gd name="T59" fmla="*/ 230 h 708"/>
                <a:gd name="T60" fmla="*/ 119 w 2314"/>
                <a:gd name="T61" fmla="*/ 207 h 708"/>
                <a:gd name="T62" fmla="*/ 147 w 2314"/>
                <a:gd name="T63" fmla="*/ 188 h 708"/>
                <a:gd name="T64" fmla="*/ 177 w 2314"/>
                <a:gd name="T65" fmla="*/ 174 h 708"/>
                <a:gd name="T66" fmla="*/ 657 w 2314"/>
                <a:gd name="T67" fmla="*/ 0 h 708"/>
                <a:gd name="T68" fmla="*/ 877 w 2314"/>
                <a:gd name="T69" fmla="*/ 399 h 708"/>
                <a:gd name="T70" fmla="*/ 886 w 2314"/>
                <a:gd name="T71" fmla="*/ 412 h 708"/>
                <a:gd name="T72" fmla="*/ 899 w 2314"/>
                <a:gd name="T73" fmla="*/ 423 h 708"/>
                <a:gd name="T74" fmla="*/ 914 w 2314"/>
                <a:gd name="T75" fmla="*/ 429 h 708"/>
                <a:gd name="T76" fmla="*/ 930 w 2314"/>
                <a:gd name="T77" fmla="*/ 432 h 708"/>
                <a:gd name="T78" fmla="*/ 935 w 2314"/>
                <a:gd name="T79" fmla="*/ 432 h 708"/>
                <a:gd name="T80" fmla="*/ 949 w 2314"/>
                <a:gd name="T81" fmla="*/ 431 h 708"/>
                <a:gd name="T82" fmla="*/ 964 w 2314"/>
                <a:gd name="T83" fmla="*/ 425 h 708"/>
                <a:gd name="T84" fmla="*/ 977 w 2314"/>
                <a:gd name="T85" fmla="*/ 417 h 708"/>
                <a:gd name="T86" fmla="*/ 988 w 2314"/>
                <a:gd name="T87" fmla="*/ 406 h 708"/>
                <a:gd name="T88" fmla="*/ 1106 w 2314"/>
                <a:gd name="T89" fmla="*/ 244 h 708"/>
                <a:gd name="T90" fmla="*/ 1106 w 2314"/>
                <a:gd name="T91" fmla="*/ 244 h 708"/>
                <a:gd name="T92" fmla="*/ 1107 w 2314"/>
                <a:gd name="T93" fmla="*/ 244 h 708"/>
                <a:gd name="T94" fmla="*/ 1107 w 2314"/>
                <a:gd name="T95" fmla="*/ 243 h 708"/>
                <a:gd name="T96" fmla="*/ 1112 w 2314"/>
                <a:gd name="T97" fmla="*/ 237 h 708"/>
                <a:gd name="T98" fmla="*/ 1112 w 2314"/>
                <a:gd name="T99" fmla="*/ 237 h 708"/>
                <a:gd name="T100" fmla="*/ 1157 w 2314"/>
                <a:gd name="T101" fmla="*/ 175 h 708"/>
                <a:gd name="T102" fmla="*/ 1326 w 2314"/>
                <a:gd name="T103" fmla="*/ 406 h 708"/>
                <a:gd name="T104" fmla="*/ 1337 w 2314"/>
                <a:gd name="T105" fmla="*/ 417 h 708"/>
                <a:gd name="T106" fmla="*/ 1350 w 2314"/>
                <a:gd name="T107" fmla="*/ 425 h 708"/>
                <a:gd name="T108" fmla="*/ 1364 w 2314"/>
                <a:gd name="T109" fmla="*/ 431 h 708"/>
                <a:gd name="T110" fmla="*/ 1380 w 2314"/>
                <a:gd name="T111" fmla="*/ 432 h 708"/>
                <a:gd name="T112" fmla="*/ 1384 w 2314"/>
                <a:gd name="T113" fmla="*/ 432 h 708"/>
                <a:gd name="T114" fmla="*/ 1400 w 2314"/>
                <a:gd name="T115" fmla="*/ 429 h 708"/>
                <a:gd name="T116" fmla="*/ 1415 w 2314"/>
                <a:gd name="T117" fmla="*/ 423 h 708"/>
                <a:gd name="T118" fmla="*/ 1428 w 2314"/>
                <a:gd name="T119" fmla="*/ 412 h 708"/>
                <a:gd name="T120" fmla="*/ 1437 w 2314"/>
                <a:gd name="T121" fmla="*/ 399 h 708"/>
                <a:gd name="T122" fmla="*/ 1657 w 2314"/>
                <a:gd name="T123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314" h="708">
                  <a:moveTo>
                    <a:pt x="1657" y="0"/>
                  </a:moveTo>
                  <a:lnTo>
                    <a:pt x="2137" y="174"/>
                  </a:lnTo>
                  <a:lnTo>
                    <a:pt x="2168" y="188"/>
                  </a:lnTo>
                  <a:lnTo>
                    <a:pt x="2195" y="207"/>
                  </a:lnTo>
                  <a:lnTo>
                    <a:pt x="2217" y="230"/>
                  </a:lnTo>
                  <a:lnTo>
                    <a:pt x="2236" y="257"/>
                  </a:lnTo>
                  <a:lnTo>
                    <a:pt x="2249" y="287"/>
                  </a:lnTo>
                  <a:lnTo>
                    <a:pt x="2258" y="319"/>
                  </a:lnTo>
                  <a:lnTo>
                    <a:pt x="2314" y="652"/>
                  </a:lnTo>
                  <a:lnTo>
                    <a:pt x="2314" y="665"/>
                  </a:lnTo>
                  <a:lnTo>
                    <a:pt x="2312" y="676"/>
                  </a:lnTo>
                  <a:lnTo>
                    <a:pt x="2307" y="685"/>
                  </a:lnTo>
                  <a:lnTo>
                    <a:pt x="2303" y="691"/>
                  </a:lnTo>
                  <a:lnTo>
                    <a:pt x="2297" y="696"/>
                  </a:lnTo>
                  <a:lnTo>
                    <a:pt x="2290" y="702"/>
                  </a:lnTo>
                  <a:lnTo>
                    <a:pt x="2279" y="707"/>
                  </a:lnTo>
                  <a:lnTo>
                    <a:pt x="2266" y="708"/>
                  </a:lnTo>
                  <a:lnTo>
                    <a:pt x="48" y="708"/>
                  </a:lnTo>
                  <a:lnTo>
                    <a:pt x="35" y="707"/>
                  </a:lnTo>
                  <a:lnTo>
                    <a:pt x="25" y="702"/>
                  </a:lnTo>
                  <a:lnTo>
                    <a:pt x="17" y="696"/>
                  </a:lnTo>
                  <a:lnTo>
                    <a:pt x="12" y="691"/>
                  </a:lnTo>
                  <a:lnTo>
                    <a:pt x="7" y="685"/>
                  </a:lnTo>
                  <a:lnTo>
                    <a:pt x="2" y="676"/>
                  </a:lnTo>
                  <a:lnTo>
                    <a:pt x="0" y="665"/>
                  </a:lnTo>
                  <a:lnTo>
                    <a:pt x="1" y="652"/>
                  </a:lnTo>
                  <a:lnTo>
                    <a:pt x="56" y="319"/>
                  </a:lnTo>
                  <a:lnTo>
                    <a:pt x="64" y="287"/>
                  </a:lnTo>
                  <a:lnTo>
                    <a:pt x="78" y="257"/>
                  </a:lnTo>
                  <a:lnTo>
                    <a:pt x="97" y="230"/>
                  </a:lnTo>
                  <a:lnTo>
                    <a:pt x="119" y="207"/>
                  </a:lnTo>
                  <a:lnTo>
                    <a:pt x="147" y="188"/>
                  </a:lnTo>
                  <a:lnTo>
                    <a:pt x="177" y="174"/>
                  </a:lnTo>
                  <a:lnTo>
                    <a:pt x="657" y="0"/>
                  </a:lnTo>
                  <a:lnTo>
                    <a:pt x="877" y="399"/>
                  </a:lnTo>
                  <a:lnTo>
                    <a:pt x="886" y="412"/>
                  </a:lnTo>
                  <a:lnTo>
                    <a:pt x="899" y="423"/>
                  </a:lnTo>
                  <a:lnTo>
                    <a:pt x="914" y="429"/>
                  </a:lnTo>
                  <a:lnTo>
                    <a:pt x="930" y="432"/>
                  </a:lnTo>
                  <a:lnTo>
                    <a:pt x="935" y="432"/>
                  </a:lnTo>
                  <a:lnTo>
                    <a:pt x="949" y="431"/>
                  </a:lnTo>
                  <a:lnTo>
                    <a:pt x="964" y="425"/>
                  </a:lnTo>
                  <a:lnTo>
                    <a:pt x="977" y="417"/>
                  </a:lnTo>
                  <a:lnTo>
                    <a:pt x="988" y="406"/>
                  </a:lnTo>
                  <a:lnTo>
                    <a:pt x="1106" y="244"/>
                  </a:lnTo>
                  <a:lnTo>
                    <a:pt x="1106" y="244"/>
                  </a:lnTo>
                  <a:lnTo>
                    <a:pt x="1107" y="244"/>
                  </a:lnTo>
                  <a:lnTo>
                    <a:pt x="1107" y="243"/>
                  </a:lnTo>
                  <a:lnTo>
                    <a:pt x="1112" y="237"/>
                  </a:lnTo>
                  <a:lnTo>
                    <a:pt x="1112" y="237"/>
                  </a:lnTo>
                  <a:lnTo>
                    <a:pt x="1157" y="175"/>
                  </a:lnTo>
                  <a:lnTo>
                    <a:pt x="1326" y="406"/>
                  </a:lnTo>
                  <a:lnTo>
                    <a:pt x="1337" y="417"/>
                  </a:lnTo>
                  <a:lnTo>
                    <a:pt x="1350" y="425"/>
                  </a:lnTo>
                  <a:lnTo>
                    <a:pt x="1364" y="431"/>
                  </a:lnTo>
                  <a:lnTo>
                    <a:pt x="1380" y="432"/>
                  </a:lnTo>
                  <a:lnTo>
                    <a:pt x="1384" y="432"/>
                  </a:lnTo>
                  <a:lnTo>
                    <a:pt x="1400" y="429"/>
                  </a:lnTo>
                  <a:lnTo>
                    <a:pt x="1415" y="423"/>
                  </a:lnTo>
                  <a:lnTo>
                    <a:pt x="1428" y="412"/>
                  </a:lnTo>
                  <a:lnTo>
                    <a:pt x="1437" y="399"/>
                  </a:lnTo>
                  <a:lnTo>
                    <a:pt x="165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91" name="Freeform 131"/>
            <p:cNvSpPr/>
            <p:nvPr/>
          </p:nvSpPr>
          <p:spPr bwMode="auto">
            <a:xfrm>
              <a:off x="2654" y="3353"/>
              <a:ext cx="282" cy="312"/>
            </a:xfrm>
            <a:custGeom>
              <a:avLst/>
              <a:gdLst>
                <a:gd name="T0" fmla="*/ 61 w 282"/>
                <a:gd name="T1" fmla="*/ 0 h 312"/>
                <a:gd name="T2" fmla="*/ 282 w 282"/>
                <a:gd name="T3" fmla="*/ 148 h 312"/>
                <a:gd name="T4" fmla="*/ 223 w 282"/>
                <a:gd name="T5" fmla="*/ 226 h 312"/>
                <a:gd name="T6" fmla="*/ 223 w 282"/>
                <a:gd name="T7" fmla="*/ 226 h 312"/>
                <a:gd name="T8" fmla="*/ 219 w 282"/>
                <a:gd name="T9" fmla="*/ 234 h 312"/>
                <a:gd name="T10" fmla="*/ 219 w 282"/>
                <a:gd name="T11" fmla="*/ 234 h 312"/>
                <a:gd name="T12" fmla="*/ 160 w 282"/>
                <a:gd name="T13" fmla="*/ 312 h 312"/>
                <a:gd name="T14" fmla="*/ 0 w 282"/>
                <a:gd name="T15" fmla="*/ 22 h 312"/>
                <a:gd name="T16" fmla="*/ 61 w 282"/>
                <a:gd name="T17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2" h="312">
                  <a:moveTo>
                    <a:pt x="61" y="0"/>
                  </a:moveTo>
                  <a:lnTo>
                    <a:pt x="282" y="148"/>
                  </a:lnTo>
                  <a:lnTo>
                    <a:pt x="223" y="226"/>
                  </a:lnTo>
                  <a:lnTo>
                    <a:pt x="223" y="226"/>
                  </a:lnTo>
                  <a:lnTo>
                    <a:pt x="219" y="234"/>
                  </a:lnTo>
                  <a:lnTo>
                    <a:pt x="219" y="234"/>
                  </a:lnTo>
                  <a:lnTo>
                    <a:pt x="160" y="312"/>
                  </a:lnTo>
                  <a:lnTo>
                    <a:pt x="0" y="22"/>
                  </a:lnTo>
                  <a:lnTo>
                    <a:pt x="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92" name="Freeform 132"/>
            <p:cNvSpPr/>
            <p:nvPr/>
          </p:nvSpPr>
          <p:spPr bwMode="auto">
            <a:xfrm>
              <a:off x="2815" y="196"/>
              <a:ext cx="2989" cy="2341"/>
            </a:xfrm>
            <a:custGeom>
              <a:avLst/>
              <a:gdLst>
                <a:gd name="T0" fmla="*/ 0 w 2989"/>
                <a:gd name="T1" fmla="*/ 0 h 2341"/>
                <a:gd name="T2" fmla="*/ 2989 w 2989"/>
                <a:gd name="T3" fmla="*/ 0 h 2341"/>
                <a:gd name="T4" fmla="*/ 2989 w 2989"/>
                <a:gd name="T5" fmla="*/ 2341 h 2341"/>
                <a:gd name="T6" fmla="*/ 848 w 2989"/>
                <a:gd name="T7" fmla="*/ 2341 h 2341"/>
                <a:gd name="T8" fmla="*/ 852 w 2989"/>
                <a:gd name="T9" fmla="*/ 2334 h 2341"/>
                <a:gd name="T10" fmla="*/ 857 w 2989"/>
                <a:gd name="T11" fmla="*/ 2328 h 2341"/>
                <a:gd name="T12" fmla="*/ 870 w 2989"/>
                <a:gd name="T13" fmla="*/ 2300 h 2341"/>
                <a:gd name="T14" fmla="*/ 881 w 2989"/>
                <a:gd name="T15" fmla="*/ 2273 h 2341"/>
                <a:gd name="T16" fmla="*/ 887 w 2989"/>
                <a:gd name="T17" fmla="*/ 2243 h 2341"/>
                <a:gd name="T18" fmla="*/ 889 w 2989"/>
                <a:gd name="T19" fmla="*/ 2213 h 2341"/>
                <a:gd name="T20" fmla="*/ 889 w 2989"/>
                <a:gd name="T21" fmla="*/ 2206 h 2341"/>
                <a:gd name="T22" fmla="*/ 2784 w 2989"/>
                <a:gd name="T23" fmla="*/ 2206 h 2341"/>
                <a:gd name="T24" fmla="*/ 2806 w 2989"/>
                <a:gd name="T25" fmla="*/ 2203 h 2341"/>
                <a:gd name="T26" fmla="*/ 2824 w 2989"/>
                <a:gd name="T27" fmla="*/ 2193 h 2341"/>
                <a:gd name="T28" fmla="*/ 2838 w 2989"/>
                <a:gd name="T29" fmla="*/ 2179 h 2341"/>
                <a:gd name="T30" fmla="*/ 2846 w 2989"/>
                <a:gd name="T31" fmla="*/ 2161 h 2341"/>
                <a:gd name="T32" fmla="*/ 2850 w 2989"/>
                <a:gd name="T33" fmla="*/ 2141 h 2341"/>
                <a:gd name="T34" fmla="*/ 2850 w 2989"/>
                <a:gd name="T35" fmla="*/ 200 h 2341"/>
                <a:gd name="T36" fmla="*/ 2846 w 2989"/>
                <a:gd name="T37" fmla="*/ 178 h 2341"/>
                <a:gd name="T38" fmla="*/ 2838 w 2989"/>
                <a:gd name="T39" fmla="*/ 161 h 2341"/>
                <a:gd name="T40" fmla="*/ 2824 w 2989"/>
                <a:gd name="T41" fmla="*/ 146 h 2341"/>
                <a:gd name="T42" fmla="*/ 2806 w 2989"/>
                <a:gd name="T43" fmla="*/ 138 h 2341"/>
                <a:gd name="T44" fmla="*/ 2784 w 2989"/>
                <a:gd name="T45" fmla="*/ 134 h 2341"/>
                <a:gd name="T46" fmla="*/ 206 w 2989"/>
                <a:gd name="T47" fmla="*/ 134 h 2341"/>
                <a:gd name="T48" fmla="*/ 184 w 2989"/>
                <a:gd name="T49" fmla="*/ 138 h 2341"/>
                <a:gd name="T50" fmla="*/ 166 w 2989"/>
                <a:gd name="T51" fmla="*/ 146 h 2341"/>
                <a:gd name="T52" fmla="*/ 152 w 2989"/>
                <a:gd name="T53" fmla="*/ 161 h 2341"/>
                <a:gd name="T54" fmla="*/ 142 w 2989"/>
                <a:gd name="T55" fmla="*/ 178 h 2341"/>
                <a:gd name="T56" fmla="*/ 140 w 2989"/>
                <a:gd name="T57" fmla="*/ 200 h 2341"/>
                <a:gd name="T58" fmla="*/ 140 w 2989"/>
                <a:gd name="T59" fmla="*/ 1498 h 2341"/>
                <a:gd name="T60" fmla="*/ 0 w 2989"/>
                <a:gd name="T61" fmla="*/ 1498 h 2341"/>
                <a:gd name="T62" fmla="*/ 0 w 2989"/>
                <a:gd name="T63" fmla="*/ 0 h 2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89" h="2341">
                  <a:moveTo>
                    <a:pt x="0" y="0"/>
                  </a:moveTo>
                  <a:lnTo>
                    <a:pt x="2989" y="0"/>
                  </a:lnTo>
                  <a:lnTo>
                    <a:pt x="2989" y="2341"/>
                  </a:lnTo>
                  <a:lnTo>
                    <a:pt x="848" y="2341"/>
                  </a:lnTo>
                  <a:lnTo>
                    <a:pt x="852" y="2334"/>
                  </a:lnTo>
                  <a:lnTo>
                    <a:pt x="857" y="2328"/>
                  </a:lnTo>
                  <a:lnTo>
                    <a:pt x="870" y="2300"/>
                  </a:lnTo>
                  <a:lnTo>
                    <a:pt x="881" y="2273"/>
                  </a:lnTo>
                  <a:lnTo>
                    <a:pt x="887" y="2243"/>
                  </a:lnTo>
                  <a:lnTo>
                    <a:pt x="889" y="2213"/>
                  </a:lnTo>
                  <a:lnTo>
                    <a:pt x="889" y="2206"/>
                  </a:lnTo>
                  <a:lnTo>
                    <a:pt x="2784" y="2206"/>
                  </a:lnTo>
                  <a:lnTo>
                    <a:pt x="2806" y="2203"/>
                  </a:lnTo>
                  <a:lnTo>
                    <a:pt x="2824" y="2193"/>
                  </a:lnTo>
                  <a:lnTo>
                    <a:pt x="2838" y="2179"/>
                  </a:lnTo>
                  <a:lnTo>
                    <a:pt x="2846" y="2161"/>
                  </a:lnTo>
                  <a:lnTo>
                    <a:pt x="2850" y="2141"/>
                  </a:lnTo>
                  <a:lnTo>
                    <a:pt x="2850" y="200"/>
                  </a:lnTo>
                  <a:lnTo>
                    <a:pt x="2846" y="178"/>
                  </a:lnTo>
                  <a:lnTo>
                    <a:pt x="2838" y="161"/>
                  </a:lnTo>
                  <a:lnTo>
                    <a:pt x="2824" y="146"/>
                  </a:lnTo>
                  <a:lnTo>
                    <a:pt x="2806" y="138"/>
                  </a:lnTo>
                  <a:lnTo>
                    <a:pt x="2784" y="134"/>
                  </a:lnTo>
                  <a:lnTo>
                    <a:pt x="206" y="134"/>
                  </a:lnTo>
                  <a:lnTo>
                    <a:pt x="184" y="138"/>
                  </a:lnTo>
                  <a:lnTo>
                    <a:pt x="166" y="146"/>
                  </a:lnTo>
                  <a:lnTo>
                    <a:pt x="152" y="161"/>
                  </a:lnTo>
                  <a:lnTo>
                    <a:pt x="142" y="178"/>
                  </a:lnTo>
                  <a:lnTo>
                    <a:pt x="140" y="200"/>
                  </a:lnTo>
                  <a:lnTo>
                    <a:pt x="140" y="1498"/>
                  </a:lnTo>
                  <a:lnTo>
                    <a:pt x="0" y="149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93" name="Freeform 133"/>
            <p:cNvSpPr>
              <a:spLocks noEditPoints="1"/>
            </p:cNvSpPr>
            <p:nvPr/>
          </p:nvSpPr>
          <p:spPr bwMode="auto">
            <a:xfrm>
              <a:off x="3086" y="462"/>
              <a:ext cx="2448" cy="1809"/>
            </a:xfrm>
            <a:custGeom>
              <a:avLst/>
              <a:gdLst>
                <a:gd name="T0" fmla="*/ 1348 w 2448"/>
                <a:gd name="T1" fmla="*/ 793 h 1809"/>
                <a:gd name="T2" fmla="*/ 1348 w 2448"/>
                <a:gd name="T3" fmla="*/ 1623 h 1809"/>
                <a:gd name="T4" fmla="*/ 1644 w 2448"/>
                <a:gd name="T5" fmla="*/ 1623 h 1809"/>
                <a:gd name="T6" fmla="*/ 1644 w 2448"/>
                <a:gd name="T7" fmla="*/ 793 h 1809"/>
                <a:gd name="T8" fmla="*/ 1348 w 2448"/>
                <a:gd name="T9" fmla="*/ 793 h 1809"/>
                <a:gd name="T10" fmla="*/ 1893 w 2448"/>
                <a:gd name="T11" fmla="*/ 442 h 1809"/>
                <a:gd name="T12" fmla="*/ 1893 w 2448"/>
                <a:gd name="T13" fmla="*/ 1623 h 1809"/>
                <a:gd name="T14" fmla="*/ 2189 w 2448"/>
                <a:gd name="T15" fmla="*/ 1623 h 1809"/>
                <a:gd name="T16" fmla="*/ 2189 w 2448"/>
                <a:gd name="T17" fmla="*/ 442 h 1809"/>
                <a:gd name="T18" fmla="*/ 1893 w 2448"/>
                <a:gd name="T19" fmla="*/ 442 h 1809"/>
                <a:gd name="T20" fmla="*/ 803 w 2448"/>
                <a:gd name="T21" fmla="*/ 186 h 1809"/>
                <a:gd name="T22" fmla="*/ 803 w 2448"/>
                <a:gd name="T23" fmla="*/ 1623 h 1809"/>
                <a:gd name="T24" fmla="*/ 1099 w 2448"/>
                <a:gd name="T25" fmla="*/ 1623 h 1809"/>
                <a:gd name="T26" fmla="*/ 1099 w 2448"/>
                <a:gd name="T27" fmla="*/ 186 h 1809"/>
                <a:gd name="T28" fmla="*/ 803 w 2448"/>
                <a:gd name="T29" fmla="*/ 186 h 1809"/>
                <a:gd name="T30" fmla="*/ 0 w 2448"/>
                <a:gd name="T31" fmla="*/ 0 h 1809"/>
                <a:gd name="T32" fmla="*/ 2448 w 2448"/>
                <a:gd name="T33" fmla="*/ 0 h 1809"/>
                <a:gd name="T34" fmla="*/ 2448 w 2448"/>
                <a:gd name="T35" fmla="*/ 1809 h 1809"/>
                <a:gd name="T36" fmla="*/ 618 w 2448"/>
                <a:gd name="T37" fmla="*/ 1809 h 1809"/>
                <a:gd name="T38" fmla="*/ 618 w 2448"/>
                <a:gd name="T39" fmla="*/ 1641 h 1809"/>
                <a:gd name="T40" fmla="*/ 618 w 2448"/>
                <a:gd name="T41" fmla="*/ 1632 h 1809"/>
                <a:gd name="T42" fmla="*/ 617 w 2448"/>
                <a:gd name="T43" fmla="*/ 1628 h 1809"/>
                <a:gd name="T44" fmla="*/ 614 w 2448"/>
                <a:gd name="T45" fmla="*/ 1618 h 1809"/>
                <a:gd name="T46" fmla="*/ 611 w 2448"/>
                <a:gd name="T47" fmla="*/ 1603 h 1809"/>
                <a:gd name="T48" fmla="*/ 605 w 2448"/>
                <a:gd name="T49" fmla="*/ 1583 h 1809"/>
                <a:gd name="T50" fmla="*/ 597 w 2448"/>
                <a:gd name="T51" fmla="*/ 1562 h 1809"/>
                <a:gd name="T52" fmla="*/ 586 w 2448"/>
                <a:gd name="T53" fmla="*/ 1538 h 1809"/>
                <a:gd name="T54" fmla="*/ 572 w 2448"/>
                <a:gd name="T55" fmla="*/ 1514 h 1809"/>
                <a:gd name="T56" fmla="*/ 554 w 2448"/>
                <a:gd name="T57" fmla="*/ 1489 h 1809"/>
                <a:gd name="T58" fmla="*/ 554 w 2448"/>
                <a:gd name="T59" fmla="*/ 590 h 1809"/>
                <a:gd name="T60" fmla="*/ 258 w 2448"/>
                <a:gd name="T61" fmla="*/ 590 h 1809"/>
                <a:gd name="T62" fmla="*/ 258 w 2448"/>
                <a:gd name="T63" fmla="*/ 1232 h 1809"/>
                <a:gd name="T64" fmla="*/ 0 w 2448"/>
                <a:gd name="T65" fmla="*/ 1232 h 1809"/>
                <a:gd name="T66" fmla="*/ 0 w 2448"/>
                <a:gd name="T67" fmla="*/ 0 h 18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448" h="1809">
                  <a:moveTo>
                    <a:pt x="1348" y="793"/>
                  </a:moveTo>
                  <a:lnTo>
                    <a:pt x="1348" y="1623"/>
                  </a:lnTo>
                  <a:lnTo>
                    <a:pt x="1644" y="1623"/>
                  </a:lnTo>
                  <a:lnTo>
                    <a:pt x="1644" y="793"/>
                  </a:lnTo>
                  <a:lnTo>
                    <a:pt x="1348" y="793"/>
                  </a:lnTo>
                  <a:close/>
                  <a:moveTo>
                    <a:pt x="1893" y="442"/>
                  </a:moveTo>
                  <a:lnTo>
                    <a:pt x="1893" y="1623"/>
                  </a:lnTo>
                  <a:lnTo>
                    <a:pt x="2189" y="1623"/>
                  </a:lnTo>
                  <a:lnTo>
                    <a:pt x="2189" y="442"/>
                  </a:lnTo>
                  <a:lnTo>
                    <a:pt x="1893" y="442"/>
                  </a:lnTo>
                  <a:close/>
                  <a:moveTo>
                    <a:pt x="803" y="186"/>
                  </a:moveTo>
                  <a:lnTo>
                    <a:pt x="803" y="1623"/>
                  </a:lnTo>
                  <a:lnTo>
                    <a:pt x="1099" y="1623"/>
                  </a:lnTo>
                  <a:lnTo>
                    <a:pt x="1099" y="186"/>
                  </a:lnTo>
                  <a:lnTo>
                    <a:pt x="803" y="186"/>
                  </a:lnTo>
                  <a:close/>
                  <a:moveTo>
                    <a:pt x="0" y="0"/>
                  </a:moveTo>
                  <a:lnTo>
                    <a:pt x="2448" y="0"/>
                  </a:lnTo>
                  <a:lnTo>
                    <a:pt x="2448" y="1809"/>
                  </a:lnTo>
                  <a:lnTo>
                    <a:pt x="618" y="1809"/>
                  </a:lnTo>
                  <a:lnTo>
                    <a:pt x="618" y="1641"/>
                  </a:lnTo>
                  <a:lnTo>
                    <a:pt x="618" y="1632"/>
                  </a:lnTo>
                  <a:lnTo>
                    <a:pt x="617" y="1628"/>
                  </a:lnTo>
                  <a:lnTo>
                    <a:pt x="614" y="1618"/>
                  </a:lnTo>
                  <a:lnTo>
                    <a:pt x="611" y="1603"/>
                  </a:lnTo>
                  <a:lnTo>
                    <a:pt x="605" y="1583"/>
                  </a:lnTo>
                  <a:lnTo>
                    <a:pt x="597" y="1562"/>
                  </a:lnTo>
                  <a:lnTo>
                    <a:pt x="586" y="1538"/>
                  </a:lnTo>
                  <a:lnTo>
                    <a:pt x="572" y="1514"/>
                  </a:lnTo>
                  <a:lnTo>
                    <a:pt x="554" y="1489"/>
                  </a:lnTo>
                  <a:lnTo>
                    <a:pt x="554" y="590"/>
                  </a:lnTo>
                  <a:lnTo>
                    <a:pt x="258" y="590"/>
                  </a:lnTo>
                  <a:lnTo>
                    <a:pt x="258" y="1232"/>
                  </a:lnTo>
                  <a:lnTo>
                    <a:pt x="0" y="123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94" name="Group 611"/>
          <p:cNvGrpSpPr>
            <a:grpSpLocks noChangeAspect="1"/>
          </p:cNvGrpSpPr>
          <p:nvPr/>
        </p:nvGrpSpPr>
        <p:grpSpPr bwMode="auto">
          <a:xfrm>
            <a:off x="1700093" y="1763559"/>
            <a:ext cx="326046" cy="345415"/>
            <a:chOff x="1205" y="3905"/>
            <a:chExt cx="303" cy="321"/>
          </a:xfrm>
          <a:solidFill>
            <a:sysClr val="window" lastClr="FFFFFF"/>
          </a:solidFill>
        </p:grpSpPr>
        <p:sp>
          <p:nvSpPr>
            <p:cNvPr id="95" name="Freeform 613"/>
            <p:cNvSpPr>
              <a:spLocks noEditPoints="1"/>
            </p:cNvSpPr>
            <p:nvPr/>
          </p:nvSpPr>
          <p:spPr bwMode="auto">
            <a:xfrm>
              <a:off x="1234" y="3975"/>
              <a:ext cx="244" cy="251"/>
            </a:xfrm>
            <a:custGeom>
              <a:avLst/>
              <a:gdLst>
                <a:gd name="T0" fmla="*/ 428 w 2440"/>
                <a:gd name="T1" fmla="*/ 1526 h 2760"/>
                <a:gd name="T2" fmla="*/ 428 w 2440"/>
                <a:gd name="T3" fmla="*/ 2101 h 2760"/>
                <a:gd name="T4" fmla="*/ 992 w 2440"/>
                <a:gd name="T5" fmla="*/ 2101 h 2760"/>
                <a:gd name="T6" fmla="*/ 992 w 2440"/>
                <a:gd name="T7" fmla="*/ 1526 h 2760"/>
                <a:gd name="T8" fmla="*/ 428 w 2440"/>
                <a:gd name="T9" fmla="*/ 1526 h 2760"/>
                <a:gd name="T10" fmla="*/ 1221 w 2440"/>
                <a:gd name="T11" fmla="*/ 0 h 2760"/>
                <a:gd name="T12" fmla="*/ 2440 w 2440"/>
                <a:gd name="T13" fmla="*/ 1336 h 2760"/>
                <a:gd name="T14" fmla="*/ 2440 w 2440"/>
                <a:gd name="T15" fmla="*/ 2697 h 2760"/>
                <a:gd name="T16" fmla="*/ 2437 w 2440"/>
                <a:gd name="T17" fmla="*/ 2717 h 2760"/>
                <a:gd name="T18" fmla="*/ 2429 w 2440"/>
                <a:gd name="T19" fmla="*/ 2734 h 2760"/>
                <a:gd name="T20" fmla="*/ 2417 w 2440"/>
                <a:gd name="T21" fmla="*/ 2748 h 2760"/>
                <a:gd name="T22" fmla="*/ 2401 w 2440"/>
                <a:gd name="T23" fmla="*/ 2757 h 2760"/>
                <a:gd name="T24" fmla="*/ 2383 w 2440"/>
                <a:gd name="T25" fmla="*/ 2760 h 2760"/>
                <a:gd name="T26" fmla="*/ 2012 w 2440"/>
                <a:gd name="T27" fmla="*/ 2760 h 2760"/>
                <a:gd name="T28" fmla="*/ 2012 w 2440"/>
                <a:gd name="T29" fmla="*/ 1526 h 2760"/>
                <a:gd name="T30" fmla="*/ 1387 w 2440"/>
                <a:gd name="T31" fmla="*/ 1526 h 2760"/>
                <a:gd name="T32" fmla="*/ 1387 w 2440"/>
                <a:gd name="T33" fmla="*/ 2760 h 2760"/>
                <a:gd name="T34" fmla="*/ 56 w 2440"/>
                <a:gd name="T35" fmla="*/ 2760 h 2760"/>
                <a:gd name="T36" fmla="*/ 38 w 2440"/>
                <a:gd name="T37" fmla="*/ 2757 h 2760"/>
                <a:gd name="T38" fmla="*/ 23 w 2440"/>
                <a:gd name="T39" fmla="*/ 2748 h 2760"/>
                <a:gd name="T40" fmla="*/ 11 w 2440"/>
                <a:gd name="T41" fmla="*/ 2734 h 2760"/>
                <a:gd name="T42" fmla="*/ 3 w 2440"/>
                <a:gd name="T43" fmla="*/ 2717 h 2760"/>
                <a:gd name="T44" fmla="*/ 0 w 2440"/>
                <a:gd name="T45" fmla="*/ 2697 h 2760"/>
                <a:gd name="T46" fmla="*/ 0 w 2440"/>
                <a:gd name="T47" fmla="*/ 1336 h 2760"/>
                <a:gd name="T48" fmla="*/ 1221 w 2440"/>
                <a:gd name="T49" fmla="*/ 0 h 2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440" h="2760">
                  <a:moveTo>
                    <a:pt x="428" y="1526"/>
                  </a:moveTo>
                  <a:lnTo>
                    <a:pt x="428" y="2101"/>
                  </a:lnTo>
                  <a:lnTo>
                    <a:pt x="992" y="2101"/>
                  </a:lnTo>
                  <a:lnTo>
                    <a:pt x="992" y="1526"/>
                  </a:lnTo>
                  <a:lnTo>
                    <a:pt x="428" y="1526"/>
                  </a:lnTo>
                  <a:close/>
                  <a:moveTo>
                    <a:pt x="1221" y="0"/>
                  </a:moveTo>
                  <a:lnTo>
                    <a:pt x="2440" y="1336"/>
                  </a:lnTo>
                  <a:lnTo>
                    <a:pt x="2440" y="2697"/>
                  </a:lnTo>
                  <a:lnTo>
                    <a:pt x="2437" y="2717"/>
                  </a:lnTo>
                  <a:lnTo>
                    <a:pt x="2429" y="2734"/>
                  </a:lnTo>
                  <a:lnTo>
                    <a:pt x="2417" y="2748"/>
                  </a:lnTo>
                  <a:lnTo>
                    <a:pt x="2401" y="2757"/>
                  </a:lnTo>
                  <a:lnTo>
                    <a:pt x="2383" y="2760"/>
                  </a:lnTo>
                  <a:lnTo>
                    <a:pt x="2012" y="2760"/>
                  </a:lnTo>
                  <a:lnTo>
                    <a:pt x="2012" y="1526"/>
                  </a:lnTo>
                  <a:lnTo>
                    <a:pt x="1387" y="1526"/>
                  </a:lnTo>
                  <a:lnTo>
                    <a:pt x="1387" y="2760"/>
                  </a:lnTo>
                  <a:lnTo>
                    <a:pt x="56" y="2760"/>
                  </a:lnTo>
                  <a:lnTo>
                    <a:pt x="38" y="2757"/>
                  </a:lnTo>
                  <a:lnTo>
                    <a:pt x="23" y="2748"/>
                  </a:lnTo>
                  <a:lnTo>
                    <a:pt x="11" y="2734"/>
                  </a:lnTo>
                  <a:lnTo>
                    <a:pt x="3" y="2717"/>
                  </a:lnTo>
                  <a:lnTo>
                    <a:pt x="0" y="2697"/>
                  </a:lnTo>
                  <a:lnTo>
                    <a:pt x="0" y="1336"/>
                  </a:lnTo>
                  <a:lnTo>
                    <a:pt x="12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96" name="Freeform 614"/>
            <p:cNvSpPr/>
            <p:nvPr/>
          </p:nvSpPr>
          <p:spPr bwMode="auto">
            <a:xfrm>
              <a:off x="1205" y="3905"/>
              <a:ext cx="303" cy="174"/>
            </a:xfrm>
            <a:custGeom>
              <a:avLst/>
              <a:gdLst>
                <a:gd name="T0" fmla="*/ 1514 w 3027"/>
                <a:gd name="T1" fmla="*/ 0 h 1915"/>
                <a:gd name="T2" fmla="*/ 2981 w 3027"/>
                <a:gd name="T3" fmla="*/ 1613 h 1915"/>
                <a:gd name="T4" fmla="*/ 2999 w 3027"/>
                <a:gd name="T5" fmla="*/ 1637 h 1915"/>
                <a:gd name="T6" fmla="*/ 3013 w 3027"/>
                <a:gd name="T7" fmla="*/ 1665 h 1915"/>
                <a:gd name="T8" fmla="*/ 3023 w 3027"/>
                <a:gd name="T9" fmla="*/ 1693 h 1915"/>
                <a:gd name="T10" fmla="*/ 3027 w 3027"/>
                <a:gd name="T11" fmla="*/ 1723 h 1915"/>
                <a:gd name="T12" fmla="*/ 3027 w 3027"/>
                <a:gd name="T13" fmla="*/ 1754 h 1915"/>
                <a:gd name="T14" fmla="*/ 3023 w 3027"/>
                <a:gd name="T15" fmla="*/ 1783 h 1915"/>
                <a:gd name="T16" fmla="*/ 3013 w 3027"/>
                <a:gd name="T17" fmla="*/ 1812 h 1915"/>
                <a:gd name="T18" fmla="*/ 2999 w 3027"/>
                <a:gd name="T19" fmla="*/ 1838 h 1915"/>
                <a:gd name="T20" fmla="*/ 2981 w 3027"/>
                <a:gd name="T21" fmla="*/ 1864 h 1915"/>
                <a:gd name="T22" fmla="*/ 2958 w 3027"/>
                <a:gd name="T23" fmla="*/ 1884 h 1915"/>
                <a:gd name="T24" fmla="*/ 2934 w 3027"/>
                <a:gd name="T25" fmla="*/ 1899 h 1915"/>
                <a:gd name="T26" fmla="*/ 2908 w 3027"/>
                <a:gd name="T27" fmla="*/ 1910 h 1915"/>
                <a:gd name="T28" fmla="*/ 2881 w 3027"/>
                <a:gd name="T29" fmla="*/ 1914 h 1915"/>
                <a:gd name="T30" fmla="*/ 2853 w 3027"/>
                <a:gd name="T31" fmla="*/ 1914 h 1915"/>
                <a:gd name="T32" fmla="*/ 2826 w 3027"/>
                <a:gd name="T33" fmla="*/ 1910 h 1915"/>
                <a:gd name="T34" fmla="*/ 2800 w 3027"/>
                <a:gd name="T35" fmla="*/ 1899 h 1915"/>
                <a:gd name="T36" fmla="*/ 2775 w 3027"/>
                <a:gd name="T37" fmla="*/ 1884 h 1915"/>
                <a:gd name="T38" fmla="*/ 2753 w 3027"/>
                <a:gd name="T39" fmla="*/ 1864 h 1915"/>
                <a:gd name="T40" fmla="*/ 1514 w 3027"/>
                <a:gd name="T41" fmla="*/ 502 h 1915"/>
                <a:gd name="T42" fmla="*/ 275 w 3027"/>
                <a:gd name="T43" fmla="*/ 1864 h 1915"/>
                <a:gd name="T44" fmla="*/ 255 w 3027"/>
                <a:gd name="T45" fmla="*/ 1882 h 1915"/>
                <a:gd name="T46" fmla="*/ 233 w 3027"/>
                <a:gd name="T47" fmla="*/ 1897 h 1915"/>
                <a:gd name="T48" fmla="*/ 210 w 3027"/>
                <a:gd name="T49" fmla="*/ 1907 h 1915"/>
                <a:gd name="T50" fmla="*/ 185 w 3027"/>
                <a:gd name="T51" fmla="*/ 1913 h 1915"/>
                <a:gd name="T52" fmla="*/ 161 w 3027"/>
                <a:gd name="T53" fmla="*/ 1915 h 1915"/>
                <a:gd name="T54" fmla="*/ 136 w 3027"/>
                <a:gd name="T55" fmla="*/ 1913 h 1915"/>
                <a:gd name="T56" fmla="*/ 112 w 3027"/>
                <a:gd name="T57" fmla="*/ 1907 h 1915"/>
                <a:gd name="T58" fmla="*/ 89 w 3027"/>
                <a:gd name="T59" fmla="*/ 1897 h 1915"/>
                <a:gd name="T60" fmla="*/ 67 w 3027"/>
                <a:gd name="T61" fmla="*/ 1882 h 1915"/>
                <a:gd name="T62" fmla="*/ 47 w 3027"/>
                <a:gd name="T63" fmla="*/ 1864 h 1915"/>
                <a:gd name="T64" fmla="*/ 28 w 3027"/>
                <a:gd name="T65" fmla="*/ 1838 h 1915"/>
                <a:gd name="T66" fmla="*/ 14 w 3027"/>
                <a:gd name="T67" fmla="*/ 1812 h 1915"/>
                <a:gd name="T68" fmla="*/ 5 w 3027"/>
                <a:gd name="T69" fmla="*/ 1783 h 1915"/>
                <a:gd name="T70" fmla="*/ 0 w 3027"/>
                <a:gd name="T71" fmla="*/ 1754 h 1915"/>
                <a:gd name="T72" fmla="*/ 0 w 3027"/>
                <a:gd name="T73" fmla="*/ 1723 h 1915"/>
                <a:gd name="T74" fmla="*/ 5 w 3027"/>
                <a:gd name="T75" fmla="*/ 1693 h 1915"/>
                <a:gd name="T76" fmla="*/ 14 w 3027"/>
                <a:gd name="T77" fmla="*/ 1665 h 1915"/>
                <a:gd name="T78" fmla="*/ 28 w 3027"/>
                <a:gd name="T79" fmla="*/ 1637 h 1915"/>
                <a:gd name="T80" fmla="*/ 47 w 3027"/>
                <a:gd name="T81" fmla="*/ 1613 h 1915"/>
                <a:gd name="T82" fmla="*/ 564 w 3027"/>
                <a:gd name="T83" fmla="*/ 1044 h 1915"/>
                <a:gd name="T84" fmla="*/ 564 w 3027"/>
                <a:gd name="T85" fmla="*/ 426 h 1915"/>
                <a:gd name="T86" fmla="*/ 566 w 3027"/>
                <a:gd name="T87" fmla="*/ 397 h 1915"/>
                <a:gd name="T88" fmla="*/ 574 w 3027"/>
                <a:gd name="T89" fmla="*/ 371 h 1915"/>
                <a:gd name="T90" fmla="*/ 586 w 3027"/>
                <a:gd name="T91" fmla="*/ 347 h 1915"/>
                <a:gd name="T92" fmla="*/ 601 w 3027"/>
                <a:gd name="T93" fmla="*/ 326 h 1915"/>
                <a:gd name="T94" fmla="*/ 621 w 3027"/>
                <a:gd name="T95" fmla="*/ 309 h 1915"/>
                <a:gd name="T96" fmla="*/ 642 w 3027"/>
                <a:gd name="T97" fmla="*/ 296 h 1915"/>
                <a:gd name="T98" fmla="*/ 667 w 3027"/>
                <a:gd name="T99" fmla="*/ 287 h 1915"/>
                <a:gd name="T100" fmla="*/ 693 w 3027"/>
                <a:gd name="T101" fmla="*/ 285 h 1915"/>
                <a:gd name="T102" fmla="*/ 719 w 3027"/>
                <a:gd name="T103" fmla="*/ 287 h 1915"/>
                <a:gd name="T104" fmla="*/ 743 w 3027"/>
                <a:gd name="T105" fmla="*/ 296 h 1915"/>
                <a:gd name="T106" fmla="*/ 766 w 3027"/>
                <a:gd name="T107" fmla="*/ 309 h 1915"/>
                <a:gd name="T108" fmla="*/ 785 w 3027"/>
                <a:gd name="T109" fmla="*/ 326 h 1915"/>
                <a:gd name="T110" fmla="*/ 800 w 3027"/>
                <a:gd name="T111" fmla="*/ 347 h 1915"/>
                <a:gd name="T112" fmla="*/ 812 w 3027"/>
                <a:gd name="T113" fmla="*/ 371 h 1915"/>
                <a:gd name="T114" fmla="*/ 820 w 3027"/>
                <a:gd name="T115" fmla="*/ 397 h 1915"/>
                <a:gd name="T116" fmla="*/ 822 w 3027"/>
                <a:gd name="T117" fmla="*/ 426 h 1915"/>
                <a:gd name="T118" fmla="*/ 822 w 3027"/>
                <a:gd name="T119" fmla="*/ 762 h 1915"/>
                <a:gd name="T120" fmla="*/ 1514 w 3027"/>
                <a:gd name="T121" fmla="*/ 0 h 1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027" h="1915">
                  <a:moveTo>
                    <a:pt x="1514" y="0"/>
                  </a:moveTo>
                  <a:lnTo>
                    <a:pt x="2981" y="1613"/>
                  </a:lnTo>
                  <a:lnTo>
                    <a:pt x="2999" y="1637"/>
                  </a:lnTo>
                  <a:lnTo>
                    <a:pt x="3013" y="1665"/>
                  </a:lnTo>
                  <a:lnTo>
                    <a:pt x="3023" y="1693"/>
                  </a:lnTo>
                  <a:lnTo>
                    <a:pt x="3027" y="1723"/>
                  </a:lnTo>
                  <a:lnTo>
                    <a:pt x="3027" y="1754"/>
                  </a:lnTo>
                  <a:lnTo>
                    <a:pt x="3023" y="1783"/>
                  </a:lnTo>
                  <a:lnTo>
                    <a:pt x="3013" y="1812"/>
                  </a:lnTo>
                  <a:lnTo>
                    <a:pt x="2999" y="1838"/>
                  </a:lnTo>
                  <a:lnTo>
                    <a:pt x="2981" y="1864"/>
                  </a:lnTo>
                  <a:lnTo>
                    <a:pt x="2958" y="1884"/>
                  </a:lnTo>
                  <a:lnTo>
                    <a:pt x="2934" y="1899"/>
                  </a:lnTo>
                  <a:lnTo>
                    <a:pt x="2908" y="1910"/>
                  </a:lnTo>
                  <a:lnTo>
                    <a:pt x="2881" y="1914"/>
                  </a:lnTo>
                  <a:lnTo>
                    <a:pt x="2853" y="1914"/>
                  </a:lnTo>
                  <a:lnTo>
                    <a:pt x="2826" y="1910"/>
                  </a:lnTo>
                  <a:lnTo>
                    <a:pt x="2800" y="1899"/>
                  </a:lnTo>
                  <a:lnTo>
                    <a:pt x="2775" y="1884"/>
                  </a:lnTo>
                  <a:lnTo>
                    <a:pt x="2753" y="1864"/>
                  </a:lnTo>
                  <a:lnTo>
                    <a:pt x="1514" y="502"/>
                  </a:lnTo>
                  <a:lnTo>
                    <a:pt x="275" y="1864"/>
                  </a:lnTo>
                  <a:lnTo>
                    <a:pt x="255" y="1882"/>
                  </a:lnTo>
                  <a:lnTo>
                    <a:pt x="233" y="1897"/>
                  </a:lnTo>
                  <a:lnTo>
                    <a:pt x="210" y="1907"/>
                  </a:lnTo>
                  <a:lnTo>
                    <a:pt x="185" y="1913"/>
                  </a:lnTo>
                  <a:lnTo>
                    <a:pt x="161" y="1915"/>
                  </a:lnTo>
                  <a:lnTo>
                    <a:pt x="136" y="1913"/>
                  </a:lnTo>
                  <a:lnTo>
                    <a:pt x="112" y="1907"/>
                  </a:lnTo>
                  <a:lnTo>
                    <a:pt x="89" y="1897"/>
                  </a:lnTo>
                  <a:lnTo>
                    <a:pt x="67" y="1882"/>
                  </a:lnTo>
                  <a:lnTo>
                    <a:pt x="47" y="1864"/>
                  </a:lnTo>
                  <a:lnTo>
                    <a:pt x="28" y="1838"/>
                  </a:lnTo>
                  <a:lnTo>
                    <a:pt x="14" y="1812"/>
                  </a:lnTo>
                  <a:lnTo>
                    <a:pt x="5" y="1783"/>
                  </a:lnTo>
                  <a:lnTo>
                    <a:pt x="0" y="1754"/>
                  </a:lnTo>
                  <a:lnTo>
                    <a:pt x="0" y="1723"/>
                  </a:lnTo>
                  <a:lnTo>
                    <a:pt x="5" y="1693"/>
                  </a:lnTo>
                  <a:lnTo>
                    <a:pt x="14" y="1665"/>
                  </a:lnTo>
                  <a:lnTo>
                    <a:pt x="28" y="1637"/>
                  </a:lnTo>
                  <a:lnTo>
                    <a:pt x="47" y="1613"/>
                  </a:lnTo>
                  <a:lnTo>
                    <a:pt x="564" y="1044"/>
                  </a:lnTo>
                  <a:lnTo>
                    <a:pt x="564" y="426"/>
                  </a:lnTo>
                  <a:lnTo>
                    <a:pt x="566" y="397"/>
                  </a:lnTo>
                  <a:lnTo>
                    <a:pt x="574" y="371"/>
                  </a:lnTo>
                  <a:lnTo>
                    <a:pt x="586" y="347"/>
                  </a:lnTo>
                  <a:lnTo>
                    <a:pt x="601" y="326"/>
                  </a:lnTo>
                  <a:lnTo>
                    <a:pt x="621" y="309"/>
                  </a:lnTo>
                  <a:lnTo>
                    <a:pt x="642" y="296"/>
                  </a:lnTo>
                  <a:lnTo>
                    <a:pt x="667" y="287"/>
                  </a:lnTo>
                  <a:lnTo>
                    <a:pt x="693" y="285"/>
                  </a:lnTo>
                  <a:lnTo>
                    <a:pt x="719" y="287"/>
                  </a:lnTo>
                  <a:lnTo>
                    <a:pt x="743" y="296"/>
                  </a:lnTo>
                  <a:lnTo>
                    <a:pt x="766" y="309"/>
                  </a:lnTo>
                  <a:lnTo>
                    <a:pt x="785" y="326"/>
                  </a:lnTo>
                  <a:lnTo>
                    <a:pt x="800" y="347"/>
                  </a:lnTo>
                  <a:lnTo>
                    <a:pt x="812" y="371"/>
                  </a:lnTo>
                  <a:lnTo>
                    <a:pt x="820" y="397"/>
                  </a:lnTo>
                  <a:lnTo>
                    <a:pt x="822" y="426"/>
                  </a:lnTo>
                  <a:lnTo>
                    <a:pt x="822" y="762"/>
                  </a:lnTo>
                  <a:lnTo>
                    <a:pt x="15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287020"/>
            <a:ext cx="12483465" cy="603250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尾程派送是影响客户体验的关键环节</a:t>
            </a:r>
            <a:b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</a:b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Last-mile delivery is a key link affecting customer experience.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0" name="Rectangle 3"/>
          <p:cNvSpPr/>
          <p:nvPr/>
        </p:nvSpPr>
        <p:spPr>
          <a:xfrm>
            <a:off x="511411" y="1950657"/>
            <a:ext cx="2704920" cy="3835020"/>
          </a:xfrm>
          <a:prstGeom prst="rect">
            <a:avLst/>
          </a:prstGeom>
          <a:solidFill>
            <a:sysClr val="window" lastClr="FFFFFF"/>
          </a:solidFill>
          <a:ln w="38100" cap="flat" cmpd="sng" algn="ctr">
            <a:solidFill>
              <a:srgbClr val="00B9D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Rectangle 4"/>
          <p:cNvSpPr/>
          <p:nvPr/>
        </p:nvSpPr>
        <p:spPr>
          <a:xfrm>
            <a:off x="3335799" y="1950656"/>
            <a:ext cx="2704920" cy="3835020"/>
          </a:xfrm>
          <a:prstGeom prst="rect">
            <a:avLst/>
          </a:prstGeom>
          <a:solidFill>
            <a:sysClr val="window" lastClr="FFFFFF"/>
          </a:solidFill>
          <a:ln w="38100" cap="flat" cmpd="sng" algn="ctr">
            <a:solidFill>
              <a:srgbClr val="00B9D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​</a:t>
            </a: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ectangle 5"/>
          <p:cNvSpPr/>
          <p:nvPr/>
        </p:nvSpPr>
        <p:spPr>
          <a:xfrm>
            <a:off x="6172888" y="1950657"/>
            <a:ext cx="2704920" cy="3835020"/>
          </a:xfrm>
          <a:prstGeom prst="rect">
            <a:avLst/>
          </a:prstGeom>
          <a:solidFill>
            <a:sysClr val="window" lastClr="FFFFFF"/>
          </a:solidFill>
          <a:ln w="38100" cap="flat" cmpd="sng" algn="ctr">
            <a:solidFill>
              <a:srgbClr val="00B9D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angle 6"/>
          <p:cNvSpPr/>
          <p:nvPr/>
        </p:nvSpPr>
        <p:spPr>
          <a:xfrm>
            <a:off x="8997276" y="1950656"/>
            <a:ext cx="2704920" cy="3835020"/>
          </a:xfrm>
          <a:prstGeom prst="rect">
            <a:avLst/>
          </a:prstGeom>
          <a:solidFill>
            <a:sysClr val="window" lastClr="FFFFFF"/>
          </a:solidFill>
          <a:ln w="38100" cap="flat" cmpd="sng" algn="ctr">
            <a:solidFill>
              <a:srgbClr val="00B9D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Rectangle 24"/>
          <p:cNvSpPr/>
          <p:nvPr/>
        </p:nvSpPr>
        <p:spPr>
          <a:xfrm>
            <a:off x="602615" y="2455545"/>
            <a:ext cx="2508885" cy="2647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USPS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（美国邮政）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FedEx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（联邦快递）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​​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UPS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（联合包裹）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​​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DHL Express​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Local Logistics Service Provider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本地服务商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OnTrac, LaserShip​​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0" name="Rectangle: Rounded Corners 25"/>
          <p:cNvSpPr/>
          <p:nvPr/>
        </p:nvSpPr>
        <p:spPr>
          <a:xfrm>
            <a:off x="1103493" y="5097869"/>
            <a:ext cx="1520757" cy="437543"/>
          </a:xfrm>
          <a:prstGeom prst="roundRect">
            <a:avLst>
              <a:gd name="adj" fmla="val 20277"/>
            </a:avLst>
          </a:prstGeom>
          <a:solidFill>
            <a:srgbClr val="00B9D2"/>
          </a:solidFill>
          <a:ln>
            <a:noFill/>
          </a:ln>
          <a:effectLst>
            <a:outerShdw blurRad="254000" dist="127000" dir="5400000" algn="t" rotWithShape="0">
              <a:schemeClr val="accent1">
                <a:lumMod val="75000"/>
                <a:alpha val="20000"/>
              </a:schemeClr>
            </a:outerShdw>
          </a:effectLst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algn="ctr">
              <a:spcBef>
                <a:spcPts val="1000"/>
              </a:spcBef>
            </a:pPr>
            <a:r>
              <a:rPr lang="en-US" cap="all" dirty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link the world</a:t>
            </a:r>
            <a:endParaRPr lang="en-US" cap="all" dirty="0">
              <a:solidFill>
                <a:srgbClr val="FFFF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2" name="Rectangle 27"/>
          <p:cNvSpPr/>
          <p:nvPr/>
        </p:nvSpPr>
        <p:spPr>
          <a:xfrm>
            <a:off x="3373120" y="2715260"/>
            <a:ext cx="2538730" cy="1409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3" name="Rectangle: Rounded Corners 28"/>
          <p:cNvSpPr/>
          <p:nvPr/>
        </p:nvSpPr>
        <p:spPr>
          <a:xfrm>
            <a:off x="3900299" y="5097869"/>
            <a:ext cx="1520757" cy="437543"/>
          </a:xfrm>
          <a:prstGeom prst="roundRect">
            <a:avLst>
              <a:gd name="adj" fmla="val 20277"/>
            </a:avLst>
          </a:prstGeom>
          <a:solidFill>
            <a:srgbClr val="00B9D2"/>
          </a:solidFill>
          <a:ln>
            <a:noFill/>
          </a:ln>
          <a:effectLst>
            <a:outerShdw blurRad="254000" dist="127000" dir="5400000" algn="t" rotWithShape="0">
              <a:schemeClr val="accent1">
                <a:lumMod val="75000"/>
                <a:alpha val="20000"/>
              </a:schemeClr>
            </a:outerShdw>
          </a:effectLst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algn="ctr">
              <a:spcBef>
                <a:spcPts val="1000"/>
              </a:spcBef>
            </a:pPr>
            <a:r>
              <a:rPr lang="en-US" cap="all" dirty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link the world</a:t>
            </a:r>
            <a:endParaRPr lang="en-US" cap="all" dirty="0">
              <a:solidFill>
                <a:srgbClr val="FFFF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6" name="Rectangle: Rounded Corners 31"/>
          <p:cNvSpPr/>
          <p:nvPr/>
        </p:nvSpPr>
        <p:spPr>
          <a:xfrm>
            <a:off x="6743292" y="5103459"/>
            <a:ext cx="1520757" cy="437543"/>
          </a:xfrm>
          <a:prstGeom prst="roundRect">
            <a:avLst>
              <a:gd name="adj" fmla="val 20277"/>
            </a:avLst>
          </a:prstGeom>
          <a:solidFill>
            <a:srgbClr val="00B9D2"/>
          </a:solidFill>
          <a:ln>
            <a:noFill/>
          </a:ln>
          <a:effectLst>
            <a:outerShdw blurRad="254000" dist="127000" dir="5400000" algn="t" rotWithShape="0">
              <a:schemeClr val="accent1">
                <a:lumMod val="75000"/>
                <a:alpha val="20000"/>
              </a:schemeClr>
            </a:outerShdw>
          </a:effectLst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algn="ctr">
              <a:spcBef>
                <a:spcPts val="1000"/>
              </a:spcBef>
            </a:pPr>
            <a:r>
              <a:rPr lang="en-US" cap="all" dirty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link the world</a:t>
            </a:r>
            <a:endParaRPr lang="en-US" cap="all" dirty="0">
              <a:solidFill>
                <a:srgbClr val="FFFF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9" name="Rectangle: Rounded Corners 34"/>
          <p:cNvSpPr/>
          <p:nvPr/>
        </p:nvSpPr>
        <p:spPr>
          <a:xfrm>
            <a:off x="9565544" y="5102835"/>
            <a:ext cx="1520757" cy="437543"/>
          </a:xfrm>
          <a:prstGeom prst="roundRect">
            <a:avLst>
              <a:gd name="adj" fmla="val 20277"/>
            </a:avLst>
          </a:prstGeom>
          <a:solidFill>
            <a:srgbClr val="00B9D2"/>
          </a:solidFill>
          <a:ln>
            <a:noFill/>
          </a:ln>
          <a:effectLst>
            <a:outerShdw blurRad="254000" dist="127000" dir="5400000" algn="t" rotWithShape="0">
              <a:schemeClr val="accent1">
                <a:lumMod val="75000"/>
                <a:alpha val="20000"/>
              </a:schemeClr>
            </a:outerShdw>
          </a:effectLst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algn="ctr">
              <a:spcBef>
                <a:spcPts val="1000"/>
              </a:spcBef>
            </a:pPr>
            <a:r>
              <a:rPr lang="en-US" cap="all" dirty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link the world</a:t>
            </a:r>
            <a:endParaRPr lang="en-US" cap="all" dirty="0">
              <a:solidFill>
                <a:srgbClr val="FFFF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8" name="矩形: 圆角 497"/>
          <p:cNvSpPr>
            <a:spLocks noChangeAspect="1"/>
          </p:cNvSpPr>
          <p:nvPr/>
        </p:nvSpPr>
        <p:spPr>
          <a:xfrm>
            <a:off x="1119505" y="1181100"/>
            <a:ext cx="1274445" cy="1274445"/>
          </a:xfrm>
          <a:prstGeom prst="roundRect">
            <a:avLst>
              <a:gd name="adj" fmla="val 50000"/>
            </a:avLst>
          </a:prstGeom>
          <a:solidFill>
            <a:srgbClr val="00B9D2"/>
          </a:solidFill>
          <a:ln w="6055" cap="flat">
            <a:noFill/>
            <a:prstDash val="solid"/>
            <a:miter/>
          </a:ln>
        </p:spPr>
        <p:txBody>
          <a:bodyPr lIns="108000" tIns="108000" rIns="108000" bIns="108000" rtlCol="0" anchor="ctr"/>
          <a:lstStyle/>
          <a:p>
            <a:pPr algn="ctr"/>
            <a:endParaRPr lang="zh-CN" altLang="en-US" dirty="0"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00" name="矩形: 圆角 497"/>
          <p:cNvSpPr>
            <a:spLocks noChangeAspect="1"/>
          </p:cNvSpPr>
          <p:nvPr/>
        </p:nvSpPr>
        <p:spPr>
          <a:xfrm>
            <a:off x="4155440" y="1181100"/>
            <a:ext cx="1274445" cy="1274445"/>
          </a:xfrm>
          <a:prstGeom prst="roundRect">
            <a:avLst>
              <a:gd name="adj" fmla="val 50000"/>
            </a:avLst>
          </a:prstGeom>
          <a:solidFill>
            <a:srgbClr val="00B9D2"/>
          </a:solidFill>
          <a:ln w="6055" cap="flat">
            <a:noFill/>
            <a:prstDash val="solid"/>
            <a:miter/>
          </a:ln>
        </p:spPr>
        <p:txBody>
          <a:bodyPr lIns="108000" tIns="108000" rIns="108000" bIns="108000" rtlCol="0" anchor="ctr"/>
          <a:lstStyle/>
          <a:p>
            <a:pPr algn="ctr"/>
            <a:endParaRPr lang="zh-CN" altLang="en-US" dirty="0"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01" name="矩形: 圆角 497"/>
          <p:cNvSpPr>
            <a:spLocks noChangeAspect="1"/>
          </p:cNvSpPr>
          <p:nvPr/>
        </p:nvSpPr>
        <p:spPr>
          <a:xfrm>
            <a:off x="7073900" y="1366520"/>
            <a:ext cx="993140" cy="993140"/>
          </a:xfrm>
          <a:prstGeom prst="roundRect">
            <a:avLst>
              <a:gd name="adj" fmla="val 50000"/>
            </a:avLst>
          </a:prstGeom>
          <a:solidFill>
            <a:srgbClr val="00B9D2"/>
          </a:solidFill>
          <a:ln w="6055" cap="flat">
            <a:noFill/>
            <a:prstDash val="solid"/>
            <a:miter/>
          </a:ln>
        </p:spPr>
        <p:txBody>
          <a:bodyPr lIns="108000" tIns="108000" rIns="108000" bIns="108000" rtlCol="0" anchor="ctr"/>
          <a:lstStyle/>
          <a:p>
            <a:pPr algn="ctr"/>
            <a:endParaRPr lang="zh-CN" altLang="en-US" dirty="0"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02" name="矩形: 圆角 497"/>
          <p:cNvSpPr>
            <a:spLocks noChangeAspect="1"/>
          </p:cNvSpPr>
          <p:nvPr/>
        </p:nvSpPr>
        <p:spPr>
          <a:xfrm>
            <a:off x="9833610" y="1181100"/>
            <a:ext cx="1257935" cy="1257935"/>
          </a:xfrm>
          <a:prstGeom prst="roundRect">
            <a:avLst>
              <a:gd name="adj" fmla="val 50000"/>
            </a:avLst>
          </a:prstGeom>
          <a:solidFill>
            <a:srgbClr val="00B9D2"/>
          </a:solidFill>
          <a:ln w="6055" cap="flat">
            <a:noFill/>
            <a:prstDash val="solid"/>
            <a:miter/>
          </a:ln>
        </p:spPr>
        <p:txBody>
          <a:bodyPr lIns="108000" tIns="108000" rIns="108000" bIns="108000" rtlCol="0" anchor="ctr"/>
          <a:lstStyle/>
          <a:p>
            <a:pPr algn="ctr"/>
            <a:endParaRPr lang="zh-CN" altLang="en-US" dirty="0"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32560" y="1437640"/>
            <a:ext cx="7613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北美市场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USA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86885" y="1437640"/>
            <a:ext cx="11982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欧洲市场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英国</a:t>
            </a:r>
            <a:r>
              <a:rPr lang="zh-CN" altLang="en-US">
                <a:solidFill>
                  <a:schemeClr val="bg1"/>
                </a:solidFill>
              </a:rPr>
              <a:t>市场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EU UK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6" name="Rectangle 24"/>
          <p:cNvSpPr/>
          <p:nvPr/>
        </p:nvSpPr>
        <p:spPr>
          <a:xfrm>
            <a:off x="3500755" y="2360295"/>
            <a:ext cx="2508885" cy="29883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DPD / DHL PARCEL /GLS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Royal Mail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（英国皇家邮政）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​​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FedEx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（联邦快递）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​Hermes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（德国）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Deutsche Post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Evri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（英国）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​​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PostNL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（荷兰邮政）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La Poste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（法国邮政）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​​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orreos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SDA（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意大利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ostNord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​​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65645" y="1545590"/>
            <a:ext cx="1198245" cy="623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bg1"/>
                </a:solidFill>
              </a:rPr>
              <a:t>亚洲市场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   ASIA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8" name="Rectangle 24"/>
          <p:cNvSpPr/>
          <p:nvPr/>
        </p:nvSpPr>
        <p:spPr>
          <a:xfrm>
            <a:off x="6312535" y="2193290"/>
            <a:ext cx="2508885" cy="27971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Hongkong Post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香港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邮政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Japan Post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日本邮政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Sagawa Express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佐川急便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Yamato Transport (Black Cat Delivery) 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黑猫宅急便（雅玛多）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Korea Post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韩国邮政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CJ Korea Express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CJ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大韩通运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​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​Aramex​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SingPost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新加坡邮政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Kerrry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嘉里物流（泰国）等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​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869170" y="1386205"/>
            <a:ext cx="1198245" cy="782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bg1"/>
                </a:solidFill>
              </a:rPr>
              <a:t>其他市场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O</a:t>
            </a:r>
            <a:r>
              <a:rPr lang="en-US" altLang="zh-CN">
                <a:solidFill>
                  <a:schemeClr val="bg1"/>
                </a:solidFill>
              </a:rPr>
              <a:t>ther markets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10" name="Rectangle 24"/>
          <p:cNvSpPr/>
          <p:nvPr/>
        </p:nvSpPr>
        <p:spPr>
          <a:xfrm>
            <a:off x="9041130" y="2455545"/>
            <a:ext cx="2508885" cy="12738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​iMile​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​SMSA Express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​Correios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（巴西邮政）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​​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​Chilexpress 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Mexpost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64646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Naqel Express​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64646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/>
          <p:cNvSpPr/>
          <p:nvPr/>
        </p:nvSpPr>
        <p:spPr>
          <a:xfrm flipH="1">
            <a:off x="519849" y="2755164"/>
            <a:ext cx="5461849" cy="3374174"/>
          </a:xfrm>
          <a:prstGeom prst="roundRect">
            <a:avLst>
              <a:gd name="adj" fmla="val 5133"/>
            </a:avLst>
          </a:prstGeom>
          <a:gradFill>
            <a:gsLst>
              <a:gs pos="0">
                <a:srgbClr val="00B9D2">
                  <a:alpha val="40000"/>
                </a:srgbClr>
              </a:gs>
              <a:gs pos="100000">
                <a:srgbClr val="00B9D2">
                  <a:alpha val="0"/>
                </a:srgbClr>
              </a:gs>
            </a:gsLst>
            <a:lin ang="5400000" scaled="0"/>
          </a:gra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品牌理念 </a:t>
            </a:r>
            <a:r>
              <a:rPr lang="en-US" altLang="zh-CN" dirty="0"/>
              <a:t>Brand philosophy</a:t>
            </a:r>
            <a:endParaRPr lang="zh-CN" altLang="en-US" dirty="0"/>
          </a:p>
        </p:txBody>
      </p:sp>
      <p:sp>
        <p:nvSpPr>
          <p:cNvPr id="8" name="矩形: 圆角 7"/>
          <p:cNvSpPr/>
          <p:nvPr/>
        </p:nvSpPr>
        <p:spPr>
          <a:xfrm>
            <a:off x="808477" y="2362452"/>
            <a:ext cx="4884593" cy="84842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00B9D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: 圆角 16"/>
          <p:cNvSpPr/>
          <p:nvPr/>
        </p:nvSpPr>
        <p:spPr>
          <a:xfrm flipH="1">
            <a:off x="6210302" y="2752765"/>
            <a:ext cx="5461849" cy="3374174"/>
          </a:xfrm>
          <a:prstGeom prst="roundRect">
            <a:avLst>
              <a:gd name="adj" fmla="val 5133"/>
            </a:avLst>
          </a:prstGeom>
          <a:gradFill>
            <a:gsLst>
              <a:gs pos="0">
                <a:srgbClr val="00B9D2">
                  <a:alpha val="40000"/>
                </a:srgbClr>
              </a:gs>
              <a:gs pos="100000">
                <a:srgbClr val="00B9D2">
                  <a:alpha val="0"/>
                </a:srgbClr>
              </a:gs>
            </a:gsLst>
            <a:lin ang="5400000" scaled="0"/>
          </a:gra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sz="2000" dirty="0"/>
          </a:p>
        </p:txBody>
      </p:sp>
      <p:sp>
        <p:nvSpPr>
          <p:cNvPr id="18" name="矩形: 圆角 17"/>
          <p:cNvSpPr/>
          <p:nvPr/>
        </p:nvSpPr>
        <p:spPr>
          <a:xfrm>
            <a:off x="6498930" y="2360053"/>
            <a:ext cx="4884593" cy="84842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00B9D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38382" y="3395775"/>
            <a:ext cx="5080205" cy="704316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l"/>
            <a:r>
              <a:rPr lang="en-US" altLang="zh-CN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❌ High Shipping Costs &amp; Complex Logistics</a:t>
            </a:r>
            <a:endParaRPr lang="en-US" altLang="zh-CN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indent="0" algn="l"/>
            <a:r>
              <a:rPr lang="zh-CN" altLang="en-US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高额运费与复杂的物流流程</a:t>
            </a:r>
            <a:endParaRPr lang="zh-CN" altLang="en-US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38382" y="4270724"/>
            <a:ext cx="50802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/>
            <a:r>
              <a:rPr lang="en-US" altLang="zh-CN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❌ Time Wasted on Manual Order Processing</a:t>
            </a:r>
            <a:endParaRPr lang="en-US" altLang="zh-CN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indent="0" algn="l" fontAlgn="base">
              <a:spcBef>
                <a:spcPct val="0"/>
              </a:spcBef>
              <a:spcAft>
                <a:spcPct val="0"/>
              </a:spcAft>
              <a:buFont typeface="Arial" panose="020B0604020202090204"/>
              <a:buNone/>
            </a:pPr>
            <a:r>
              <a:rPr lang="zh-CN" altLang="en-US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手动处理订单，浪费时间</a:t>
            </a:r>
            <a:endParaRPr lang="zh-CN" altLang="en-US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3" name="文本框 22" descr="7b0a2020202022776f7264617274223a2022220a7d0a"/>
          <p:cNvSpPr txBox="1"/>
          <p:nvPr/>
        </p:nvSpPr>
        <p:spPr>
          <a:xfrm>
            <a:off x="638383" y="5087688"/>
            <a:ext cx="5080204" cy="725139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l"/>
            <a:r>
              <a:rPr lang="en-US" altLang="zh-CN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❌ Difficulty Managing Inventory from China​</a:t>
            </a:r>
            <a:endParaRPr lang="en-US" altLang="zh-CN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indent="0" algn="l" fontAlgn="base">
              <a:spcBef>
                <a:spcPct val="0"/>
              </a:spcBef>
              <a:spcAft>
                <a:spcPct val="0"/>
              </a:spcAft>
              <a:buFont typeface="Arial" panose="020B0604020202090204"/>
              <a:buNone/>
            </a:pPr>
            <a:r>
              <a:rPr lang="zh-CN" altLang="en-US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难以有效管理来自国内库存</a:t>
            </a:r>
            <a:endParaRPr lang="zh-CN" altLang="en-US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687820" y="3429867"/>
            <a:ext cx="5080000" cy="7683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zh-CN"/>
            </a:defPPr>
            <a:lvl1pPr indent="0">
              <a:defRPr b="0" i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altLang="zh-CN" dirty="0"/>
              <a:t>Seamlessly connect your e-commerce store.​</a:t>
            </a:r>
            <a:endParaRPr lang="en-US" altLang="zh-CN" dirty="0"/>
          </a:p>
          <a:p>
            <a:r>
              <a:rPr lang="zh-CN" altLang="en-US" dirty="0"/>
              <a:t>无缝对接您的电商店铺</a:t>
            </a:r>
            <a:r>
              <a:rPr lang="en-US" altLang="zh-CN" dirty="0"/>
              <a:t>。</a:t>
            </a:r>
            <a:endParaRPr lang="en-US" altLang="zh-CN" dirty="0"/>
          </a:p>
        </p:txBody>
      </p:sp>
      <p:sp>
        <p:nvSpPr>
          <p:cNvPr id="25" name="文本框 24"/>
          <p:cNvSpPr txBox="1"/>
          <p:nvPr/>
        </p:nvSpPr>
        <p:spPr>
          <a:xfrm>
            <a:off x="6687820" y="4298126"/>
            <a:ext cx="5080000" cy="646331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zh-CN"/>
            </a:defPPr>
            <a:lvl1pPr indent="0">
              <a:defRPr b="0" i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altLang="zh-CN" dirty="0"/>
              <a:t> We store, pick, pack, and ship globally.​</a:t>
            </a:r>
            <a:endParaRPr lang="en-US" altLang="zh-CN" dirty="0"/>
          </a:p>
          <a:p>
            <a:r>
              <a:rPr lang="zh-CN" altLang="en-US" dirty="0"/>
              <a:t>我们负责仓储、拣货、打包和全球配送</a:t>
            </a: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6687820" y="5129356"/>
            <a:ext cx="5080000" cy="92333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zh-CN"/>
            </a:defPPr>
            <a:lvl1pPr indent="0">
              <a:defRPr b="0" i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altLang="zh-CN" dirty="0"/>
              <a:t>You and your customers track every step.</a:t>
            </a:r>
            <a:endParaRPr lang="en-US" altLang="zh-CN" dirty="0"/>
          </a:p>
          <a:p>
            <a:r>
              <a:rPr lang="zh-CN" altLang="en-US" dirty="0"/>
              <a:t>您和您的客户可追踪每一步。</a:t>
            </a:r>
            <a:endParaRPr lang="zh-CN" altLang="en-US" dirty="0"/>
          </a:p>
          <a:p>
            <a:endParaRPr lang="en-US" altLang="zh-CN" dirty="0"/>
          </a:p>
        </p:txBody>
      </p:sp>
      <p:sp>
        <p:nvSpPr>
          <p:cNvPr id="45" name="文本框 44"/>
          <p:cNvSpPr txBox="1"/>
          <p:nvPr/>
        </p:nvSpPr>
        <p:spPr>
          <a:xfrm>
            <a:off x="515937" y="1274328"/>
            <a:ext cx="111601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Stop  Worrying  About Fulfillment</a:t>
            </a:r>
            <a:r>
              <a:rPr lang="zh-CN" altLang="en-US" sz="2400" b="1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en-US" altLang="zh-CN" sz="2400" b="1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Start  Scaling  Your  Brand</a:t>
            </a:r>
            <a:r>
              <a:rPr lang="zh-CN" altLang="en-US" sz="2400" b="1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r>
              <a:rPr lang="en-US" altLang="zh-CN" sz="2400" b="1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​</a:t>
            </a:r>
            <a:endParaRPr lang="zh-CN" altLang="en-US" sz="2400" b="1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indent="0" algn="ctr"/>
            <a:r>
              <a:rPr lang="zh-CN" altLang="en-US" sz="2400" b="1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告别履约烦恼，专注品牌增长。</a:t>
            </a:r>
            <a:endParaRPr lang="zh-CN" altLang="en-US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192760" y="2341084"/>
            <a:ext cx="39662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rgbClr val="00B9D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The Hidden Cost of Selling Globally</a:t>
            </a:r>
            <a:endParaRPr lang="en-US" altLang="zh-CN" dirty="0">
              <a:solidFill>
                <a:srgbClr val="00B9D2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/>
            <a:r>
              <a:rPr lang="zh-CN" altLang="en-US" b="1" dirty="0">
                <a:solidFill>
                  <a:srgbClr val="00B9D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全球销售的隐藏成本</a:t>
            </a:r>
            <a:endParaRPr lang="zh-CN" altLang="en-US" b="1" dirty="0">
              <a:solidFill>
                <a:srgbClr val="00B9D2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Title 6"/>
          <p:cNvSpPr txBox="1"/>
          <p:nvPr>
            <p:custDataLst>
              <p:tags r:id="rId1"/>
            </p:custDataLst>
          </p:nvPr>
        </p:nvSpPr>
        <p:spPr>
          <a:xfrm>
            <a:off x="6449451" y="2428863"/>
            <a:ext cx="5001607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altLang="zh-CN" dirty="0">
                <a:solidFill>
                  <a:srgbClr val="00B9D2"/>
                </a:solidFill>
                <a:sym typeface="+mn-ea"/>
              </a:rPr>
              <a:t>All-in-One Fulfillment Partner</a:t>
            </a:r>
            <a:r>
              <a:rPr dirty="0">
                <a:solidFill>
                  <a:srgbClr val="00B9D2"/>
                </a:solidFill>
                <a:sym typeface="+mn-ea"/>
              </a:rPr>
              <a:t>Global-link </a:t>
            </a:r>
            <a:endParaRPr lang="en-US" altLang="zh-CN" dirty="0">
              <a:solidFill>
                <a:srgbClr val="00B9D2"/>
              </a:solidFill>
              <a:sym typeface="+mn-ea"/>
            </a:endParaRPr>
          </a:p>
          <a:p>
            <a:r>
              <a:rPr lang="zh-CN" altLang="en-US" b="1" dirty="0">
                <a:solidFill>
                  <a:srgbClr val="00B9D2"/>
                </a:solidFill>
                <a:sym typeface="+mn-ea"/>
              </a:rPr>
              <a:t>一站式履约伙伴</a:t>
            </a:r>
            <a:r>
              <a:rPr lang="en-US" altLang="zh-CN" b="1" dirty="0">
                <a:solidFill>
                  <a:srgbClr val="00B9D2"/>
                </a:solidFill>
                <a:sym typeface="+mn-ea"/>
              </a:rPr>
              <a:t>​-</a:t>
            </a:r>
            <a:r>
              <a:rPr lang="zh-CN" altLang="en-US" b="1" dirty="0">
                <a:solidFill>
                  <a:srgbClr val="00B9D2"/>
                </a:solidFill>
                <a:sym typeface="+mn-ea"/>
              </a:rPr>
              <a:t>环联通</a:t>
            </a:r>
            <a:endParaRPr lang="zh-CN" altLang="en-US" b="1" dirty="0">
              <a:solidFill>
                <a:srgbClr val="00B9D2"/>
              </a:solidFill>
              <a:sym typeface="+mn-ea"/>
            </a:endParaRPr>
          </a:p>
        </p:txBody>
      </p:sp>
      <p:sp>
        <p:nvSpPr>
          <p:cNvPr id="48" name="Freeform 29"/>
          <p:cNvSpPr/>
          <p:nvPr/>
        </p:nvSpPr>
        <p:spPr bwMode="auto">
          <a:xfrm>
            <a:off x="6285304" y="3564300"/>
            <a:ext cx="437146" cy="337324"/>
          </a:xfrm>
          <a:custGeom>
            <a:avLst/>
            <a:gdLst>
              <a:gd name="T0" fmla="*/ 198196 w 59"/>
              <a:gd name="T1" fmla="*/ 41487 h 45"/>
              <a:gd name="T2" fmla="*/ 102515 w 59"/>
              <a:gd name="T3" fmla="*/ 134832 h 45"/>
              <a:gd name="T4" fmla="*/ 85429 w 59"/>
              <a:gd name="T5" fmla="*/ 152118 h 45"/>
              <a:gd name="T6" fmla="*/ 78595 w 59"/>
              <a:gd name="T7" fmla="*/ 155575 h 45"/>
              <a:gd name="T8" fmla="*/ 68343 w 59"/>
              <a:gd name="T9" fmla="*/ 152118 h 45"/>
              <a:gd name="T10" fmla="*/ 51258 w 59"/>
              <a:gd name="T11" fmla="*/ 134832 h 45"/>
              <a:gd name="T12" fmla="*/ 3417 w 59"/>
              <a:gd name="T13" fmla="*/ 89888 h 45"/>
              <a:gd name="T14" fmla="*/ 0 w 59"/>
              <a:gd name="T15" fmla="*/ 79516 h 45"/>
              <a:gd name="T16" fmla="*/ 3417 w 59"/>
              <a:gd name="T17" fmla="*/ 69144 h 45"/>
              <a:gd name="T18" fmla="*/ 20503 w 59"/>
              <a:gd name="T19" fmla="*/ 51858 h 45"/>
              <a:gd name="T20" fmla="*/ 30755 w 59"/>
              <a:gd name="T21" fmla="*/ 48401 h 45"/>
              <a:gd name="T22" fmla="*/ 37589 w 59"/>
              <a:gd name="T23" fmla="*/ 51858 h 45"/>
              <a:gd name="T24" fmla="*/ 78595 w 59"/>
              <a:gd name="T25" fmla="*/ 89888 h 45"/>
              <a:gd name="T26" fmla="*/ 160607 w 59"/>
              <a:gd name="T27" fmla="*/ 3457 h 45"/>
              <a:gd name="T28" fmla="*/ 170858 w 59"/>
              <a:gd name="T29" fmla="*/ 0 h 45"/>
              <a:gd name="T30" fmla="*/ 181110 w 59"/>
              <a:gd name="T31" fmla="*/ 3457 h 45"/>
              <a:gd name="T32" fmla="*/ 198196 w 59"/>
              <a:gd name="T33" fmla="*/ 24201 h 45"/>
              <a:gd name="T34" fmla="*/ 201613 w 59"/>
              <a:gd name="T35" fmla="*/ 31115 h 45"/>
              <a:gd name="T36" fmla="*/ 198196 w 59"/>
              <a:gd name="T37" fmla="*/ 41487 h 4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59" h="45">
                <a:moveTo>
                  <a:pt x="58" y="12"/>
                </a:moveTo>
                <a:cubicBezTo>
                  <a:pt x="30" y="39"/>
                  <a:pt x="30" y="39"/>
                  <a:pt x="30" y="39"/>
                </a:cubicBezTo>
                <a:cubicBezTo>
                  <a:pt x="25" y="44"/>
                  <a:pt x="25" y="44"/>
                  <a:pt x="25" y="44"/>
                </a:cubicBezTo>
                <a:cubicBezTo>
                  <a:pt x="24" y="45"/>
                  <a:pt x="24" y="45"/>
                  <a:pt x="23" y="45"/>
                </a:cubicBezTo>
                <a:cubicBezTo>
                  <a:pt x="22" y="45"/>
                  <a:pt x="21" y="45"/>
                  <a:pt x="20" y="44"/>
                </a:cubicBezTo>
                <a:cubicBezTo>
                  <a:pt x="15" y="39"/>
                  <a:pt x="15" y="39"/>
                  <a:pt x="15" y="39"/>
                </a:cubicBezTo>
                <a:cubicBezTo>
                  <a:pt x="1" y="26"/>
                  <a:pt x="1" y="26"/>
                  <a:pt x="1" y="26"/>
                </a:cubicBezTo>
                <a:cubicBezTo>
                  <a:pt x="0" y="25"/>
                  <a:pt x="0" y="24"/>
                  <a:pt x="0" y="23"/>
                </a:cubicBezTo>
                <a:cubicBezTo>
                  <a:pt x="0" y="22"/>
                  <a:pt x="0" y="21"/>
                  <a:pt x="1" y="20"/>
                </a:cubicBezTo>
                <a:cubicBezTo>
                  <a:pt x="6" y="15"/>
                  <a:pt x="6" y="15"/>
                  <a:pt x="6" y="15"/>
                </a:cubicBezTo>
                <a:cubicBezTo>
                  <a:pt x="7" y="14"/>
                  <a:pt x="8" y="14"/>
                  <a:pt x="9" y="14"/>
                </a:cubicBezTo>
                <a:cubicBezTo>
                  <a:pt x="10" y="14"/>
                  <a:pt x="11" y="14"/>
                  <a:pt x="11" y="15"/>
                </a:cubicBezTo>
                <a:cubicBezTo>
                  <a:pt x="23" y="26"/>
                  <a:pt x="23" y="26"/>
                  <a:pt x="23" y="26"/>
                </a:cubicBezTo>
                <a:cubicBezTo>
                  <a:pt x="47" y="1"/>
                  <a:pt x="47" y="1"/>
                  <a:pt x="47" y="1"/>
                </a:cubicBezTo>
                <a:cubicBezTo>
                  <a:pt x="48" y="1"/>
                  <a:pt x="49" y="0"/>
                  <a:pt x="50" y="0"/>
                </a:cubicBezTo>
                <a:cubicBezTo>
                  <a:pt x="51" y="0"/>
                  <a:pt x="52" y="1"/>
                  <a:pt x="53" y="1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7"/>
                  <a:pt x="59" y="8"/>
                  <a:pt x="59" y="9"/>
                </a:cubicBezTo>
                <a:cubicBezTo>
                  <a:pt x="59" y="10"/>
                  <a:pt x="58" y="11"/>
                  <a:pt x="58" y="12"/>
                </a:cubicBezTo>
                <a:close/>
              </a:path>
            </a:pathLst>
          </a:custGeom>
          <a:solidFill>
            <a:srgbClr val="00B9D2"/>
          </a:solidFill>
          <a:ln>
            <a:noFill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9" name="Freeform 29"/>
          <p:cNvSpPr/>
          <p:nvPr/>
        </p:nvSpPr>
        <p:spPr bwMode="auto">
          <a:xfrm>
            <a:off x="6280357" y="4338805"/>
            <a:ext cx="437146" cy="337324"/>
          </a:xfrm>
          <a:custGeom>
            <a:avLst/>
            <a:gdLst>
              <a:gd name="T0" fmla="*/ 198196 w 59"/>
              <a:gd name="T1" fmla="*/ 41487 h 45"/>
              <a:gd name="T2" fmla="*/ 102515 w 59"/>
              <a:gd name="T3" fmla="*/ 134832 h 45"/>
              <a:gd name="T4" fmla="*/ 85429 w 59"/>
              <a:gd name="T5" fmla="*/ 152118 h 45"/>
              <a:gd name="T6" fmla="*/ 78595 w 59"/>
              <a:gd name="T7" fmla="*/ 155575 h 45"/>
              <a:gd name="T8" fmla="*/ 68343 w 59"/>
              <a:gd name="T9" fmla="*/ 152118 h 45"/>
              <a:gd name="T10" fmla="*/ 51258 w 59"/>
              <a:gd name="T11" fmla="*/ 134832 h 45"/>
              <a:gd name="T12" fmla="*/ 3417 w 59"/>
              <a:gd name="T13" fmla="*/ 89888 h 45"/>
              <a:gd name="T14" fmla="*/ 0 w 59"/>
              <a:gd name="T15" fmla="*/ 79516 h 45"/>
              <a:gd name="T16" fmla="*/ 3417 w 59"/>
              <a:gd name="T17" fmla="*/ 69144 h 45"/>
              <a:gd name="T18" fmla="*/ 20503 w 59"/>
              <a:gd name="T19" fmla="*/ 51858 h 45"/>
              <a:gd name="T20" fmla="*/ 30755 w 59"/>
              <a:gd name="T21" fmla="*/ 48401 h 45"/>
              <a:gd name="T22" fmla="*/ 37589 w 59"/>
              <a:gd name="T23" fmla="*/ 51858 h 45"/>
              <a:gd name="T24" fmla="*/ 78595 w 59"/>
              <a:gd name="T25" fmla="*/ 89888 h 45"/>
              <a:gd name="T26" fmla="*/ 160607 w 59"/>
              <a:gd name="T27" fmla="*/ 3457 h 45"/>
              <a:gd name="T28" fmla="*/ 170858 w 59"/>
              <a:gd name="T29" fmla="*/ 0 h 45"/>
              <a:gd name="T30" fmla="*/ 181110 w 59"/>
              <a:gd name="T31" fmla="*/ 3457 h 45"/>
              <a:gd name="T32" fmla="*/ 198196 w 59"/>
              <a:gd name="T33" fmla="*/ 24201 h 45"/>
              <a:gd name="T34" fmla="*/ 201613 w 59"/>
              <a:gd name="T35" fmla="*/ 31115 h 45"/>
              <a:gd name="T36" fmla="*/ 198196 w 59"/>
              <a:gd name="T37" fmla="*/ 41487 h 4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59" h="45">
                <a:moveTo>
                  <a:pt x="58" y="12"/>
                </a:moveTo>
                <a:cubicBezTo>
                  <a:pt x="30" y="39"/>
                  <a:pt x="30" y="39"/>
                  <a:pt x="30" y="39"/>
                </a:cubicBezTo>
                <a:cubicBezTo>
                  <a:pt x="25" y="44"/>
                  <a:pt x="25" y="44"/>
                  <a:pt x="25" y="44"/>
                </a:cubicBezTo>
                <a:cubicBezTo>
                  <a:pt x="24" y="45"/>
                  <a:pt x="24" y="45"/>
                  <a:pt x="23" y="45"/>
                </a:cubicBezTo>
                <a:cubicBezTo>
                  <a:pt x="22" y="45"/>
                  <a:pt x="21" y="45"/>
                  <a:pt x="20" y="44"/>
                </a:cubicBezTo>
                <a:cubicBezTo>
                  <a:pt x="15" y="39"/>
                  <a:pt x="15" y="39"/>
                  <a:pt x="15" y="39"/>
                </a:cubicBezTo>
                <a:cubicBezTo>
                  <a:pt x="1" y="26"/>
                  <a:pt x="1" y="26"/>
                  <a:pt x="1" y="26"/>
                </a:cubicBezTo>
                <a:cubicBezTo>
                  <a:pt x="0" y="25"/>
                  <a:pt x="0" y="24"/>
                  <a:pt x="0" y="23"/>
                </a:cubicBezTo>
                <a:cubicBezTo>
                  <a:pt x="0" y="22"/>
                  <a:pt x="0" y="21"/>
                  <a:pt x="1" y="20"/>
                </a:cubicBezTo>
                <a:cubicBezTo>
                  <a:pt x="6" y="15"/>
                  <a:pt x="6" y="15"/>
                  <a:pt x="6" y="15"/>
                </a:cubicBezTo>
                <a:cubicBezTo>
                  <a:pt x="7" y="14"/>
                  <a:pt x="8" y="14"/>
                  <a:pt x="9" y="14"/>
                </a:cubicBezTo>
                <a:cubicBezTo>
                  <a:pt x="10" y="14"/>
                  <a:pt x="11" y="14"/>
                  <a:pt x="11" y="15"/>
                </a:cubicBezTo>
                <a:cubicBezTo>
                  <a:pt x="23" y="26"/>
                  <a:pt x="23" y="26"/>
                  <a:pt x="23" y="26"/>
                </a:cubicBezTo>
                <a:cubicBezTo>
                  <a:pt x="47" y="1"/>
                  <a:pt x="47" y="1"/>
                  <a:pt x="47" y="1"/>
                </a:cubicBezTo>
                <a:cubicBezTo>
                  <a:pt x="48" y="1"/>
                  <a:pt x="49" y="0"/>
                  <a:pt x="50" y="0"/>
                </a:cubicBezTo>
                <a:cubicBezTo>
                  <a:pt x="51" y="0"/>
                  <a:pt x="52" y="1"/>
                  <a:pt x="53" y="1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7"/>
                  <a:pt x="59" y="8"/>
                  <a:pt x="59" y="9"/>
                </a:cubicBezTo>
                <a:cubicBezTo>
                  <a:pt x="59" y="10"/>
                  <a:pt x="58" y="11"/>
                  <a:pt x="58" y="12"/>
                </a:cubicBezTo>
                <a:close/>
              </a:path>
            </a:pathLst>
          </a:custGeom>
          <a:solidFill>
            <a:srgbClr val="00B9D2"/>
          </a:solidFill>
          <a:ln>
            <a:noFill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0" name="Freeform 29"/>
          <p:cNvSpPr/>
          <p:nvPr/>
        </p:nvSpPr>
        <p:spPr bwMode="auto">
          <a:xfrm>
            <a:off x="6280357" y="5150235"/>
            <a:ext cx="437146" cy="337324"/>
          </a:xfrm>
          <a:custGeom>
            <a:avLst/>
            <a:gdLst>
              <a:gd name="T0" fmla="*/ 198196 w 59"/>
              <a:gd name="T1" fmla="*/ 41487 h 45"/>
              <a:gd name="T2" fmla="*/ 102515 w 59"/>
              <a:gd name="T3" fmla="*/ 134832 h 45"/>
              <a:gd name="T4" fmla="*/ 85429 w 59"/>
              <a:gd name="T5" fmla="*/ 152118 h 45"/>
              <a:gd name="T6" fmla="*/ 78595 w 59"/>
              <a:gd name="T7" fmla="*/ 155575 h 45"/>
              <a:gd name="T8" fmla="*/ 68343 w 59"/>
              <a:gd name="T9" fmla="*/ 152118 h 45"/>
              <a:gd name="T10" fmla="*/ 51258 w 59"/>
              <a:gd name="T11" fmla="*/ 134832 h 45"/>
              <a:gd name="T12" fmla="*/ 3417 w 59"/>
              <a:gd name="T13" fmla="*/ 89888 h 45"/>
              <a:gd name="T14" fmla="*/ 0 w 59"/>
              <a:gd name="T15" fmla="*/ 79516 h 45"/>
              <a:gd name="T16" fmla="*/ 3417 w 59"/>
              <a:gd name="T17" fmla="*/ 69144 h 45"/>
              <a:gd name="T18" fmla="*/ 20503 w 59"/>
              <a:gd name="T19" fmla="*/ 51858 h 45"/>
              <a:gd name="T20" fmla="*/ 30755 w 59"/>
              <a:gd name="T21" fmla="*/ 48401 h 45"/>
              <a:gd name="T22" fmla="*/ 37589 w 59"/>
              <a:gd name="T23" fmla="*/ 51858 h 45"/>
              <a:gd name="T24" fmla="*/ 78595 w 59"/>
              <a:gd name="T25" fmla="*/ 89888 h 45"/>
              <a:gd name="T26" fmla="*/ 160607 w 59"/>
              <a:gd name="T27" fmla="*/ 3457 h 45"/>
              <a:gd name="T28" fmla="*/ 170858 w 59"/>
              <a:gd name="T29" fmla="*/ 0 h 45"/>
              <a:gd name="T30" fmla="*/ 181110 w 59"/>
              <a:gd name="T31" fmla="*/ 3457 h 45"/>
              <a:gd name="T32" fmla="*/ 198196 w 59"/>
              <a:gd name="T33" fmla="*/ 24201 h 45"/>
              <a:gd name="T34" fmla="*/ 201613 w 59"/>
              <a:gd name="T35" fmla="*/ 31115 h 45"/>
              <a:gd name="T36" fmla="*/ 198196 w 59"/>
              <a:gd name="T37" fmla="*/ 41487 h 4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59" h="45">
                <a:moveTo>
                  <a:pt x="58" y="12"/>
                </a:moveTo>
                <a:cubicBezTo>
                  <a:pt x="30" y="39"/>
                  <a:pt x="30" y="39"/>
                  <a:pt x="30" y="39"/>
                </a:cubicBezTo>
                <a:cubicBezTo>
                  <a:pt x="25" y="44"/>
                  <a:pt x="25" y="44"/>
                  <a:pt x="25" y="44"/>
                </a:cubicBezTo>
                <a:cubicBezTo>
                  <a:pt x="24" y="45"/>
                  <a:pt x="24" y="45"/>
                  <a:pt x="23" y="45"/>
                </a:cubicBezTo>
                <a:cubicBezTo>
                  <a:pt x="22" y="45"/>
                  <a:pt x="21" y="45"/>
                  <a:pt x="20" y="44"/>
                </a:cubicBezTo>
                <a:cubicBezTo>
                  <a:pt x="15" y="39"/>
                  <a:pt x="15" y="39"/>
                  <a:pt x="15" y="39"/>
                </a:cubicBezTo>
                <a:cubicBezTo>
                  <a:pt x="1" y="26"/>
                  <a:pt x="1" y="26"/>
                  <a:pt x="1" y="26"/>
                </a:cubicBezTo>
                <a:cubicBezTo>
                  <a:pt x="0" y="25"/>
                  <a:pt x="0" y="24"/>
                  <a:pt x="0" y="23"/>
                </a:cubicBezTo>
                <a:cubicBezTo>
                  <a:pt x="0" y="22"/>
                  <a:pt x="0" y="21"/>
                  <a:pt x="1" y="20"/>
                </a:cubicBezTo>
                <a:cubicBezTo>
                  <a:pt x="6" y="15"/>
                  <a:pt x="6" y="15"/>
                  <a:pt x="6" y="15"/>
                </a:cubicBezTo>
                <a:cubicBezTo>
                  <a:pt x="7" y="14"/>
                  <a:pt x="8" y="14"/>
                  <a:pt x="9" y="14"/>
                </a:cubicBezTo>
                <a:cubicBezTo>
                  <a:pt x="10" y="14"/>
                  <a:pt x="11" y="14"/>
                  <a:pt x="11" y="15"/>
                </a:cubicBezTo>
                <a:cubicBezTo>
                  <a:pt x="23" y="26"/>
                  <a:pt x="23" y="26"/>
                  <a:pt x="23" y="26"/>
                </a:cubicBezTo>
                <a:cubicBezTo>
                  <a:pt x="47" y="1"/>
                  <a:pt x="47" y="1"/>
                  <a:pt x="47" y="1"/>
                </a:cubicBezTo>
                <a:cubicBezTo>
                  <a:pt x="48" y="1"/>
                  <a:pt x="49" y="0"/>
                  <a:pt x="50" y="0"/>
                </a:cubicBezTo>
                <a:cubicBezTo>
                  <a:pt x="51" y="0"/>
                  <a:pt x="52" y="1"/>
                  <a:pt x="53" y="1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7"/>
                  <a:pt x="59" y="8"/>
                  <a:pt x="59" y="9"/>
                </a:cubicBezTo>
                <a:cubicBezTo>
                  <a:pt x="59" y="10"/>
                  <a:pt x="58" y="11"/>
                  <a:pt x="58" y="12"/>
                </a:cubicBezTo>
                <a:close/>
              </a:path>
            </a:pathLst>
          </a:custGeom>
          <a:solidFill>
            <a:srgbClr val="00B9D2"/>
          </a:solidFill>
          <a:ln>
            <a:noFill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75" b="21075"/>
          <a:stretch>
            <a:fillRect/>
          </a:stretch>
        </p:blipFill>
        <p:spPr>
          <a:xfrm>
            <a:off x="3882932" y="3588321"/>
            <a:ext cx="7807407" cy="2541017"/>
          </a:xfrm>
          <a:prstGeom prst="rect">
            <a:avLst/>
          </a:prstGeom>
        </p:spPr>
      </p:pic>
      <p:sp>
        <p:nvSpPr>
          <p:cNvPr id="32" name="矩形: 圆角 31"/>
          <p:cNvSpPr/>
          <p:nvPr/>
        </p:nvSpPr>
        <p:spPr>
          <a:xfrm>
            <a:off x="515939" y="3588321"/>
            <a:ext cx="11174400" cy="2541017"/>
          </a:xfrm>
          <a:prstGeom prst="roundRect">
            <a:avLst>
              <a:gd name="adj" fmla="val 4919"/>
            </a:avLst>
          </a:prstGeom>
          <a:gradFill>
            <a:gsLst>
              <a:gs pos="34000">
                <a:srgbClr val="015681"/>
              </a:gs>
              <a:gs pos="99000">
                <a:srgbClr val="00B9D2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四步核心流程 </a:t>
            </a:r>
            <a:r>
              <a:rPr lang="en-US" altLang="zh-CN" dirty="0"/>
              <a:t>/ 4-Step Core Workflow​</a:t>
            </a:r>
            <a:endParaRPr lang="zh-CN" altLang="en-US" dirty="0"/>
          </a:p>
        </p:txBody>
      </p:sp>
      <p:grpSp>
        <p:nvGrpSpPr>
          <p:cNvPr id="24" name="组合 23"/>
          <p:cNvGrpSpPr/>
          <p:nvPr/>
        </p:nvGrpSpPr>
        <p:grpSpPr>
          <a:xfrm>
            <a:off x="9086381" y="1269000"/>
            <a:ext cx="2603958" cy="2160000"/>
            <a:chOff x="562728" y="1268413"/>
            <a:chExt cx="2754675" cy="2160000"/>
          </a:xfrm>
        </p:grpSpPr>
        <p:sp>
          <p:nvSpPr>
            <p:cNvPr id="25" name="矩形: 圆角 24"/>
            <p:cNvSpPr/>
            <p:nvPr/>
          </p:nvSpPr>
          <p:spPr>
            <a:xfrm>
              <a:off x="562728" y="1268413"/>
              <a:ext cx="2754675" cy="2160000"/>
            </a:xfrm>
            <a:prstGeom prst="roundRect">
              <a:avLst>
                <a:gd name="adj" fmla="val 4512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 lang="zh-CN" altLang="en-US" b="1"/>
            </a:p>
          </p:txBody>
        </p:sp>
        <p:sp>
          <p:nvSpPr>
            <p:cNvPr id="26" name="矩形 25"/>
            <p:cNvSpPr/>
            <p:nvPr/>
          </p:nvSpPr>
          <p:spPr>
            <a:xfrm>
              <a:off x="693366" y="1564477"/>
              <a:ext cx="2335863" cy="5366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10000"/>
                </a:lnSpc>
              </a:pPr>
              <a:r>
                <a:rPr lang="en-US" altLang="zh-CN" b="1" dirty="0">
                  <a:solidFill>
                    <a:schemeClr val="tx1"/>
                  </a:solidFill>
                  <a:latin typeface="+mj-ea"/>
                  <a:ea typeface="+mj-ea"/>
                </a:rPr>
                <a:t>4.</a:t>
              </a:r>
              <a:r>
                <a:rPr lang="zh-CN" altLang="en-US" b="1" dirty="0">
                  <a:solidFill>
                    <a:schemeClr val="tx1"/>
                  </a:solidFill>
                  <a:latin typeface="+mj-ea"/>
                  <a:ea typeface="+mj-ea"/>
                </a:rPr>
                <a:t>数据闭环</a:t>
              </a:r>
              <a:endParaRPr lang="en-US" altLang="zh-CN" b="1" dirty="0">
                <a:solidFill>
                  <a:schemeClr val="tx1"/>
                </a:solidFill>
                <a:latin typeface="+mj-ea"/>
                <a:ea typeface="+mj-ea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b="1" dirty="0">
                  <a:solidFill>
                    <a:schemeClr val="tx1"/>
                  </a:solidFill>
                  <a:latin typeface="+mj-ea"/>
                  <a:ea typeface="+mj-ea"/>
                </a:rPr>
                <a:t>Data Loop​</a:t>
              </a:r>
              <a:endParaRPr lang="zh-CN" altLang="en-US" b="1" dirty="0">
                <a:solidFill>
                  <a:schemeClr val="tx1"/>
                </a:solidFill>
                <a:effectLst/>
                <a:latin typeface="+mj-ea"/>
                <a:ea typeface="+mj-ea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693367" y="2005221"/>
              <a:ext cx="2340000" cy="97157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20000"/>
                </a:lnSpc>
                <a:spcAft>
                  <a:spcPts val="600"/>
                </a:spcAft>
              </a:pPr>
              <a:r>
                <a:rPr kumimoji="1" lang="en-US" altLang="zh-CN" sz="12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Delivery confirmation with full data report. </a:t>
              </a:r>
              <a:endParaRPr kumimoji="1" lang="en-US" altLang="zh-CN" sz="12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pPr>
                <a:lnSpc>
                  <a:spcPct val="120000"/>
                </a:lnSpc>
                <a:spcAft>
                  <a:spcPts val="600"/>
                </a:spcAft>
              </a:pPr>
              <a:r>
                <a:rPr kumimoji="1" lang="zh-CN" altLang="en-US" sz="12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妥投确认，提供完整履约报告</a:t>
              </a:r>
              <a:endParaRPr kumimoji="1" lang="zh-CN" altLang="en-US" sz="12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241161" y="1248595"/>
            <a:ext cx="3105619" cy="2160000"/>
            <a:chOff x="562728" y="1268413"/>
            <a:chExt cx="3285372" cy="2160000"/>
          </a:xfrm>
        </p:grpSpPr>
        <p:sp>
          <p:nvSpPr>
            <p:cNvPr id="20" name="矩形: 圆角 19"/>
            <p:cNvSpPr/>
            <p:nvPr/>
          </p:nvSpPr>
          <p:spPr>
            <a:xfrm>
              <a:off x="562728" y="1268413"/>
              <a:ext cx="2754675" cy="2160000"/>
            </a:xfrm>
            <a:prstGeom prst="roundRect">
              <a:avLst>
                <a:gd name="adj" fmla="val 4512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 lang="zh-CN" altLang="en-US" b="1"/>
            </a:p>
          </p:txBody>
        </p:sp>
        <p:sp>
          <p:nvSpPr>
            <p:cNvPr id="21" name="矩形 20"/>
            <p:cNvSpPr/>
            <p:nvPr/>
          </p:nvSpPr>
          <p:spPr>
            <a:xfrm>
              <a:off x="765037" y="1577714"/>
              <a:ext cx="2305137" cy="5366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defTabSz="914400">
                <a:lnSpc>
                  <a:spcPct val="110000"/>
                </a:lnSpc>
              </a:pPr>
              <a:r>
                <a:rPr lang="en-US" altLang="zh-CN" b="1" dirty="0">
                  <a:solidFill>
                    <a:schemeClr val="tx1"/>
                  </a:solidFill>
                  <a:latin typeface="+mj-ea"/>
                  <a:ea typeface="+mj-ea"/>
                </a:rPr>
                <a:t>3. </a:t>
              </a:r>
              <a:r>
                <a:rPr lang="zh-CN" altLang="en-US" b="1" dirty="0">
                  <a:solidFill>
                    <a:schemeClr val="tx1"/>
                  </a:solidFill>
                  <a:latin typeface="+mj-ea"/>
                  <a:ea typeface="+mj-ea"/>
                </a:rPr>
                <a:t>全球运输与追踪</a:t>
              </a:r>
              <a:endParaRPr lang="en-US" altLang="zh-CN" b="1" dirty="0">
                <a:solidFill>
                  <a:schemeClr val="tx1"/>
                </a:solidFill>
                <a:latin typeface="+mj-ea"/>
                <a:ea typeface="+mj-ea"/>
              </a:endParaRPr>
            </a:p>
            <a:p>
              <a:pPr defTabSz="914400">
                <a:lnSpc>
                  <a:spcPct val="110000"/>
                </a:lnSpc>
              </a:pPr>
              <a:r>
                <a:rPr lang="en-US" altLang="zh-CN" b="1" dirty="0">
                  <a:solidFill>
                    <a:schemeClr val="tx1"/>
                  </a:solidFill>
                  <a:latin typeface="+mj-ea"/>
                  <a:ea typeface="+mj-ea"/>
                </a:rPr>
                <a:t>Global Transit &amp; Tracking​</a:t>
              </a:r>
              <a:endParaRPr lang="en-US" altLang="zh-CN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711420" y="2397218"/>
              <a:ext cx="2340000" cy="97157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20000"/>
                </a:lnSpc>
                <a:spcAft>
                  <a:spcPts val="600"/>
                </a:spcAft>
              </a:pPr>
              <a:r>
                <a:rPr kumimoji="1" lang="en-US" altLang="zh-CN" sz="12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Optimal shipping routes with full visibility.</a:t>
              </a:r>
              <a:r>
                <a:rPr kumimoji="1" lang="zh-CN" altLang="en-US" sz="12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最优物流路线，全程实时可视</a:t>
              </a:r>
              <a:endParaRPr kumimoji="1" lang="zh-CN" altLang="en-US" sz="12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箭头: 右 3"/>
            <p:cNvSpPr/>
            <p:nvPr/>
          </p:nvSpPr>
          <p:spPr>
            <a:xfrm>
              <a:off x="2897375" y="1268413"/>
              <a:ext cx="950725" cy="2160000"/>
            </a:xfrm>
            <a:custGeom>
              <a:avLst/>
              <a:gdLst>
                <a:gd name="connsiteX0" fmla="*/ 0 w 2006600"/>
                <a:gd name="connsiteY0" fmla="*/ 317500 h 1270000"/>
                <a:gd name="connsiteX1" fmla="*/ 1371600 w 2006600"/>
                <a:gd name="connsiteY1" fmla="*/ 317500 h 1270000"/>
                <a:gd name="connsiteX2" fmla="*/ 1371600 w 2006600"/>
                <a:gd name="connsiteY2" fmla="*/ 0 h 1270000"/>
                <a:gd name="connsiteX3" fmla="*/ 2006600 w 2006600"/>
                <a:gd name="connsiteY3" fmla="*/ 635000 h 1270000"/>
                <a:gd name="connsiteX4" fmla="*/ 1371600 w 2006600"/>
                <a:gd name="connsiteY4" fmla="*/ 1270000 h 1270000"/>
                <a:gd name="connsiteX5" fmla="*/ 1371600 w 2006600"/>
                <a:gd name="connsiteY5" fmla="*/ 952500 h 1270000"/>
                <a:gd name="connsiteX6" fmla="*/ 0 w 2006600"/>
                <a:gd name="connsiteY6" fmla="*/ 952500 h 1270000"/>
                <a:gd name="connsiteX7" fmla="*/ 0 w 2006600"/>
                <a:gd name="connsiteY7" fmla="*/ 317500 h 1270000"/>
                <a:gd name="connsiteX0-1" fmla="*/ 0 w 2006600"/>
                <a:gd name="connsiteY0-2" fmla="*/ 0 h 1689100"/>
                <a:gd name="connsiteX1-3" fmla="*/ 1371600 w 2006600"/>
                <a:gd name="connsiteY1-4" fmla="*/ 736600 h 1689100"/>
                <a:gd name="connsiteX2-5" fmla="*/ 1371600 w 2006600"/>
                <a:gd name="connsiteY2-6" fmla="*/ 419100 h 1689100"/>
                <a:gd name="connsiteX3-7" fmla="*/ 2006600 w 2006600"/>
                <a:gd name="connsiteY3-8" fmla="*/ 1054100 h 1689100"/>
                <a:gd name="connsiteX4-9" fmla="*/ 1371600 w 2006600"/>
                <a:gd name="connsiteY4-10" fmla="*/ 1689100 h 1689100"/>
                <a:gd name="connsiteX5-11" fmla="*/ 1371600 w 2006600"/>
                <a:gd name="connsiteY5-12" fmla="*/ 1371600 h 1689100"/>
                <a:gd name="connsiteX6-13" fmla="*/ 0 w 2006600"/>
                <a:gd name="connsiteY6-14" fmla="*/ 1371600 h 1689100"/>
                <a:gd name="connsiteX7-15" fmla="*/ 0 w 2006600"/>
                <a:gd name="connsiteY7-16" fmla="*/ 0 h 1689100"/>
                <a:gd name="connsiteX0-17" fmla="*/ 12700 w 2019300"/>
                <a:gd name="connsiteY0-18" fmla="*/ 0 h 2235200"/>
                <a:gd name="connsiteX1-19" fmla="*/ 1384300 w 2019300"/>
                <a:gd name="connsiteY1-20" fmla="*/ 736600 h 2235200"/>
                <a:gd name="connsiteX2-21" fmla="*/ 1384300 w 2019300"/>
                <a:gd name="connsiteY2-22" fmla="*/ 419100 h 2235200"/>
                <a:gd name="connsiteX3-23" fmla="*/ 2019300 w 2019300"/>
                <a:gd name="connsiteY3-24" fmla="*/ 1054100 h 2235200"/>
                <a:gd name="connsiteX4-25" fmla="*/ 1384300 w 2019300"/>
                <a:gd name="connsiteY4-26" fmla="*/ 1689100 h 2235200"/>
                <a:gd name="connsiteX5-27" fmla="*/ 1384300 w 2019300"/>
                <a:gd name="connsiteY5-28" fmla="*/ 1371600 h 2235200"/>
                <a:gd name="connsiteX6-29" fmla="*/ 0 w 2019300"/>
                <a:gd name="connsiteY6-30" fmla="*/ 2235200 h 2235200"/>
                <a:gd name="connsiteX7-31" fmla="*/ 12700 w 2019300"/>
                <a:gd name="connsiteY7-32" fmla="*/ 0 h 2235200"/>
                <a:gd name="connsiteX0-33" fmla="*/ 12700 w 2019300"/>
                <a:gd name="connsiteY0-34" fmla="*/ 0 h 2235200"/>
                <a:gd name="connsiteX1-35" fmla="*/ 1384300 w 2019300"/>
                <a:gd name="connsiteY1-36" fmla="*/ 736600 h 2235200"/>
                <a:gd name="connsiteX2-37" fmla="*/ 1384300 w 2019300"/>
                <a:gd name="connsiteY2-38" fmla="*/ 419100 h 2235200"/>
                <a:gd name="connsiteX3-39" fmla="*/ 2019300 w 2019300"/>
                <a:gd name="connsiteY3-40" fmla="*/ 1054100 h 2235200"/>
                <a:gd name="connsiteX4-41" fmla="*/ 1384300 w 2019300"/>
                <a:gd name="connsiteY4-42" fmla="*/ 1689100 h 2235200"/>
                <a:gd name="connsiteX5-43" fmla="*/ 1384300 w 2019300"/>
                <a:gd name="connsiteY5-44" fmla="*/ 1371600 h 2235200"/>
                <a:gd name="connsiteX6-45" fmla="*/ 0 w 2019300"/>
                <a:gd name="connsiteY6-46" fmla="*/ 2235200 h 2235200"/>
                <a:gd name="connsiteX7-47" fmla="*/ 12700 w 2019300"/>
                <a:gd name="connsiteY7-48" fmla="*/ 0 h 2235200"/>
                <a:gd name="connsiteX0-49" fmla="*/ 12700 w 2019300"/>
                <a:gd name="connsiteY0-50" fmla="*/ 0 h 2235200"/>
                <a:gd name="connsiteX1-51" fmla="*/ 1384300 w 2019300"/>
                <a:gd name="connsiteY1-52" fmla="*/ 736600 h 2235200"/>
                <a:gd name="connsiteX2-53" fmla="*/ 1384300 w 2019300"/>
                <a:gd name="connsiteY2-54" fmla="*/ 419100 h 2235200"/>
                <a:gd name="connsiteX3-55" fmla="*/ 2019300 w 2019300"/>
                <a:gd name="connsiteY3-56" fmla="*/ 1054100 h 2235200"/>
                <a:gd name="connsiteX4-57" fmla="*/ 1384300 w 2019300"/>
                <a:gd name="connsiteY4-58" fmla="*/ 1689100 h 2235200"/>
                <a:gd name="connsiteX5-59" fmla="*/ 1384300 w 2019300"/>
                <a:gd name="connsiteY5-60" fmla="*/ 1371600 h 2235200"/>
                <a:gd name="connsiteX6-61" fmla="*/ 0 w 2019300"/>
                <a:gd name="connsiteY6-62" fmla="*/ 2235200 h 2235200"/>
                <a:gd name="connsiteX7-63" fmla="*/ 12700 w 2019300"/>
                <a:gd name="connsiteY7-64" fmla="*/ 0 h 2235200"/>
                <a:gd name="connsiteX0-65" fmla="*/ 12700 w 2019300"/>
                <a:gd name="connsiteY0-66" fmla="*/ 0 h 2235200"/>
                <a:gd name="connsiteX1-67" fmla="*/ 1384300 w 2019300"/>
                <a:gd name="connsiteY1-68" fmla="*/ 736600 h 2235200"/>
                <a:gd name="connsiteX2-69" fmla="*/ 1384300 w 2019300"/>
                <a:gd name="connsiteY2-70" fmla="*/ 419100 h 2235200"/>
                <a:gd name="connsiteX3-71" fmla="*/ 2019300 w 2019300"/>
                <a:gd name="connsiteY3-72" fmla="*/ 1054100 h 2235200"/>
                <a:gd name="connsiteX4-73" fmla="*/ 1384300 w 2019300"/>
                <a:gd name="connsiteY4-74" fmla="*/ 1689100 h 2235200"/>
                <a:gd name="connsiteX5-75" fmla="*/ 1384300 w 2019300"/>
                <a:gd name="connsiteY5-76" fmla="*/ 1371600 h 2235200"/>
                <a:gd name="connsiteX6-77" fmla="*/ 0 w 2019300"/>
                <a:gd name="connsiteY6-78" fmla="*/ 2235200 h 2235200"/>
                <a:gd name="connsiteX7-79" fmla="*/ 12700 w 2019300"/>
                <a:gd name="connsiteY7-80" fmla="*/ 0 h 2235200"/>
                <a:gd name="connsiteX0-81" fmla="*/ 12700 w 2019300"/>
                <a:gd name="connsiteY0-82" fmla="*/ 0 h 2235200"/>
                <a:gd name="connsiteX1-83" fmla="*/ 1384300 w 2019300"/>
                <a:gd name="connsiteY1-84" fmla="*/ 736600 h 2235200"/>
                <a:gd name="connsiteX2-85" fmla="*/ 1384300 w 2019300"/>
                <a:gd name="connsiteY2-86" fmla="*/ 419100 h 2235200"/>
                <a:gd name="connsiteX3-87" fmla="*/ 2019300 w 2019300"/>
                <a:gd name="connsiteY3-88" fmla="*/ 1054100 h 2235200"/>
                <a:gd name="connsiteX4-89" fmla="*/ 1384300 w 2019300"/>
                <a:gd name="connsiteY4-90" fmla="*/ 1689100 h 2235200"/>
                <a:gd name="connsiteX5-91" fmla="*/ 1384300 w 2019300"/>
                <a:gd name="connsiteY5-92" fmla="*/ 1371600 h 2235200"/>
                <a:gd name="connsiteX6-93" fmla="*/ 0 w 2019300"/>
                <a:gd name="connsiteY6-94" fmla="*/ 2235200 h 2235200"/>
                <a:gd name="connsiteX7-95" fmla="*/ 12700 w 2019300"/>
                <a:gd name="connsiteY7-96" fmla="*/ 0 h 22352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2019300" h="2235200">
                  <a:moveTo>
                    <a:pt x="12700" y="0"/>
                  </a:moveTo>
                  <a:cubicBezTo>
                    <a:pt x="482600" y="728133"/>
                    <a:pt x="850900" y="770467"/>
                    <a:pt x="1384300" y="736600"/>
                  </a:cubicBezTo>
                  <a:lnTo>
                    <a:pt x="1384300" y="419100"/>
                  </a:lnTo>
                  <a:lnTo>
                    <a:pt x="2019300" y="1054100"/>
                  </a:lnTo>
                  <a:lnTo>
                    <a:pt x="1384300" y="1689100"/>
                  </a:lnTo>
                  <a:lnTo>
                    <a:pt x="1384300" y="1371600"/>
                  </a:lnTo>
                  <a:cubicBezTo>
                    <a:pt x="795867" y="1481667"/>
                    <a:pt x="664633" y="1388533"/>
                    <a:pt x="0" y="2235200"/>
                  </a:cubicBezTo>
                  <a:cubicBezTo>
                    <a:pt x="4233" y="1490133"/>
                    <a:pt x="8467" y="745067"/>
                    <a:pt x="12700" y="0"/>
                  </a:cubicBezTo>
                  <a:close/>
                </a:path>
              </a:pathLst>
            </a:custGeom>
            <a:gradFill>
              <a:gsLst>
                <a:gs pos="100000">
                  <a:srgbClr val="C00000"/>
                </a:gs>
                <a:gs pos="0">
                  <a:srgbClr val="C000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407947" y="1269000"/>
            <a:ext cx="3105619" cy="2160000"/>
            <a:chOff x="562728" y="1268413"/>
            <a:chExt cx="3285372" cy="2160000"/>
          </a:xfrm>
        </p:grpSpPr>
        <p:sp>
          <p:nvSpPr>
            <p:cNvPr id="7" name="矩形: 圆角 6"/>
            <p:cNvSpPr/>
            <p:nvPr/>
          </p:nvSpPr>
          <p:spPr>
            <a:xfrm>
              <a:off x="562728" y="1268413"/>
              <a:ext cx="2754675" cy="2160000"/>
            </a:xfrm>
            <a:prstGeom prst="roundRect">
              <a:avLst>
                <a:gd name="adj" fmla="val 4512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 lang="zh-CN" altLang="en-US" b="1"/>
            </a:p>
          </p:txBody>
        </p:sp>
        <p:sp>
          <p:nvSpPr>
            <p:cNvPr id="14" name="矩形 13"/>
            <p:cNvSpPr/>
            <p:nvPr/>
          </p:nvSpPr>
          <p:spPr>
            <a:xfrm>
              <a:off x="702207" y="1448139"/>
              <a:ext cx="2479480" cy="5366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defTabSz="914400">
                <a:lnSpc>
                  <a:spcPct val="110000"/>
                </a:lnSpc>
              </a:pPr>
              <a:r>
                <a:rPr lang="en-US" altLang="zh-CN" b="1" dirty="0">
                  <a:solidFill>
                    <a:schemeClr val="tx1"/>
                  </a:solidFill>
                  <a:latin typeface="+mj-ea"/>
                  <a:ea typeface="+mj-ea"/>
                </a:rPr>
                <a:t>2. </a:t>
              </a:r>
              <a:r>
                <a:rPr lang="zh-CN" altLang="en-US" b="1" dirty="0">
                  <a:solidFill>
                    <a:schemeClr val="tx1"/>
                  </a:solidFill>
                  <a:latin typeface="+mj-ea"/>
                  <a:ea typeface="+mj-ea"/>
                </a:rPr>
                <a:t>智能履约</a:t>
              </a:r>
              <a:endParaRPr lang="en-US" altLang="zh-CN" b="1" dirty="0">
                <a:solidFill>
                  <a:schemeClr val="tx1"/>
                </a:solidFill>
                <a:latin typeface="+mj-ea"/>
                <a:ea typeface="+mj-ea"/>
              </a:endParaRPr>
            </a:p>
            <a:p>
              <a:pPr defTabSz="914400">
                <a:lnSpc>
                  <a:spcPct val="110000"/>
                </a:lnSpc>
              </a:pPr>
              <a:r>
                <a:rPr lang="en-US" altLang="zh-CN" b="1" dirty="0">
                  <a:solidFill>
                    <a:schemeClr val="tx1"/>
                  </a:solidFill>
                  <a:latin typeface="+mj-ea"/>
                  <a:ea typeface="+mj-ea"/>
                </a:rPr>
                <a:t>Smart Fulfillment​</a:t>
              </a:r>
              <a:endParaRPr lang="en-US" altLang="zh-CN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693367" y="2005221"/>
              <a:ext cx="2340000" cy="97157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 lnSpcReduction="1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20000"/>
                </a:lnSpc>
                <a:spcAft>
                  <a:spcPts val="600"/>
                </a:spcAft>
              </a:pPr>
              <a:r>
                <a:rPr kumimoji="1" lang="en-US" altLang="zh-CN" sz="12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System automates: Picking, Packing, Shipping out.</a:t>
              </a:r>
              <a:endParaRPr kumimoji="1" lang="en-US" altLang="zh-CN" sz="12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pPr>
                <a:lnSpc>
                  <a:spcPct val="120000"/>
                </a:lnSpc>
                <a:spcAft>
                  <a:spcPts val="600"/>
                </a:spcAft>
              </a:pPr>
              <a:r>
                <a:rPr kumimoji="1" lang="zh-CN" altLang="en-US" sz="12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系统自动处理：拣货、打包、出库</a:t>
              </a:r>
              <a:endParaRPr kumimoji="1" lang="zh-CN" altLang="en-US" sz="12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箭头: 右 3"/>
            <p:cNvSpPr/>
            <p:nvPr/>
          </p:nvSpPr>
          <p:spPr>
            <a:xfrm>
              <a:off x="2897375" y="1268413"/>
              <a:ext cx="950725" cy="2160000"/>
            </a:xfrm>
            <a:custGeom>
              <a:avLst/>
              <a:gdLst>
                <a:gd name="connsiteX0" fmla="*/ 0 w 2006600"/>
                <a:gd name="connsiteY0" fmla="*/ 317500 h 1270000"/>
                <a:gd name="connsiteX1" fmla="*/ 1371600 w 2006600"/>
                <a:gd name="connsiteY1" fmla="*/ 317500 h 1270000"/>
                <a:gd name="connsiteX2" fmla="*/ 1371600 w 2006600"/>
                <a:gd name="connsiteY2" fmla="*/ 0 h 1270000"/>
                <a:gd name="connsiteX3" fmla="*/ 2006600 w 2006600"/>
                <a:gd name="connsiteY3" fmla="*/ 635000 h 1270000"/>
                <a:gd name="connsiteX4" fmla="*/ 1371600 w 2006600"/>
                <a:gd name="connsiteY4" fmla="*/ 1270000 h 1270000"/>
                <a:gd name="connsiteX5" fmla="*/ 1371600 w 2006600"/>
                <a:gd name="connsiteY5" fmla="*/ 952500 h 1270000"/>
                <a:gd name="connsiteX6" fmla="*/ 0 w 2006600"/>
                <a:gd name="connsiteY6" fmla="*/ 952500 h 1270000"/>
                <a:gd name="connsiteX7" fmla="*/ 0 w 2006600"/>
                <a:gd name="connsiteY7" fmla="*/ 317500 h 1270000"/>
                <a:gd name="connsiteX0-1" fmla="*/ 0 w 2006600"/>
                <a:gd name="connsiteY0-2" fmla="*/ 0 h 1689100"/>
                <a:gd name="connsiteX1-3" fmla="*/ 1371600 w 2006600"/>
                <a:gd name="connsiteY1-4" fmla="*/ 736600 h 1689100"/>
                <a:gd name="connsiteX2-5" fmla="*/ 1371600 w 2006600"/>
                <a:gd name="connsiteY2-6" fmla="*/ 419100 h 1689100"/>
                <a:gd name="connsiteX3-7" fmla="*/ 2006600 w 2006600"/>
                <a:gd name="connsiteY3-8" fmla="*/ 1054100 h 1689100"/>
                <a:gd name="connsiteX4-9" fmla="*/ 1371600 w 2006600"/>
                <a:gd name="connsiteY4-10" fmla="*/ 1689100 h 1689100"/>
                <a:gd name="connsiteX5-11" fmla="*/ 1371600 w 2006600"/>
                <a:gd name="connsiteY5-12" fmla="*/ 1371600 h 1689100"/>
                <a:gd name="connsiteX6-13" fmla="*/ 0 w 2006600"/>
                <a:gd name="connsiteY6-14" fmla="*/ 1371600 h 1689100"/>
                <a:gd name="connsiteX7-15" fmla="*/ 0 w 2006600"/>
                <a:gd name="connsiteY7-16" fmla="*/ 0 h 1689100"/>
                <a:gd name="connsiteX0-17" fmla="*/ 12700 w 2019300"/>
                <a:gd name="connsiteY0-18" fmla="*/ 0 h 2235200"/>
                <a:gd name="connsiteX1-19" fmla="*/ 1384300 w 2019300"/>
                <a:gd name="connsiteY1-20" fmla="*/ 736600 h 2235200"/>
                <a:gd name="connsiteX2-21" fmla="*/ 1384300 w 2019300"/>
                <a:gd name="connsiteY2-22" fmla="*/ 419100 h 2235200"/>
                <a:gd name="connsiteX3-23" fmla="*/ 2019300 w 2019300"/>
                <a:gd name="connsiteY3-24" fmla="*/ 1054100 h 2235200"/>
                <a:gd name="connsiteX4-25" fmla="*/ 1384300 w 2019300"/>
                <a:gd name="connsiteY4-26" fmla="*/ 1689100 h 2235200"/>
                <a:gd name="connsiteX5-27" fmla="*/ 1384300 w 2019300"/>
                <a:gd name="connsiteY5-28" fmla="*/ 1371600 h 2235200"/>
                <a:gd name="connsiteX6-29" fmla="*/ 0 w 2019300"/>
                <a:gd name="connsiteY6-30" fmla="*/ 2235200 h 2235200"/>
                <a:gd name="connsiteX7-31" fmla="*/ 12700 w 2019300"/>
                <a:gd name="connsiteY7-32" fmla="*/ 0 h 2235200"/>
                <a:gd name="connsiteX0-33" fmla="*/ 12700 w 2019300"/>
                <a:gd name="connsiteY0-34" fmla="*/ 0 h 2235200"/>
                <a:gd name="connsiteX1-35" fmla="*/ 1384300 w 2019300"/>
                <a:gd name="connsiteY1-36" fmla="*/ 736600 h 2235200"/>
                <a:gd name="connsiteX2-37" fmla="*/ 1384300 w 2019300"/>
                <a:gd name="connsiteY2-38" fmla="*/ 419100 h 2235200"/>
                <a:gd name="connsiteX3-39" fmla="*/ 2019300 w 2019300"/>
                <a:gd name="connsiteY3-40" fmla="*/ 1054100 h 2235200"/>
                <a:gd name="connsiteX4-41" fmla="*/ 1384300 w 2019300"/>
                <a:gd name="connsiteY4-42" fmla="*/ 1689100 h 2235200"/>
                <a:gd name="connsiteX5-43" fmla="*/ 1384300 w 2019300"/>
                <a:gd name="connsiteY5-44" fmla="*/ 1371600 h 2235200"/>
                <a:gd name="connsiteX6-45" fmla="*/ 0 w 2019300"/>
                <a:gd name="connsiteY6-46" fmla="*/ 2235200 h 2235200"/>
                <a:gd name="connsiteX7-47" fmla="*/ 12700 w 2019300"/>
                <a:gd name="connsiteY7-48" fmla="*/ 0 h 2235200"/>
                <a:gd name="connsiteX0-49" fmla="*/ 12700 w 2019300"/>
                <a:gd name="connsiteY0-50" fmla="*/ 0 h 2235200"/>
                <a:gd name="connsiteX1-51" fmla="*/ 1384300 w 2019300"/>
                <a:gd name="connsiteY1-52" fmla="*/ 736600 h 2235200"/>
                <a:gd name="connsiteX2-53" fmla="*/ 1384300 w 2019300"/>
                <a:gd name="connsiteY2-54" fmla="*/ 419100 h 2235200"/>
                <a:gd name="connsiteX3-55" fmla="*/ 2019300 w 2019300"/>
                <a:gd name="connsiteY3-56" fmla="*/ 1054100 h 2235200"/>
                <a:gd name="connsiteX4-57" fmla="*/ 1384300 w 2019300"/>
                <a:gd name="connsiteY4-58" fmla="*/ 1689100 h 2235200"/>
                <a:gd name="connsiteX5-59" fmla="*/ 1384300 w 2019300"/>
                <a:gd name="connsiteY5-60" fmla="*/ 1371600 h 2235200"/>
                <a:gd name="connsiteX6-61" fmla="*/ 0 w 2019300"/>
                <a:gd name="connsiteY6-62" fmla="*/ 2235200 h 2235200"/>
                <a:gd name="connsiteX7-63" fmla="*/ 12700 w 2019300"/>
                <a:gd name="connsiteY7-64" fmla="*/ 0 h 2235200"/>
                <a:gd name="connsiteX0-65" fmla="*/ 12700 w 2019300"/>
                <a:gd name="connsiteY0-66" fmla="*/ 0 h 2235200"/>
                <a:gd name="connsiteX1-67" fmla="*/ 1384300 w 2019300"/>
                <a:gd name="connsiteY1-68" fmla="*/ 736600 h 2235200"/>
                <a:gd name="connsiteX2-69" fmla="*/ 1384300 w 2019300"/>
                <a:gd name="connsiteY2-70" fmla="*/ 419100 h 2235200"/>
                <a:gd name="connsiteX3-71" fmla="*/ 2019300 w 2019300"/>
                <a:gd name="connsiteY3-72" fmla="*/ 1054100 h 2235200"/>
                <a:gd name="connsiteX4-73" fmla="*/ 1384300 w 2019300"/>
                <a:gd name="connsiteY4-74" fmla="*/ 1689100 h 2235200"/>
                <a:gd name="connsiteX5-75" fmla="*/ 1384300 w 2019300"/>
                <a:gd name="connsiteY5-76" fmla="*/ 1371600 h 2235200"/>
                <a:gd name="connsiteX6-77" fmla="*/ 0 w 2019300"/>
                <a:gd name="connsiteY6-78" fmla="*/ 2235200 h 2235200"/>
                <a:gd name="connsiteX7-79" fmla="*/ 12700 w 2019300"/>
                <a:gd name="connsiteY7-80" fmla="*/ 0 h 2235200"/>
                <a:gd name="connsiteX0-81" fmla="*/ 12700 w 2019300"/>
                <a:gd name="connsiteY0-82" fmla="*/ 0 h 2235200"/>
                <a:gd name="connsiteX1-83" fmla="*/ 1384300 w 2019300"/>
                <a:gd name="connsiteY1-84" fmla="*/ 736600 h 2235200"/>
                <a:gd name="connsiteX2-85" fmla="*/ 1384300 w 2019300"/>
                <a:gd name="connsiteY2-86" fmla="*/ 419100 h 2235200"/>
                <a:gd name="connsiteX3-87" fmla="*/ 2019300 w 2019300"/>
                <a:gd name="connsiteY3-88" fmla="*/ 1054100 h 2235200"/>
                <a:gd name="connsiteX4-89" fmla="*/ 1384300 w 2019300"/>
                <a:gd name="connsiteY4-90" fmla="*/ 1689100 h 2235200"/>
                <a:gd name="connsiteX5-91" fmla="*/ 1384300 w 2019300"/>
                <a:gd name="connsiteY5-92" fmla="*/ 1371600 h 2235200"/>
                <a:gd name="connsiteX6-93" fmla="*/ 0 w 2019300"/>
                <a:gd name="connsiteY6-94" fmla="*/ 2235200 h 2235200"/>
                <a:gd name="connsiteX7-95" fmla="*/ 12700 w 2019300"/>
                <a:gd name="connsiteY7-96" fmla="*/ 0 h 22352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2019300" h="2235200">
                  <a:moveTo>
                    <a:pt x="12700" y="0"/>
                  </a:moveTo>
                  <a:cubicBezTo>
                    <a:pt x="482600" y="728133"/>
                    <a:pt x="850900" y="770467"/>
                    <a:pt x="1384300" y="736600"/>
                  </a:cubicBezTo>
                  <a:lnTo>
                    <a:pt x="1384300" y="419100"/>
                  </a:lnTo>
                  <a:lnTo>
                    <a:pt x="2019300" y="1054100"/>
                  </a:lnTo>
                  <a:lnTo>
                    <a:pt x="1384300" y="1689100"/>
                  </a:lnTo>
                  <a:lnTo>
                    <a:pt x="1384300" y="1371600"/>
                  </a:lnTo>
                  <a:cubicBezTo>
                    <a:pt x="795867" y="1481667"/>
                    <a:pt x="664633" y="1388533"/>
                    <a:pt x="0" y="2235200"/>
                  </a:cubicBezTo>
                  <a:cubicBezTo>
                    <a:pt x="4233" y="1490133"/>
                    <a:pt x="8467" y="745067"/>
                    <a:pt x="12700" y="0"/>
                  </a:cubicBezTo>
                  <a:close/>
                </a:path>
              </a:pathLst>
            </a:custGeom>
            <a:gradFill>
              <a:gsLst>
                <a:gs pos="100000">
                  <a:srgbClr val="C00000"/>
                </a:gs>
                <a:gs pos="0">
                  <a:srgbClr val="C000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62728" y="1268413"/>
            <a:ext cx="3105619" cy="2160000"/>
            <a:chOff x="562728" y="1268413"/>
            <a:chExt cx="3285372" cy="2160000"/>
          </a:xfrm>
        </p:grpSpPr>
        <p:sp>
          <p:nvSpPr>
            <p:cNvPr id="94" name="矩形: 圆角 93"/>
            <p:cNvSpPr/>
            <p:nvPr/>
          </p:nvSpPr>
          <p:spPr>
            <a:xfrm>
              <a:off x="562728" y="1268413"/>
              <a:ext cx="2754675" cy="2160000"/>
            </a:xfrm>
            <a:prstGeom prst="roundRect">
              <a:avLst>
                <a:gd name="adj" fmla="val 4512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 lang="zh-CN" altLang="en-US" b="1"/>
            </a:p>
          </p:txBody>
        </p:sp>
        <p:sp>
          <p:nvSpPr>
            <p:cNvPr id="97" name="矩形 96"/>
            <p:cNvSpPr/>
            <p:nvPr/>
          </p:nvSpPr>
          <p:spPr>
            <a:xfrm>
              <a:off x="693367" y="1465620"/>
              <a:ext cx="2479203" cy="5366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defTabSz="914400">
                <a:lnSpc>
                  <a:spcPct val="110000"/>
                </a:lnSpc>
              </a:pPr>
              <a:r>
                <a:rPr lang="en-US" altLang="zh-CN" b="1" dirty="0">
                  <a:solidFill>
                    <a:schemeClr val="tx1"/>
                  </a:solidFill>
                  <a:latin typeface="+mj-ea"/>
                  <a:ea typeface="+mj-ea"/>
                </a:rPr>
                <a:t>1. </a:t>
              </a:r>
              <a:r>
                <a:rPr lang="zh-CN" altLang="en-US" b="1" dirty="0">
                  <a:solidFill>
                    <a:schemeClr val="tx1"/>
                  </a:solidFill>
                  <a:latin typeface="+mj-ea"/>
                  <a:ea typeface="+mj-ea"/>
                </a:rPr>
                <a:t>连接与同步 </a:t>
              </a:r>
              <a:r>
                <a:rPr lang="en-US" altLang="zh-CN" b="1" dirty="0">
                  <a:solidFill>
                    <a:schemeClr val="tx1"/>
                  </a:solidFill>
                  <a:latin typeface="+mj-ea"/>
                  <a:ea typeface="+mj-ea"/>
                </a:rPr>
                <a:t>Connect &amp; Sync​</a:t>
              </a:r>
              <a:endParaRPr lang="en-US" altLang="zh-CN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98" name="矩形 97"/>
            <p:cNvSpPr/>
            <p:nvPr/>
          </p:nvSpPr>
          <p:spPr>
            <a:xfrm>
              <a:off x="693367" y="2005221"/>
              <a:ext cx="2340000" cy="97157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20000"/>
                </a:lnSpc>
                <a:spcAft>
                  <a:spcPts val="600"/>
                </a:spcAft>
              </a:pPr>
              <a:r>
                <a:rPr kumimoji="1" lang="en-US" altLang="zh-CN" sz="12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Orders auto-sync from your store to our system.  </a:t>
              </a:r>
              <a:endParaRPr kumimoji="1" lang="en-US" altLang="zh-CN" sz="12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pPr>
                <a:lnSpc>
                  <a:spcPct val="120000"/>
                </a:lnSpc>
                <a:spcAft>
                  <a:spcPts val="600"/>
                </a:spcAft>
              </a:pPr>
              <a:r>
                <a:rPr kumimoji="1" lang="zh-CN" altLang="en-US" sz="12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独立站订单自动同步至系统</a:t>
              </a:r>
              <a:endParaRPr kumimoji="1" lang="zh-CN" altLang="en-US" sz="12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4" name="箭头: 右 3"/>
            <p:cNvSpPr/>
            <p:nvPr/>
          </p:nvSpPr>
          <p:spPr>
            <a:xfrm>
              <a:off x="2897375" y="1268413"/>
              <a:ext cx="950725" cy="2160000"/>
            </a:xfrm>
            <a:custGeom>
              <a:avLst/>
              <a:gdLst>
                <a:gd name="connsiteX0" fmla="*/ 0 w 2006600"/>
                <a:gd name="connsiteY0" fmla="*/ 317500 h 1270000"/>
                <a:gd name="connsiteX1" fmla="*/ 1371600 w 2006600"/>
                <a:gd name="connsiteY1" fmla="*/ 317500 h 1270000"/>
                <a:gd name="connsiteX2" fmla="*/ 1371600 w 2006600"/>
                <a:gd name="connsiteY2" fmla="*/ 0 h 1270000"/>
                <a:gd name="connsiteX3" fmla="*/ 2006600 w 2006600"/>
                <a:gd name="connsiteY3" fmla="*/ 635000 h 1270000"/>
                <a:gd name="connsiteX4" fmla="*/ 1371600 w 2006600"/>
                <a:gd name="connsiteY4" fmla="*/ 1270000 h 1270000"/>
                <a:gd name="connsiteX5" fmla="*/ 1371600 w 2006600"/>
                <a:gd name="connsiteY5" fmla="*/ 952500 h 1270000"/>
                <a:gd name="connsiteX6" fmla="*/ 0 w 2006600"/>
                <a:gd name="connsiteY6" fmla="*/ 952500 h 1270000"/>
                <a:gd name="connsiteX7" fmla="*/ 0 w 2006600"/>
                <a:gd name="connsiteY7" fmla="*/ 317500 h 1270000"/>
                <a:gd name="connsiteX0-1" fmla="*/ 0 w 2006600"/>
                <a:gd name="connsiteY0-2" fmla="*/ 0 h 1689100"/>
                <a:gd name="connsiteX1-3" fmla="*/ 1371600 w 2006600"/>
                <a:gd name="connsiteY1-4" fmla="*/ 736600 h 1689100"/>
                <a:gd name="connsiteX2-5" fmla="*/ 1371600 w 2006600"/>
                <a:gd name="connsiteY2-6" fmla="*/ 419100 h 1689100"/>
                <a:gd name="connsiteX3-7" fmla="*/ 2006600 w 2006600"/>
                <a:gd name="connsiteY3-8" fmla="*/ 1054100 h 1689100"/>
                <a:gd name="connsiteX4-9" fmla="*/ 1371600 w 2006600"/>
                <a:gd name="connsiteY4-10" fmla="*/ 1689100 h 1689100"/>
                <a:gd name="connsiteX5-11" fmla="*/ 1371600 w 2006600"/>
                <a:gd name="connsiteY5-12" fmla="*/ 1371600 h 1689100"/>
                <a:gd name="connsiteX6-13" fmla="*/ 0 w 2006600"/>
                <a:gd name="connsiteY6-14" fmla="*/ 1371600 h 1689100"/>
                <a:gd name="connsiteX7-15" fmla="*/ 0 w 2006600"/>
                <a:gd name="connsiteY7-16" fmla="*/ 0 h 1689100"/>
                <a:gd name="connsiteX0-17" fmla="*/ 12700 w 2019300"/>
                <a:gd name="connsiteY0-18" fmla="*/ 0 h 2235200"/>
                <a:gd name="connsiteX1-19" fmla="*/ 1384300 w 2019300"/>
                <a:gd name="connsiteY1-20" fmla="*/ 736600 h 2235200"/>
                <a:gd name="connsiteX2-21" fmla="*/ 1384300 w 2019300"/>
                <a:gd name="connsiteY2-22" fmla="*/ 419100 h 2235200"/>
                <a:gd name="connsiteX3-23" fmla="*/ 2019300 w 2019300"/>
                <a:gd name="connsiteY3-24" fmla="*/ 1054100 h 2235200"/>
                <a:gd name="connsiteX4-25" fmla="*/ 1384300 w 2019300"/>
                <a:gd name="connsiteY4-26" fmla="*/ 1689100 h 2235200"/>
                <a:gd name="connsiteX5-27" fmla="*/ 1384300 w 2019300"/>
                <a:gd name="connsiteY5-28" fmla="*/ 1371600 h 2235200"/>
                <a:gd name="connsiteX6-29" fmla="*/ 0 w 2019300"/>
                <a:gd name="connsiteY6-30" fmla="*/ 2235200 h 2235200"/>
                <a:gd name="connsiteX7-31" fmla="*/ 12700 w 2019300"/>
                <a:gd name="connsiteY7-32" fmla="*/ 0 h 2235200"/>
                <a:gd name="connsiteX0-33" fmla="*/ 12700 w 2019300"/>
                <a:gd name="connsiteY0-34" fmla="*/ 0 h 2235200"/>
                <a:gd name="connsiteX1-35" fmla="*/ 1384300 w 2019300"/>
                <a:gd name="connsiteY1-36" fmla="*/ 736600 h 2235200"/>
                <a:gd name="connsiteX2-37" fmla="*/ 1384300 w 2019300"/>
                <a:gd name="connsiteY2-38" fmla="*/ 419100 h 2235200"/>
                <a:gd name="connsiteX3-39" fmla="*/ 2019300 w 2019300"/>
                <a:gd name="connsiteY3-40" fmla="*/ 1054100 h 2235200"/>
                <a:gd name="connsiteX4-41" fmla="*/ 1384300 w 2019300"/>
                <a:gd name="connsiteY4-42" fmla="*/ 1689100 h 2235200"/>
                <a:gd name="connsiteX5-43" fmla="*/ 1384300 w 2019300"/>
                <a:gd name="connsiteY5-44" fmla="*/ 1371600 h 2235200"/>
                <a:gd name="connsiteX6-45" fmla="*/ 0 w 2019300"/>
                <a:gd name="connsiteY6-46" fmla="*/ 2235200 h 2235200"/>
                <a:gd name="connsiteX7-47" fmla="*/ 12700 w 2019300"/>
                <a:gd name="connsiteY7-48" fmla="*/ 0 h 2235200"/>
                <a:gd name="connsiteX0-49" fmla="*/ 12700 w 2019300"/>
                <a:gd name="connsiteY0-50" fmla="*/ 0 h 2235200"/>
                <a:gd name="connsiteX1-51" fmla="*/ 1384300 w 2019300"/>
                <a:gd name="connsiteY1-52" fmla="*/ 736600 h 2235200"/>
                <a:gd name="connsiteX2-53" fmla="*/ 1384300 w 2019300"/>
                <a:gd name="connsiteY2-54" fmla="*/ 419100 h 2235200"/>
                <a:gd name="connsiteX3-55" fmla="*/ 2019300 w 2019300"/>
                <a:gd name="connsiteY3-56" fmla="*/ 1054100 h 2235200"/>
                <a:gd name="connsiteX4-57" fmla="*/ 1384300 w 2019300"/>
                <a:gd name="connsiteY4-58" fmla="*/ 1689100 h 2235200"/>
                <a:gd name="connsiteX5-59" fmla="*/ 1384300 w 2019300"/>
                <a:gd name="connsiteY5-60" fmla="*/ 1371600 h 2235200"/>
                <a:gd name="connsiteX6-61" fmla="*/ 0 w 2019300"/>
                <a:gd name="connsiteY6-62" fmla="*/ 2235200 h 2235200"/>
                <a:gd name="connsiteX7-63" fmla="*/ 12700 w 2019300"/>
                <a:gd name="connsiteY7-64" fmla="*/ 0 h 2235200"/>
                <a:gd name="connsiteX0-65" fmla="*/ 12700 w 2019300"/>
                <a:gd name="connsiteY0-66" fmla="*/ 0 h 2235200"/>
                <a:gd name="connsiteX1-67" fmla="*/ 1384300 w 2019300"/>
                <a:gd name="connsiteY1-68" fmla="*/ 736600 h 2235200"/>
                <a:gd name="connsiteX2-69" fmla="*/ 1384300 w 2019300"/>
                <a:gd name="connsiteY2-70" fmla="*/ 419100 h 2235200"/>
                <a:gd name="connsiteX3-71" fmla="*/ 2019300 w 2019300"/>
                <a:gd name="connsiteY3-72" fmla="*/ 1054100 h 2235200"/>
                <a:gd name="connsiteX4-73" fmla="*/ 1384300 w 2019300"/>
                <a:gd name="connsiteY4-74" fmla="*/ 1689100 h 2235200"/>
                <a:gd name="connsiteX5-75" fmla="*/ 1384300 w 2019300"/>
                <a:gd name="connsiteY5-76" fmla="*/ 1371600 h 2235200"/>
                <a:gd name="connsiteX6-77" fmla="*/ 0 w 2019300"/>
                <a:gd name="connsiteY6-78" fmla="*/ 2235200 h 2235200"/>
                <a:gd name="connsiteX7-79" fmla="*/ 12700 w 2019300"/>
                <a:gd name="connsiteY7-80" fmla="*/ 0 h 2235200"/>
                <a:gd name="connsiteX0-81" fmla="*/ 12700 w 2019300"/>
                <a:gd name="connsiteY0-82" fmla="*/ 0 h 2235200"/>
                <a:gd name="connsiteX1-83" fmla="*/ 1384300 w 2019300"/>
                <a:gd name="connsiteY1-84" fmla="*/ 736600 h 2235200"/>
                <a:gd name="connsiteX2-85" fmla="*/ 1384300 w 2019300"/>
                <a:gd name="connsiteY2-86" fmla="*/ 419100 h 2235200"/>
                <a:gd name="connsiteX3-87" fmla="*/ 2019300 w 2019300"/>
                <a:gd name="connsiteY3-88" fmla="*/ 1054100 h 2235200"/>
                <a:gd name="connsiteX4-89" fmla="*/ 1384300 w 2019300"/>
                <a:gd name="connsiteY4-90" fmla="*/ 1689100 h 2235200"/>
                <a:gd name="connsiteX5-91" fmla="*/ 1384300 w 2019300"/>
                <a:gd name="connsiteY5-92" fmla="*/ 1371600 h 2235200"/>
                <a:gd name="connsiteX6-93" fmla="*/ 0 w 2019300"/>
                <a:gd name="connsiteY6-94" fmla="*/ 2235200 h 2235200"/>
                <a:gd name="connsiteX7-95" fmla="*/ 12700 w 2019300"/>
                <a:gd name="connsiteY7-96" fmla="*/ 0 h 22352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2019300" h="2235200">
                  <a:moveTo>
                    <a:pt x="12700" y="0"/>
                  </a:moveTo>
                  <a:cubicBezTo>
                    <a:pt x="482600" y="728133"/>
                    <a:pt x="850900" y="770467"/>
                    <a:pt x="1384300" y="736600"/>
                  </a:cubicBezTo>
                  <a:lnTo>
                    <a:pt x="1384300" y="419100"/>
                  </a:lnTo>
                  <a:lnTo>
                    <a:pt x="2019300" y="1054100"/>
                  </a:lnTo>
                  <a:lnTo>
                    <a:pt x="1384300" y="1689100"/>
                  </a:lnTo>
                  <a:lnTo>
                    <a:pt x="1384300" y="1371600"/>
                  </a:lnTo>
                  <a:cubicBezTo>
                    <a:pt x="795867" y="1481667"/>
                    <a:pt x="664633" y="1388533"/>
                    <a:pt x="0" y="2235200"/>
                  </a:cubicBezTo>
                  <a:cubicBezTo>
                    <a:pt x="4233" y="1490133"/>
                    <a:pt x="8467" y="745067"/>
                    <a:pt x="12700" y="0"/>
                  </a:cubicBezTo>
                  <a:close/>
                </a:path>
              </a:pathLst>
            </a:custGeom>
            <a:gradFill>
              <a:gsLst>
                <a:gs pos="100000">
                  <a:srgbClr val="C00000"/>
                </a:gs>
                <a:gs pos="0">
                  <a:srgbClr val="C000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686219" y="3869157"/>
            <a:ext cx="9923724" cy="188410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latin typeface="+mj-ea"/>
                <a:ea typeface="+mj-ea"/>
              </a:rPr>
              <a:t>What you can get? </a:t>
            </a:r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您可获得什么好处</a:t>
            </a:r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？</a:t>
            </a:r>
            <a:r>
              <a:rPr lang="en-US" sz="2000" b="1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endParaRPr lang="en-US" altLang="zh-CN" sz="20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​Reduce Costs &amp; Boost Efficiency</a:t>
            </a:r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​  </a:t>
            </a:r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降本增效</a:t>
            </a:r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​ </a:t>
            </a:r>
            <a:endParaRPr lang="en-US" altLang="zh-CN" sz="20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Enhance Customer Experience </a:t>
            </a:r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​ </a:t>
            </a:r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提升客户体验</a:t>
            </a:r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​</a:t>
            </a:r>
            <a:endParaRPr lang="en-US" altLang="zh-CN" sz="20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Focus on Your Core Business: Brand &amp; Growth </a:t>
            </a:r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专注核心业务：品牌与增长</a:t>
            </a:r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​</a:t>
            </a:r>
            <a:endParaRPr lang="en-US" altLang="zh-CN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卓越服务​ </a:t>
            </a:r>
            <a:r>
              <a:rPr lang="en-US" altLang="zh-CN" dirty="0"/>
              <a:t>Service Excellence​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515938" y="1268413"/>
            <a:ext cx="5510979" cy="4860925"/>
            <a:chOff x="515938" y="1268413"/>
            <a:chExt cx="5510979" cy="4860925"/>
          </a:xfrm>
        </p:grpSpPr>
        <p:sp>
          <p:nvSpPr>
            <p:cNvPr id="72" name="矩形: 圆角 71"/>
            <p:cNvSpPr/>
            <p:nvPr/>
          </p:nvSpPr>
          <p:spPr>
            <a:xfrm>
              <a:off x="515938" y="1268413"/>
              <a:ext cx="5510979" cy="4860925"/>
            </a:xfrm>
            <a:prstGeom prst="roundRect">
              <a:avLst>
                <a:gd name="adj" fmla="val 1775"/>
              </a:avLst>
            </a:prstGeom>
            <a:noFill/>
            <a:ln>
              <a:solidFill>
                <a:srgbClr val="00B9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0" name="Group 6"/>
            <p:cNvGrpSpPr/>
            <p:nvPr/>
          </p:nvGrpSpPr>
          <p:grpSpPr>
            <a:xfrm>
              <a:off x="942209" y="1502479"/>
              <a:ext cx="4581696" cy="846770"/>
              <a:chOff x="841204" y="2397829"/>
              <a:chExt cx="4581696" cy="846770"/>
            </a:xfrm>
          </p:grpSpPr>
          <p:sp>
            <p:nvSpPr>
              <p:cNvPr id="31" name="Freeform 29"/>
              <p:cNvSpPr/>
              <p:nvPr/>
            </p:nvSpPr>
            <p:spPr bwMode="auto">
              <a:xfrm>
                <a:off x="841204" y="2482193"/>
                <a:ext cx="197601" cy="152479"/>
              </a:xfrm>
              <a:custGeom>
                <a:avLst/>
                <a:gdLst>
                  <a:gd name="T0" fmla="*/ 198196 w 59"/>
                  <a:gd name="T1" fmla="*/ 41487 h 45"/>
                  <a:gd name="T2" fmla="*/ 102515 w 59"/>
                  <a:gd name="T3" fmla="*/ 134832 h 45"/>
                  <a:gd name="T4" fmla="*/ 85429 w 59"/>
                  <a:gd name="T5" fmla="*/ 152118 h 45"/>
                  <a:gd name="T6" fmla="*/ 78595 w 59"/>
                  <a:gd name="T7" fmla="*/ 155575 h 45"/>
                  <a:gd name="T8" fmla="*/ 68343 w 59"/>
                  <a:gd name="T9" fmla="*/ 152118 h 45"/>
                  <a:gd name="T10" fmla="*/ 51258 w 59"/>
                  <a:gd name="T11" fmla="*/ 134832 h 45"/>
                  <a:gd name="T12" fmla="*/ 3417 w 59"/>
                  <a:gd name="T13" fmla="*/ 89888 h 45"/>
                  <a:gd name="T14" fmla="*/ 0 w 59"/>
                  <a:gd name="T15" fmla="*/ 79516 h 45"/>
                  <a:gd name="T16" fmla="*/ 3417 w 59"/>
                  <a:gd name="T17" fmla="*/ 69144 h 45"/>
                  <a:gd name="T18" fmla="*/ 20503 w 59"/>
                  <a:gd name="T19" fmla="*/ 51858 h 45"/>
                  <a:gd name="T20" fmla="*/ 30755 w 59"/>
                  <a:gd name="T21" fmla="*/ 48401 h 45"/>
                  <a:gd name="T22" fmla="*/ 37589 w 59"/>
                  <a:gd name="T23" fmla="*/ 51858 h 45"/>
                  <a:gd name="T24" fmla="*/ 78595 w 59"/>
                  <a:gd name="T25" fmla="*/ 89888 h 45"/>
                  <a:gd name="T26" fmla="*/ 160607 w 59"/>
                  <a:gd name="T27" fmla="*/ 3457 h 45"/>
                  <a:gd name="T28" fmla="*/ 170858 w 59"/>
                  <a:gd name="T29" fmla="*/ 0 h 45"/>
                  <a:gd name="T30" fmla="*/ 181110 w 59"/>
                  <a:gd name="T31" fmla="*/ 3457 h 45"/>
                  <a:gd name="T32" fmla="*/ 198196 w 59"/>
                  <a:gd name="T33" fmla="*/ 24201 h 45"/>
                  <a:gd name="T34" fmla="*/ 201613 w 59"/>
                  <a:gd name="T35" fmla="*/ 31115 h 45"/>
                  <a:gd name="T36" fmla="*/ 198196 w 59"/>
                  <a:gd name="T37" fmla="*/ 41487 h 4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59" h="45">
                    <a:moveTo>
                      <a:pt x="58" y="12"/>
                    </a:moveTo>
                    <a:cubicBezTo>
                      <a:pt x="30" y="39"/>
                      <a:pt x="30" y="39"/>
                      <a:pt x="30" y="39"/>
                    </a:cubicBezTo>
                    <a:cubicBezTo>
                      <a:pt x="25" y="44"/>
                      <a:pt x="25" y="44"/>
                      <a:pt x="25" y="44"/>
                    </a:cubicBezTo>
                    <a:cubicBezTo>
                      <a:pt x="24" y="45"/>
                      <a:pt x="24" y="45"/>
                      <a:pt x="23" y="45"/>
                    </a:cubicBezTo>
                    <a:cubicBezTo>
                      <a:pt x="22" y="45"/>
                      <a:pt x="21" y="45"/>
                      <a:pt x="20" y="44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0" y="25"/>
                      <a:pt x="0" y="24"/>
                      <a:pt x="0" y="23"/>
                    </a:cubicBezTo>
                    <a:cubicBezTo>
                      <a:pt x="0" y="22"/>
                      <a:pt x="0" y="21"/>
                      <a:pt x="1" y="20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7" y="14"/>
                      <a:pt x="8" y="14"/>
                      <a:pt x="9" y="14"/>
                    </a:cubicBezTo>
                    <a:cubicBezTo>
                      <a:pt x="10" y="14"/>
                      <a:pt x="11" y="14"/>
                      <a:pt x="11" y="15"/>
                    </a:cubicBezTo>
                    <a:cubicBezTo>
                      <a:pt x="23" y="26"/>
                      <a:pt x="23" y="26"/>
                      <a:pt x="23" y="26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8" y="1"/>
                      <a:pt x="49" y="0"/>
                      <a:pt x="50" y="0"/>
                    </a:cubicBezTo>
                    <a:cubicBezTo>
                      <a:pt x="51" y="0"/>
                      <a:pt x="52" y="1"/>
                      <a:pt x="53" y="1"/>
                    </a:cubicBezTo>
                    <a:cubicBezTo>
                      <a:pt x="58" y="7"/>
                      <a:pt x="58" y="7"/>
                      <a:pt x="58" y="7"/>
                    </a:cubicBezTo>
                    <a:cubicBezTo>
                      <a:pt x="58" y="7"/>
                      <a:pt x="59" y="8"/>
                      <a:pt x="59" y="9"/>
                    </a:cubicBezTo>
                    <a:cubicBezTo>
                      <a:pt x="59" y="10"/>
                      <a:pt x="58" y="11"/>
                      <a:pt x="58" y="12"/>
                    </a:cubicBezTo>
                    <a:close/>
                  </a:path>
                </a:pathLst>
              </a:custGeom>
              <a:solidFill>
                <a:srgbClr val="00B9D2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" name="TextBox 5"/>
              <p:cNvSpPr txBox="1"/>
              <p:nvPr/>
            </p:nvSpPr>
            <p:spPr>
              <a:xfrm>
                <a:off x="1144170" y="2397829"/>
                <a:ext cx="4278730" cy="846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400" i="0" u="none" strike="noStrike" kern="0" cap="none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 Light" panose="020B0502040204020203" pitchFamily="34" charset="-122"/>
                    <a:ea typeface="微软雅黑 Light" panose="020B0502040204020203" pitchFamily="34" charset="-122"/>
                    <a:cs typeface="Open Sans" panose="020B0606030504020204" pitchFamily="34" charset="0"/>
                  </a:rPr>
                  <a:t>24/7 Customer Service: Multilingual support team providing round-the-clock assistance </a:t>
                </a:r>
                <a:endParaRPr kumimoji="0" lang="en-US" sz="140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  <a:cs typeface="Open Sans" panose="020B0606030504020204" pitchFamily="34" charset="0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400" i="0" u="none" strike="noStrike" kern="0" cap="none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 Light" panose="020B0502040204020203" pitchFamily="34" charset="-122"/>
                    <a:ea typeface="微软雅黑 Light" panose="020B0502040204020203" pitchFamily="34" charset="-122"/>
                    <a:cs typeface="Open Sans" panose="020B0606030504020204" pitchFamily="34" charset="0"/>
                  </a:rPr>
                  <a:t> 24/7</a:t>
                </a:r>
                <a:r>
                  <a:rPr kumimoji="0" lang="zh-CN" altLang="en-US" sz="1400" i="0" u="none" strike="noStrike" kern="0" cap="none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 Light" panose="020B0502040204020203" pitchFamily="34" charset="-122"/>
                    <a:ea typeface="微软雅黑 Light" panose="020B0502040204020203" pitchFamily="34" charset="-122"/>
                    <a:cs typeface="Open Sans" panose="020B0606030504020204" pitchFamily="34" charset="0"/>
                  </a:rPr>
                  <a:t>客户服务​：多语言支持团队提供全天候协助。</a:t>
                </a:r>
                <a:endParaRPr kumimoji="0" lang="zh-CN" altLang="en-US" sz="140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36" name="Group 10"/>
            <p:cNvGrpSpPr/>
            <p:nvPr/>
          </p:nvGrpSpPr>
          <p:grpSpPr>
            <a:xfrm>
              <a:off x="942209" y="2650250"/>
              <a:ext cx="4581696" cy="848502"/>
              <a:chOff x="841204" y="2397829"/>
              <a:chExt cx="4581696" cy="848502"/>
            </a:xfrm>
          </p:grpSpPr>
          <p:sp>
            <p:nvSpPr>
              <p:cNvPr id="37" name="Freeform 29"/>
              <p:cNvSpPr/>
              <p:nvPr/>
            </p:nvSpPr>
            <p:spPr bwMode="auto">
              <a:xfrm>
                <a:off x="841204" y="2482193"/>
                <a:ext cx="197601" cy="152479"/>
              </a:xfrm>
              <a:custGeom>
                <a:avLst/>
                <a:gdLst>
                  <a:gd name="T0" fmla="*/ 198196 w 59"/>
                  <a:gd name="T1" fmla="*/ 41487 h 45"/>
                  <a:gd name="T2" fmla="*/ 102515 w 59"/>
                  <a:gd name="T3" fmla="*/ 134832 h 45"/>
                  <a:gd name="T4" fmla="*/ 85429 w 59"/>
                  <a:gd name="T5" fmla="*/ 152118 h 45"/>
                  <a:gd name="T6" fmla="*/ 78595 w 59"/>
                  <a:gd name="T7" fmla="*/ 155575 h 45"/>
                  <a:gd name="T8" fmla="*/ 68343 w 59"/>
                  <a:gd name="T9" fmla="*/ 152118 h 45"/>
                  <a:gd name="T10" fmla="*/ 51258 w 59"/>
                  <a:gd name="T11" fmla="*/ 134832 h 45"/>
                  <a:gd name="T12" fmla="*/ 3417 w 59"/>
                  <a:gd name="T13" fmla="*/ 89888 h 45"/>
                  <a:gd name="T14" fmla="*/ 0 w 59"/>
                  <a:gd name="T15" fmla="*/ 79516 h 45"/>
                  <a:gd name="T16" fmla="*/ 3417 w 59"/>
                  <a:gd name="T17" fmla="*/ 69144 h 45"/>
                  <a:gd name="T18" fmla="*/ 20503 w 59"/>
                  <a:gd name="T19" fmla="*/ 51858 h 45"/>
                  <a:gd name="T20" fmla="*/ 30755 w 59"/>
                  <a:gd name="T21" fmla="*/ 48401 h 45"/>
                  <a:gd name="T22" fmla="*/ 37589 w 59"/>
                  <a:gd name="T23" fmla="*/ 51858 h 45"/>
                  <a:gd name="T24" fmla="*/ 78595 w 59"/>
                  <a:gd name="T25" fmla="*/ 89888 h 45"/>
                  <a:gd name="T26" fmla="*/ 160607 w 59"/>
                  <a:gd name="T27" fmla="*/ 3457 h 45"/>
                  <a:gd name="T28" fmla="*/ 170858 w 59"/>
                  <a:gd name="T29" fmla="*/ 0 h 45"/>
                  <a:gd name="T30" fmla="*/ 181110 w 59"/>
                  <a:gd name="T31" fmla="*/ 3457 h 45"/>
                  <a:gd name="T32" fmla="*/ 198196 w 59"/>
                  <a:gd name="T33" fmla="*/ 24201 h 45"/>
                  <a:gd name="T34" fmla="*/ 201613 w 59"/>
                  <a:gd name="T35" fmla="*/ 31115 h 45"/>
                  <a:gd name="T36" fmla="*/ 198196 w 59"/>
                  <a:gd name="T37" fmla="*/ 41487 h 4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59" h="45">
                    <a:moveTo>
                      <a:pt x="58" y="12"/>
                    </a:moveTo>
                    <a:cubicBezTo>
                      <a:pt x="30" y="39"/>
                      <a:pt x="30" y="39"/>
                      <a:pt x="30" y="39"/>
                    </a:cubicBezTo>
                    <a:cubicBezTo>
                      <a:pt x="25" y="44"/>
                      <a:pt x="25" y="44"/>
                      <a:pt x="25" y="44"/>
                    </a:cubicBezTo>
                    <a:cubicBezTo>
                      <a:pt x="24" y="45"/>
                      <a:pt x="24" y="45"/>
                      <a:pt x="23" y="45"/>
                    </a:cubicBezTo>
                    <a:cubicBezTo>
                      <a:pt x="22" y="45"/>
                      <a:pt x="21" y="45"/>
                      <a:pt x="20" y="44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0" y="25"/>
                      <a:pt x="0" y="24"/>
                      <a:pt x="0" y="23"/>
                    </a:cubicBezTo>
                    <a:cubicBezTo>
                      <a:pt x="0" y="22"/>
                      <a:pt x="0" y="21"/>
                      <a:pt x="1" y="20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7" y="14"/>
                      <a:pt x="8" y="14"/>
                      <a:pt x="9" y="14"/>
                    </a:cubicBezTo>
                    <a:cubicBezTo>
                      <a:pt x="10" y="14"/>
                      <a:pt x="11" y="14"/>
                      <a:pt x="11" y="15"/>
                    </a:cubicBezTo>
                    <a:cubicBezTo>
                      <a:pt x="23" y="26"/>
                      <a:pt x="23" y="26"/>
                      <a:pt x="23" y="26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8" y="1"/>
                      <a:pt x="49" y="0"/>
                      <a:pt x="50" y="0"/>
                    </a:cubicBezTo>
                    <a:cubicBezTo>
                      <a:pt x="51" y="0"/>
                      <a:pt x="52" y="1"/>
                      <a:pt x="53" y="1"/>
                    </a:cubicBezTo>
                    <a:cubicBezTo>
                      <a:pt x="58" y="7"/>
                      <a:pt x="58" y="7"/>
                      <a:pt x="58" y="7"/>
                    </a:cubicBezTo>
                    <a:cubicBezTo>
                      <a:pt x="58" y="7"/>
                      <a:pt x="59" y="8"/>
                      <a:pt x="59" y="9"/>
                    </a:cubicBezTo>
                    <a:cubicBezTo>
                      <a:pt x="59" y="10"/>
                      <a:pt x="58" y="11"/>
                      <a:pt x="58" y="12"/>
                    </a:cubicBezTo>
                    <a:close/>
                  </a:path>
                </a:pathLst>
              </a:custGeom>
              <a:solidFill>
                <a:srgbClr val="00B9D2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8" name="TextBox 12"/>
              <p:cNvSpPr txBox="1"/>
              <p:nvPr/>
            </p:nvSpPr>
            <p:spPr>
              <a:xfrm>
                <a:off x="1144170" y="2397829"/>
                <a:ext cx="4278730" cy="7408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400" i="0" u="none" strike="noStrike" kern="0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 Light" panose="020B0502040204020203" pitchFamily="34" charset="-122"/>
                    <a:ea typeface="微软雅黑 Light" panose="020B0502040204020203" pitchFamily="34" charset="-122"/>
                    <a:cs typeface="Open Sans" panose="020B0606030504020204" pitchFamily="34" charset="0"/>
                  </a:defRPr>
                </a:lvl1pPr>
              </a:lstStyle>
              <a:p>
                <a:r>
                  <a:rPr lang="en-US" dirty="0"/>
                  <a:t>​Professional Logistics Team: Experienced team across e-commerce specialties</a:t>
                </a:r>
                <a:endParaRPr lang="en-US" dirty="0"/>
              </a:p>
              <a:p>
                <a:r>
                  <a:rPr lang="zh-CN" altLang="en-US" dirty="0"/>
                  <a:t>专业物流团队​：拥有跨电商领域的经验丰富的团队。</a:t>
                </a:r>
                <a:endParaRPr lang="zh-CN" altLang="en-US" dirty="0"/>
              </a:p>
            </p:txBody>
          </p:sp>
        </p:grpSp>
        <p:grpSp>
          <p:nvGrpSpPr>
            <p:cNvPr id="44" name="Group 16"/>
            <p:cNvGrpSpPr/>
            <p:nvPr/>
          </p:nvGrpSpPr>
          <p:grpSpPr>
            <a:xfrm>
              <a:off x="942209" y="3798021"/>
              <a:ext cx="4658040" cy="1106008"/>
              <a:chOff x="841204" y="2397829"/>
              <a:chExt cx="4658040" cy="1106008"/>
            </a:xfrm>
          </p:grpSpPr>
          <p:sp>
            <p:nvSpPr>
              <p:cNvPr id="46" name="Freeform 29"/>
              <p:cNvSpPr/>
              <p:nvPr/>
            </p:nvSpPr>
            <p:spPr bwMode="auto">
              <a:xfrm>
                <a:off x="841204" y="2482193"/>
                <a:ext cx="197601" cy="152479"/>
              </a:xfrm>
              <a:custGeom>
                <a:avLst/>
                <a:gdLst>
                  <a:gd name="T0" fmla="*/ 198196 w 59"/>
                  <a:gd name="T1" fmla="*/ 41487 h 45"/>
                  <a:gd name="T2" fmla="*/ 102515 w 59"/>
                  <a:gd name="T3" fmla="*/ 134832 h 45"/>
                  <a:gd name="T4" fmla="*/ 85429 w 59"/>
                  <a:gd name="T5" fmla="*/ 152118 h 45"/>
                  <a:gd name="T6" fmla="*/ 78595 w 59"/>
                  <a:gd name="T7" fmla="*/ 155575 h 45"/>
                  <a:gd name="T8" fmla="*/ 68343 w 59"/>
                  <a:gd name="T9" fmla="*/ 152118 h 45"/>
                  <a:gd name="T10" fmla="*/ 51258 w 59"/>
                  <a:gd name="T11" fmla="*/ 134832 h 45"/>
                  <a:gd name="T12" fmla="*/ 3417 w 59"/>
                  <a:gd name="T13" fmla="*/ 89888 h 45"/>
                  <a:gd name="T14" fmla="*/ 0 w 59"/>
                  <a:gd name="T15" fmla="*/ 79516 h 45"/>
                  <a:gd name="T16" fmla="*/ 3417 w 59"/>
                  <a:gd name="T17" fmla="*/ 69144 h 45"/>
                  <a:gd name="T18" fmla="*/ 20503 w 59"/>
                  <a:gd name="T19" fmla="*/ 51858 h 45"/>
                  <a:gd name="T20" fmla="*/ 30755 w 59"/>
                  <a:gd name="T21" fmla="*/ 48401 h 45"/>
                  <a:gd name="T22" fmla="*/ 37589 w 59"/>
                  <a:gd name="T23" fmla="*/ 51858 h 45"/>
                  <a:gd name="T24" fmla="*/ 78595 w 59"/>
                  <a:gd name="T25" fmla="*/ 89888 h 45"/>
                  <a:gd name="T26" fmla="*/ 160607 w 59"/>
                  <a:gd name="T27" fmla="*/ 3457 h 45"/>
                  <a:gd name="T28" fmla="*/ 170858 w 59"/>
                  <a:gd name="T29" fmla="*/ 0 h 45"/>
                  <a:gd name="T30" fmla="*/ 181110 w 59"/>
                  <a:gd name="T31" fmla="*/ 3457 h 45"/>
                  <a:gd name="T32" fmla="*/ 198196 w 59"/>
                  <a:gd name="T33" fmla="*/ 24201 h 45"/>
                  <a:gd name="T34" fmla="*/ 201613 w 59"/>
                  <a:gd name="T35" fmla="*/ 31115 h 45"/>
                  <a:gd name="T36" fmla="*/ 198196 w 59"/>
                  <a:gd name="T37" fmla="*/ 41487 h 4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59" h="45">
                    <a:moveTo>
                      <a:pt x="58" y="12"/>
                    </a:moveTo>
                    <a:cubicBezTo>
                      <a:pt x="30" y="39"/>
                      <a:pt x="30" y="39"/>
                      <a:pt x="30" y="39"/>
                    </a:cubicBezTo>
                    <a:cubicBezTo>
                      <a:pt x="25" y="44"/>
                      <a:pt x="25" y="44"/>
                      <a:pt x="25" y="44"/>
                    </a:cubicBezTo>
                    <a:cubicBezTo>
                      <a:pt x="24" y="45"/>
                      <a:pt x="24" y="45"/>
                      <a:pt x="23" y="45"/>
                    </a:cubicBezTo>
                    <a:cubicBezTo>
                      <a:pt x="22" y="45"/>
                      <a:pt x="21" y="45"/>
                      <a:pt x="20" y="44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0" y="25"/>
                      <a:pt x="0" y="24"/>
                      <a:pt x="0" y="23"/>
                    </a:cubicBezTo>
                    <a:cubicBezTo>
                      <a:pt x="0" y="22"/>
                      <a:pt x="0" y="21"/>
                      <a:pt x="1" y="20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7" y="14"/>
                      <a:pt x="8" y="14"/>
                      <a:pt x="9" y="14"/>
                    </a:cubicBezTo>
                    <a:cubicBezTo>
                      <a:pt x="10" y="14"/>
                      <a:pt x="11" y="14"/>
                      <a:pt x="11" y="15"/>
                    </a:cubicBezTo>
                    <a:cubicBezTo>
                      <a:pt x="23" y="26"/>
                      <a:pt x="23" y="26"/>
                      <a:pt x="23" y="26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8" y="1"/>
                      <a:pt x="49" y="0"/>
                      <a:pt x="50" y="0"/>
                    </a:cubicBezTo>
                    <a:cubicBezTo>
                      <a:pt x="51" y="0"/>
                      <a:pt x="52" y="1"/>
                      <a:pt x="53" y="1"/>
                    </a:cubicBezTo>
                    <a:cubicBezTo>
                      <a:pt x="58" y="7"/>
                      <a:pt x="58" y="7"/>
                      <a:pt x="58" y="7"/>
                    </a:cubicBezTo>
                    <a:cubicBezTo>
                      <a:pt x="58" y="7"/>
                      <a:pt x="59" y="8"/>
                      <a:pt x="59" y="9"/>
                    </a:cubicBezTo>
                    <a:cubicBezTo>
                      <a:pt x="59" y="10"/>
                      <a:pt x="58" y="11"/>
                      <a:pt x="58" y="12"/>
                    </a:cubicBezTo>
                    <a:close/>
                  </a:path>
                </a:pathLst>
              </a:custGeom>
              <a:solidFill>
                <a:srgbClr val="00B9D2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7" name="TextBox 18"/>
              <p:cNvSpPr txBox="1"/>
              <p:nvPr/>
            </p:nvSpPr>
            <p:spPr>
              <a:xfrm>
                <a:off x="1144170" y="2397829"/>
                <a:ext cx="4355074" cy="1106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400" i="0" u="none" strike="noStrike" kern="0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 Light" panose="020B0502040204020203" pitchFamily="34" charset="-122"/>
                    <a:ea typeface="微软雅黑 Light" panose="020B0502040204020203" pitchFamily="34" charset="-122"/>
                    <a:cs typeface="Open Sans" panose="020B0606030504020204" pitchFamily="34" charset="0"/>
                  </a:defRPr>
                </a:lvl1pPr>
              </a:lstStyle>
              <a:p>
                <a:r>
                  <a:rPr lang="en-US" dirty="0"/>
                  <a:t>Green Packaging Options: Environmentally friendly, recyclable, and biodegradable packaging materials</a:t>
                </a:r>
                <a:endParaRPr lang="en-US" dirty="0"/>
              </a:p>
              <a:p>
                <a:r>
                  <a:rPr lang="zh-CN" altLang="en-US" dirty="0"/>
                  <a:t>绿色包装选项​：提供环保、可回收、可生物降解的包装材料。</a:t>
                </a:r>
                <a:endParaRPr lang="zh-CN" altLang="en-US" dirty="0"/>
              </a:p>
            </p:txBody>
          </p:sp>
        </p:grpSp>
        <p:grpSp>
          <p:nvGrpSpPr>
            <p:cNvPr id="66" name="Group 16"/>
            <p:cNvGrpSpPr/>
            <p:nvPr/>
          </p:nvGrpSpPr>
          <p:grpSpPr>
            <a:xfrm>
              <a:off x="913188" y="5059596"/>
              <a:ext cx="4581696" cy="846770"/>
              <a:chOff x="841204" y="2397829"/>
              <a:chExt cx="4581696" cy="846770"/>
            </a:xfrm>
          </p:grpSpPr>
          <p:sp>
            <p:nvSpPr>
              <p:cNvPr id="67" name="Freeform 29"/>
              <p:cNvSpPr/>
              <p:nvPr/>
            </p:nvSpPr>
            <p:spPr bwMode="auto">
              <a:xfrm>
                <a:off x="841204" y="2482193"/>
                <a:ext cx="197601" cy="152479"/>
              </a:xfrm>
              <a:custGeom>
                <a:avLst/>
                <a:gdLst>
                  <a:gd name="T0" fmla="*/ 198196 w 59"/>
                  <a:gd name="T1" fmla="*/ 41487 h 45"/>
                  <a:gd name="T2" fmla="*/ 102515 w 59"/>
                  <a:gd name="T3" fmla="*/ 134832 h 45"/>
                  <a:gd name="T4" fmla="*/ 85429 w 59"/>
                  <a:gd name="T5" fmla="*/ 152118 h 45"/>
                  <a:gd name="T6" fmla="*/ 78595 w 59"/>
                  <a:gd name="T7" fmla="*/ 155575 h 45"/>
                  <a:gd name="T8" fmla="*/ 68343 w 59"/>
                  <a:gd name="T9" fmla="*/ 152118 h 45"/>
                  <a:gd name="T10" fmla="*/ 51258 w 59"/>
                  <a:gd name="T11" fmla="*/ 134832 h 45"/>
                  <a:gd name="T12" fmla="*/ 3417 w 59"/>
                  <a:gd name="T13" fmla="*/ 89888 h 45"/>
                  <a:gd name="T14" fmla="*/ 0 w 59"/>
                  <a:gd name="T15" fmla="*/ 79516 h 45"/>
                  <a:gd name="T16" fmla="*/ 3417 w 59"/>
                  <a:gd name="T17" fmla="*/ 69144 h 45"/>
                  <a:gd name="T18" fmla="*/ 20503 w 59"/>
                  <a:gd name="T19" fmla="*/ 51858 h 45"/>
                  <a:gd name="T20" fmla="*/ 30755 w 59"/>
                  <a:gd name="T21" fmla="*/ 48401 h 45"/>
                  <a:gd name="T22" fmla="*/ 37589 w 59"/>
                  <a:gd name="T23" fmla="*/ 51858 h 45"/>
                  <a:gd name="T24" fmla="*/ 78595 w 59"/>
                  <a:gd name="T25" fmla="*/ 89888 h 45"/>
                  <a:gd name="T26" fmla="*/ 160607 w 59"/>
                  <a:gd name="T27" fmla="*/ 3457 h 45"/>
                  <a:gd name="T28" fmla="*/ 170858 w 59"/>
                  <a:gd name="T29" fmla="*/ 0 h 45"/>
                  <a:gd name="T30" fmla="*/ 181110 w 59"/>
                  <a:gd name="T31" fmla="*/ 3457 h 45"/>
                  <a:gd name="T32" fmla="*/ 198196 w 59"/>
                  <a:gd name="T33" fmla="*/ 24201 h 45"/>
                  <a:gd name="T34" fmla="*/ 201613 w 59"/>
                  <a:gd name="T35" fmla="*/ 31115 h 45"/>
                  <a:gd name="T36" fmla="*/ 198196 w 59"/>
                  <a:gd name="T37" fmla="*/ 41487 h 4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59" h="45">
                    <a:moveTo>
                      <a:pt x="58" y="12"/>
                    </a:moveTo>
                    <a:cubicBezTo>
                      <a:pt x="30" y="39"/>
                      <a:pt x="30" y="39"/>
                      <a:pt x="30" y="39"/>
                    </a:cubicBezTo>
                    <a:cubicBezTo>
                      <a:pt x="25" y="44"/>
                      <a:pt x="25" y="44"/>
                      <a:pt x="25" y="44"/>
                    </a:cubicBezTo>
                    <a:cubicBezTo>
                      <a:pt x="24" y="45"/>
                      <a:pt x="24" y="45"/>
                      <a:pt x="23" y="45"/>
                    </a:cubicBezTo>
                    <a:cubicBezTo>
                      <a:pt x="22" y="45"/>
                      <a:pt x="21" y="45"/>
                      <a:pt x="20" y="44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0" y="25"/>
                      <a:pt x="0" y="24"/>
                      <a:pt x="0" y="23"/>
                    </a:cubicBezTo>
                    <a:cubicBezTo>
                      <a:pt x="0" y="22"/>
                      <a:pt x="0" y="21"/>
                      <a:pt x="1" y="20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7" y="14"/>
                      <a:pt x="8" y="14"/>
                      <a:pt x="9" y="14"/>
                    </a:cubicBezTo>
                    <a:cubicBezTo>
                      <a:pt x="10" y="14"/>
                      <a:pt x="11" y="14"/>
                      <a:pt x="11" y="15"/>
                    </a:cubicBezTo>
                    <a:cubicBezTo>
                      <a:pt x="23" y="26"/>
                      <a:pt x="23" y="26"/>
                      <a:pt x="23" y="26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8" y="1"/>
                      <a:pt x="49" y="0"/>
                      <a:pt x="50" y="0"/>
                    </a:cubicBezTo>
                    <a:cubicBezTo>
                      <a:pt x="51" y="0"/>
                      <a:pt x="52" y="1"/>
                      <a:pt x="53" y="1"/>
                    </a:cubicBezTo>
                    <a:cubicBezTo>
                      <a:pt x="58" y="7"/>
                      <a:pt x="58" y="7"/>
                      <a:pt x="58" y="7"/>
                    </a:cubicBezTo>
                    <a:cubicBezTo>
                      <a:pt x="58" y="7"/>
                      <a:pt x="59" y="8"/>
                      <a:pt x="59" y="9"/>
                    </a:cubicBezTo>
                    <a:cubicBezTo>
                      <a:pt x="59" y="10"/>
                      <a:pt x="58" y="11"/>
                      <a:pt x="58" y="12"/>
                    </a:cubicBezTo>
                    <a:close/>
                  </a:path>
                </a:pathLst>
              </a:custGeom>
              <a:solidFill>
                <a:srgbClr val="00B9D2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8" name="TextBox 18"/>
              <p:cNvSpPr txBox="1"/>
              <p:nvPr/>
            </p:nvSpPr>
            <p:spPr>
              <a:xfrm>
                <a:off x="1144170" y="2397829"/>
                <a:ext cx="4278730" cy="7408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400" i="0" u="none" strike="noStrike" kern="0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 Light" panose="020B0502040204020203" pitchFamily="34" charset="-122"/>
                    <a:ea typeface="微软雅黑 Light" panose="020B0502040204020203" pitchFamily="34" charset="-122"/>
                    <a:cs typeface="Open Sans" panose="020B0606030504020204" pitchFamily="34" charset="0"/>
                  </a:defRPr>
                </a:lvl1pPr>
              </a:lstStyle>
              <a:p>
                <a:r>
                  <a:rPr lang="en-US" dirty="0"/>
                  <a:t>Full Process Tracking: Complete logistics trajectory tracking and monitoring</a:t>
                </a:r>
                <a:endParaRPr lang="en-US" dirty="0"/>
              </a:p>
              <a:p>
                <a:r>
                  <a:rPr lang="zh-CN" altLang="en-US" dirty="0"/>
                  <a:t>全流程追踪​：完整的物流轨迹跟踪与监控。</a:t>
                </a:r>
                <a:endParaRPr lang="zh-CN" altLang="en-US" dirty="0"/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6165085" y="1268413"/>
            <a:ext cx="5765573" cy="4860925"/>
            <a:chOff x="6165085" y="1268413"/>
            <a:chExt cx="5765573" cy="4860925"/>
          </a:xfrm>
        </p:grpSpPr>
        <p:sp>
          <p:nvSpPr>
            <p:cNvPr id="5" name="文本框 4"/>
            <p:cNvSpPr txBox="1"/>
            <p:nvPr/>
          </p:nvSpPr>
          <p:spPr>
            <a:xfrm>
              <a:off x="6477596" y="4932402"/>
              <a:ext cx="5453062" cy="3297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400" i="0" u="none" strike="noStrike" kern="0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  <a:cs typeface="Open Sans" panose="020B0606030504020204" pitchFamily="34" charset="0"/>
                </a:defRPr>
              </a:lvl1pPr>
            </a:lstStyle>
            <a:p>
              <a:r>
                <a:rPr lang="en-US" altLang="zh-CN" dirty="0"/>
                <a:t>​</a:t>
              </a:r>
              <a:endParaRPr lang="en-US" altLang="zh-CN" dirty="0"/>
            </a:p>
          </p:txBody>
        </p:sp>
        <p:grpSp>
          <p:nvGrpSpPr>
            <p:cNvPr id="33" name="Group 7"/>
            <p:cNvGrpSpPr/>
            <p:nvPr/>
          </p:nvGrpSpPr>
          <p:grpSpPr>
            <a:xfrm>
              <a:off x="6477596" y="1426279"/>
              <a:ext cx="5066704" cy="330411"/>
              <a:chOff x="841204" y="2397829"/>
              <a:chExt cx="5066704" cy="330411"/>
            </a:xfrm>
          </p:grpSpPr>
          <p:sp>
            <p:nvSpPr>
              <p:cNvPr id="34" name="Freeform 29"/>
              <p:cNvSpPr/>
              <p:nvPr/>
            </p:nvSpPr>
            <p:spPr bwMode="auto">
              <a:xfrm>
                <a:off x="841204" y="2482193"/>
                <a:ext cx="197601" cy="152479"/>
              </a:xfrm>
              <a:custGeom>
                <a:avLst/>
                <a:gdLst>
                  <a:gd name="T0" fmla="*/ 198196 w 59"/>
                  <a:gd name="T1" fmla="*/ 41487 h 45"/>
                  <a:gd name="T2" fmla="*/ 102515 w 59"/>
                  <a:gd name="T3" fmla="*/ 134832 h 45"/>
                  <a:gd name="T4" fmla="*/ 85429 w 59"/>
                  <a:gd name="T5" fmla="*/ 152118 h 45"/>
                  <a:gd name="T6" fmla="*/ 78595 w 59"/>
                  <a:gd name="T7" fmla="*/ 155575 h 45"/>
                  <a:gd name="T8" fmla="*/ 68343 w 59"/>
                  <a:gd name="T9" fmla="*/ 152118 h 45"/>
                  <a:gd name="T10" fmla="*/ 51258 w 59"/>
                  <a:gd name="T11" fmla="*/ 134832 h 45"/>
                  <a:gd name="T12" fmla="*/ 3417 w 59"/>
                  <a:gd name="T13" fmla="*/ 89888 h 45"/>
                  <a:gd name="T14" fmla="*/ 0 w 59"/>
                  <a:gd name="T15" fmla="*/ 79516 h 45"/>
                  <a:gd name="T16" fmla="*/ 3417 w 59"/>
                  <a:gd name="T17" fmla="*/ 69144 h 45"/>
                  <a:gd name="T18" fmla="*/ 20503 w 59"/>
                  <a:gd name="T19" fmla="*/ 51858 h 45"/>
                  <a:gd name="T20" fmla="*/ 30755 w 59"/>
                  <a:gd name="T21" fmla="*/ 48401 h 45"/>
                  <a:gd name="T22" fmla="*/ 37589 w 59"/>
                  <a:gd name="T23" fmla="*/ 51858 h 45"/>
                  <a:gd name="T24" fmla="*/ 78595 w 59"/>
                  <a:gd name="T25" fmla="*/ 89888 h 45"/>
                  <a:gd name="T26" fmla="*/ 160607 w 59"/>
                  <a:gd name="T27" fmla="*/ 3457 h 45"/>
                  <a:gd name="T28" fmla="*/ 170858 w 59"/>
                  <a:gd name="T29" fmla="*/ 0 h 45"/>
                  <a:gd name="T30" fmla="*/ 181110 w 59"/>
                  <a:gd name="T31" fmla="*/ 3457 h 45"/>
                  <a:gd name="T32" fmla="*/ 198196 w 59"/>
                  <a:gd name="T33" fmla="*/ 24201 h 45"/>
                  <a:gd name="T34" fmla="*/ 201613 w 59"/>
                  <a:gd name="T35" fmla="*/ 31115 h 45"/>
                  <a:gd name="T36" fmla="*/ 198196 w 59"/>
                  <a:gd name="T37" fmla="*/ 41487 h 4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59" h="45">
                    <a:moveTo>
                      <a:pt x="58" y="12"/>
                    </a:moveTo>
                    <a:cubicBezTo>
                      <a:pt x="30" y="39"/>
                      <a:pt x="30" y="39"/>
                      <a:pt x="30" y="39"/>
                    </a:cubicBezTo>
                    <a:cubicBezTo>
                      <a:pt x="25" y="44"/>
                      <a:pt x="25" y="44"/>
                      <a:pt x="25" y="44"/>
                    </a:cubicBezTo>
                    <a:cubicBezTo>
                      <a:pt x="24" y="45"/>
                      <a:pt x="24" y="45"/>
                      <a:pt x="23" y="45"/>
                    </a:cubicBezTo>
                    <a:cubicBezTo>
                      <a:pt x="22" y="45"/>
                      <a:pt x="21" y="45"/>
                      <a:pt x="20" y="44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0" y="25"/>
                      <a:pt x="0" y="24"/>
                      <a:pt x="0" y="23"/>
                    </a:cubicBezTo>
                    <a:cubicBezTo>
                      <a:pt x="0" y="22"/>
                      <a:pt x="0" y="21"/>
                      <a:pt x="1" y="20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7" y="14"/>
                      <a:pt x="8" y="14"/>
                      <a:pt x="9" y="14"/>
                    </a:cubicBezTo>
                    <a:cubicBezTo>
                      <a:pt x="10" y="14"/>
                      <a:pt x="11" y="14"/>
                      <a:pt x="11" y="15"/>
                    </a:cubicBezTo>
                    <a:cubicBezTo>
                      <a:pt x="23" y="26"/>
                      <a:pt x="23" y="26"/>
                      <a:pt x="23" y="26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8" y="1"/>
                      <a:pt x="49" y="0"/>
                      <a:pt x="50" y="0"/>
                    </a:cubicBezTo>
                    <a:cubicBezTo>
                      <a:pt x="51" y="0"/>
                      <a:pt x="52" y="1"/>
                      <a:pt x="53" y="1"/>
                    </a:cubicBezTo>
                    <a:cubicBezTo>
                      <a:pt x="58" y="7"/>
                      <a:pt x="58" y="7"/>
                      <a:pt x="58" y="7"/>
                    </a:cubicBezTo>
                    <a:cubicBezTo>
                      <a:pt x="58" y="7"/>
                      <a:pt x="59" y="8"/>
                      <a:pt x="59" y="9"/>
                    </a:cubicBezTo>
                    <a:cubicBezTo>
                      <a:pt x="59" y="10"/>
                      <a:pt x="58" y="11"/>
                      <a:pt x="58" y="12"/>
                    </a:cubicBezTo>
                    <a:close/>
                  </a:path>
                </a:pathLst>
              </a:custGeom>
              <a:solidFill>
                <a:srgbClr val="00B9D2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5" name="TextBox 9"/>
              <p:cNvSpPr txBox="1"/>
              <p:nvPr/>
            </p:nvSpPr>
            <p:spPr>
              <a:xfrm>
                <a:off x="1144170" y="2397829"/>
                <a:ext cx="4763738" cy="297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400" i="0" u="none" strike="noStrike" kern="0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 Light" panose="020B0502040204020203" pitchFamily="34" charset="-122"/>
                    <a:ea typeface="微软雅黑 Light" panose="020B0502040204020203" pitchFamily="34" charset="-122"/>
                    <a:cs typeface="Open Sans" panose="020B0606030504020204" pitchFamily="34" charset="0"/>
                  </a:defRPr>
                </a:lvl1pPr>
              </a:lstStyle>
              <a:p>
                <a:r>
                  <a:rPr lang="en-US" dirty="0"/>
                  <a:t>Target Market &amp; Customer Base </a:t>
                </a:r>
                <a:r>
                  <a:rPr lang="zh-CN" altLang="en-US" dirty="0"/>
                  <a:t>目标市场与客户群​</a:t>
                </a:r>
                <a:endParaRPr lang="en-US" dirty="0"/>
              </a:p>
            </p:txBody>
          </p:sp>
        </p:grpSp>
        <p:grpSp>
          <p:nvGrpSpPr>
            <p:cNvPr id="39" name="Group 2"/>
            <p:cNvGrpSpPr/>
            <p:nvPr/>
          </p:nvGrpSpPr>
          <p:grpSpPr>
            <a:xfrm>
              <a:off x="6307784" y="2416284"/>
              <a:ext cx="4930775" cy="1142404"/>
              <a:chOff x="6117284" y="3787884"/>
              <a:chExt cx="4930775" cy="1142404"/>
            </a:xfrm>
          </p:grpSpPr>
          <p:sp>
            <p:nvSpPr>
              <p:cNvPr id="40" name="Round Diagonal Corner Rectangle 22"/>
              <p:cNvSpPr/>
              <p:nvPr/>
            </p:nvSpPr>
            <p:spPr>
              <a:xfrm flipV="1">
                <a:off x="6117284" y="3787884"/>
                <a:ext cx="4930775" cy="1142404"/>
              </a:xfrm>
              <a:prstGeom prst="round2DiagRect">
                <a:avLst>
                  <a:gd name="adj1" fmla="val 31181"/>
                  <a:gd name="adj2" fmla="val 0"/>
                </a:avLst>
              </a:prstGeom>
              <a:gradFill>
                <a:gsLst>
                  <a:gs pos="0">
                    <a:srgbClr val="00B9D2"/>
                  </a:gs>
                  <a:gs pos="100000">
                    <a:srgbClr val="015681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>
                <a:outerShdw blurRad="406400" dist="88900" dir="5400000" algn="t" rotWithShape="0">
                  <a:srgbClr val="3053FF">
                    <a:alpha val="4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41" name="Group 13"/>
              <p:cNvGrpSpPr/>
              <p:nvPr/>
            </p:nvGrpSpPr>
            <p:grpSpPr>
              <a:xfrm>
                <a:off x="6287096" y="3945650"/>
                <a:ext cx="4581696" cy="847476"/>
                <a:chOff x="841204" y="2397829"/>
                <a:chExt cx="4581696" cy="847476"/>
              </a:xfrm>
            </p:grpSpPr>
            <p:sp>
              <p:nvSpPr>
                <p:cNvPr id="42" name="Freeform 29"/>
                <p:cNvSpPr/>
                <p:nvPr/>
              </p:nvSpPr>
              <p:spPr bwMode="auto">
                <a:xfrm>
                  <a:off x="841204" y="2482193"/>
                  <a:ext cx="197601" cy="152479"/>
                </a:xfrm>
                <a:custGeom>
                  <a:avLst/>
                  <a:gdLst>
                    <a:gd name="T0" fmla="*/ 198196 w 59"/>
                    <a:gd name="T1" fmla="*/ 41487 h 45"/>
                    <a:gd name="T2" fmla="*/ 102515 w 59"/>
                    <a:gd name="T3" fmla="*/ 134832 h 45"/>
                    <a:gd name="T4" fmla="*/ 85429 w 59"/>
                    <a:gd name="T5" fmla="*/ 152118 h 45"/>
                    <a:gd name="T6" fmla="*/ 78595 w 59"/>
                    <a:gd name="T7" fmla="*/ 155575 h 45"/>
                    <a:gd name="T8" fmla="*/ 68343 w 59"/>
                    <a:gd name="T9" fmla="*/ 152118 h 45"/>
                    <a:gd name="T10" fmla="*/ 51258 w 59"/>
                    <a:gd name="T11" fmla="*/ 134832 h 45"/>
                    <a:gd name="T12" fmla="*/ 3417 w 59"/>
                    <a:gd name="T13" fmla="*/ 89888 h 45"/>
                    <a:gd name="T14" fmla="*/ 0 w 59"/>
                    <a:gd name="T15" fmla="*/ 79516 h 45"/>
                    <a:gd name="T16" fmla="*/ 3417 w 59"/>
                    <a:gd name="T17" fmla="*/ 69144 h 45"/>
                    <a:gd name="T18" fmla="*/ 20503 w 59"/>
                    <a:gd name="T19" fmla="*/ 51858 h 45"/>
                    <a:gd name="T20" fmla="*/ 30755 w 59"/>
                    <a:gd name="T21" fmla="*/ 48401 h 45"/>
                    <a:gd name="T22" fmla="*/ 37589 w 59"/>
                    <a:gd name="T23" fmla="*/ 51858 h 45"/>
                    <a:gd name="T24" fmla="*/ 78595 w 59"/>
                    <a:gd name="T25" fmla="*/ 89888 h 45"/>
                    <a:gd name="T26" fmla="*/ 160607 w 59"/>
                    <a:gd name="T27" fmla="*/ 3457 h 45"/>
                    <a:gd name="T28" fmla="*/ 170858 w 59"/>
                    <a:gd name="T29" fmla="*/ 0 h 45"/>
                    <a:gd name="T30" fmla="*/ 181110 w 59"/>
                    <a:gd name="T31" fmla="*/ 3457 h 45"/>
                    <a:gd name="T32" fmla="*/ 198196 w 59"/>
                    <a:gd name="T33" fmla="*/ 24201 h 45"/>
                    <a:gd name="T34" fmla="*/ 201613 w 59"/>
                    <a:gd name="T35" fmla="*/ 31115 h 45"/>
                    <a:gd name="T36" fmla="*/ 198196 w 59"/>
                    <a:gd name="T37" fmla="*/ 41487 h 45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59" h="45">
                      <a:moveTo>
                        <a:pt x="58" y="12"/>
                      </a:moveTo>
                      <a:cubicBezTo>
                        <a:pt x="30" y="39"/>
                        <a:pt x="30" y="39"/>
                        <a:pt x="30" y="39"/>
                      </a:cubicBezTo>
                      <a:cubicBezTo>
                        <a:pt x="25" y="44"/>
                        <a:pt x="25" y="44"/>
                        <a:pt x="25" y="44"/>
                      </a:cubicBezTo>
                      <a:cubicBezTo>
                        <a:pt x="24" y="45"/>
                        <a:pt x="24" y="45"/>
                        <a:pt x="23" y="45"/>
                      </a:cubicBezTo>
                      <a:cubicBezTo>
                        <a:pt x="22" y="45"/>
                        <a:pt x="21" y="45"/>
                        <a:pt x="20" y="44"/>
                      </a:cubicBezTo>
                      <a:cubicBezTo>
                        <a:pt x="15" y="39"/>
                        <a:pt x="15" y="39"/>
                        <a:pt x="15" y="39"/>
                      </a:cubicBezTo>
                      <a:cubicBezTo>
                        <a:pt x="1" y="26"/>
                        <a:pt x="1" y="26"/>
                        <a:pt x="1" y="26"/>
                      </a:cubicBezTo>
                      <a:cubicBezTo>
                        <a:pt x="0" y="25"/>
                        <a:pt x="0" y="24"/>
                        <a:pt x="0" y="23"/>
                      </a:cubicBezTo>
                      <a:cubicBezTo>
                        <a:pt x="0" y="22"/>
                        <a:pt x="0" y="21"/>
                        <a:pt x="1" y="20"/>
                      </a:cubicBezTo>
                      <a:cubicBezTo>
                        <a:pt x="6" y="15"/>
                        <a:pt x="6" y="15"/>
                        <a:pt x="6" y="15"/>
                      </a:cubicBezTo>
                      <a:cubicBezTo>
                        <a:pt x="7" y="14"/>
                        <a:pt x="8" y="14"/>
                        <a:pt x="9" y="14"/>
                      </a:cubicBezTo>
                      <a:cubicBezTo>
                        <a:pt x="10" y="14"/>
                        <a:pt x="11" y="14"/>
                        <a:pt x="11" y="15"/>
                      </a:cubicBezTo>
                      <a:cubicBezTo>
                        <a:pt x="23" y="26"/>
                        <a:pt x="23" y="26"/>
                        <a:pt x="23" y="26"/>
                      </a:cubicBezTo>
                      <a:cubicBezTo>
                        <a:pt x="47" y="1"/>
                        <a:pt x="47" y="1"/>
                        <a:pt x="47" y="1"/>
                      </a:cubicBezTo>
                      <a:cubicBezTo>
                        <a:pt x="48" y="1"/>
                        <a:pt x="49" y="0"/>
                        <a:pt x="50" y="0"/>
                      </a:cubicBezTo>
                      <a:cubicBezTo>
                        <a:pt x="51" y="0"/>
                        <a:pt x="52" y="1"/>
                        <a:pt x="53" y="1"/>
                      </a:cubicBezTo>
                      <a:cubicBezTo>
                        <a:pt x="58" y="7"/>
                        <a:pt x="58" y="7"/>
                        <a:pt x="58" y="7"/>
                      </a:cubicBezTo>
                      <a:cubicBezTo>
                        <a:pt x="58" y="7"/>
                        <a:pt x="59" y="8"/>
                        <a:pt x="59" y="9"/>
                      </a:cubicBezTo>
                      <a:cubicBezTo>
                        <a:pt x="59" y="10"/>
                        <a:pt x="58" y="11"/>
                        <a:pt x="58" y="12"/>
                      </a:cubicBezTo>
                      <a:close/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3" name="TextBox 15"/>
                <p:cNvSpPr txBox="1"/>
                <p:nvPr/>
              </p:nvSpPr>
              <p:spPr>
                <a:xfrm>
                  <a:off x="1144170" y="2397829"/>
                  <a:ext cx="4278730" cy="7408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R="0" lvl="0" indent="0" fontAlgn="auto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kumimoji="0" sz="1400" i="0" u="none" strike="noStrike" kern="0" cap="none" normalizeH="0" baseline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微软雅黑 Light" panose="020B0502040204020203" pitchFamily="34" charset="-122"/>
                      <a:ea typeface="微软雅黑 Light" panose="020B0502040204020203" pitchFamily="34" charset="-122"/>
                      <a:cs typeface="Open Sans" panose="020B0606030504020204" pitchFamily="34" charset="0"/>
                    </a:defRPr>
                  </a:lvl1pPr>
                </a:lstStyle>
                <a:p>
                  <a:r>
                    <a:rPr lang="en-US" dirty="0"/>
                    <a:t>DTC Brands: 70% of overseas DTC brands have their supply chain</a:t>
                  </a:r>
                  <a:endParaRPr lang="en-US" dirty="0"/>
                </a:p>
                <a:p>
                  <a:r>
                    <a:rPr lang="en-US" dirty="0"/>
                    <a:t>DTC</a:t>
                  </a:r>
                  <a:r>
                    <a:rPr lang="zh-CN" altLang="en-US" dirty="0"/>
                    <a:t>品牌​：</a:t>
                  </a:r>
                  <a:r>
                    <a:rPr lang="en-US" altLang="zh-CN" dirty="0"/>
                    <a:t>70%</a:t>
                  </a:r>
                  <a:r>
                    <a:rPr lang="zh-CN" altLang="en-US" dirty="0"/>
                    <a:t>的海外</a:t>
                  </a:r>
                  <a:r>
                    <a:rPr lang="en-US" dirty="0"/>
                    <a:t>DTC</a:t>
                  </a:r>
                  <a:r>
                    <a:rPr lang="zh-CN" altLang="en-US" dirty="0"/>
                    <a:t>品牌其供应链位于中国。</a:t>
                  </a:r>
                  <a:endParaRPr lang="zh-CN" altLang="en-US" dirty="0"/>
                </a:p>
              </p:txBody>
            </p:sp>
          </p:grpSp>
        </p:grpSp>
        <p:grpSp>
          <p:nvGrpSpPr>
            <p:cNvPr id="48" name="Group 19"/>
            <p:cNvGrpSpPr/>
            <p:nvPr/>
          </p:nvGrpSpPr>
          <p:grpSpPr>
            <a:xfrm>
              <a:off x="6477596" y="3721821"/>
              <a:ext cx="4760962" cy="1364541"/>
              <a:chOff x="841204" y="2397829"/>
              <a:chExt cx="4760962" cy="1364541"/>
            </a:xfrm>
          </p:grpSpPr>
          <p:sp>
            <p:nvSpPr>
              <p:cNvPr id="64" name="Freeform 29"/>
              <p:cNvSpPr/>
              <p:nvPr/>
            </p:nvSpPr>
            <p:spPr bwMode="auto">
              <a:xfrm>
                <a:off x="841204" y="2482193"/>
                <a:ext cx="197601" cy="152479"/>
              </a:xfrm>
              <a:custGeom>
                <a:avLst/>
                <a:gdLst>
                  <a:gd name="T0" fmla="*/ 198196 w 59"/>
                  <a:gd name="T1" fmla="*/ 41487 h 45"/>
                  <a:gd name="T2" fmla="*/ 102515 w 59"/>
                  <a:gd name="T3" fmla="*/ 134832 h 45"/>
                  <a:gd name="T4" fmla="*/ 85429 w 59"/>
                  <a:gd name="T5" fmla="*/ 152118 h 45"/>
                  <a:gd name="T6" fmla="*/ 78595 w 59"/>
                  <a:gd name="T7" fmla="*/ 155575 h 45"/>
                  <a:gd name="T8" fmla="*/ 68343 w 59"/>
                  <a:gd name="T9" fmla="*/ 152118 h 45"/>
                  <a:gd name="T10" fmla="*/ 51258 w 59"/>
                  <a:gd name="T11" fmla="*/ 134832 h 45"/>
                  <a:gd name="T12" fmla="*/ 3417 w 59"/>
                  <a:gd name="T13" fmla="*/ 89888 h 45"/>
                  <a:gd name="T14" fmla="*/ 0 w 59"/>
                  <a:gd name="T15" fmla="*/ 79516 h 45"/>
                  <a:gd name="T16" fmla="*/ 3417 w 59"/>
                  <a:gd name="T17" fmla="*/ 69144 h 45"/>
                  <a:gd name="T18" fmla="*/ 20503 w 59"/>
                  <a:gd name="T19" fmla="*/ 51858 h 45"/>
                  <a:gd name="T20" fmla="*/ 30755 w 59"/>
                  <a:gd name="T21" fmla="*/ 48401 h 45"/>
                  <a:gd name="T22" fmla="*/ 37589 w 59"/>
                  <a:gd name="T23" fmla="*/ 51858 h 45"/>
                  <a:gd name="T24" fmla="*/ 78595 w 59"/>
                  <a:gd name="T25" fmla="*/ 89888 h 45"/>
                  <a:gd name="T26" fmla="*/ 160607 w 59"/>
                  <a:gd name="T27" fmla="*/ 3457 h 45"/>
                  <a:gd name="T28" fmla="*/ 170858 w 59"/>
                  <a:gd name="T29" fmla="*/ 0 h 45"/>
                  <a:gd name="T30" fmla="*/ 181110 w 59"/>
                  <a:gd name="T31" fmla="*/ 3457 h 45"/>
                  <a:gd name="T32" fmla="*/ 198196 w 59"/>
                  <a:gd name="T33" fmla="*/ 24201 h 45"/>
                  <a:gd name="T34" fmla="*/ 201613 w 59"/>
                  <a:gd name="T35" fmla="*/ 31115 h 45"/>
                  <a:gd name="T36" fmla="*/ 198196 w 59"/>
                  <a:gd name="T37" fmla="*/ 41487 h 4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59" h="45">
                    <a:moveTo>
                      <a:pt x="58" y="12"/>
                    </a:moveTo>
                    <a:cubicBezTo>
                      <a:pt x="30" y="39"/>
                      <a:pt x="30" y="39"/>
                      <a:pt x="30" y="39"/>
                    </a:cubicBezTo>
                    <a:cubicBezTo>
                      <a:pt x="25" y="44"/>
                      <a:pt x="25" y="44"/>
                      <a:pt x="25" y="44"/>
                    </a:cubicBezTo>
                    <a:cubicBezTo>
                      <a:pt x="24" y="45"/>
                      <a:pt x="24" y="45"/>
                      <a:pt x="23" y="45"/>
                    </a:cubicBezTo>
                    <a:cubicBezTo>
                      <a:pt x="22" y="45"/>
                      <a:pt x="21" y="45"/>
                      <a:pt x="20" y="44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0" y="25"/>
                      <a:pt x="0" y="24"/>
                      <a:pt x="0" y="23"/>
                    </a:cubicBezTo>
                    <a:cubicBezTo>
                      <a:pt x="0" y="22"/>
                      <a:pt x="0" y="21"/>
                      <a:pt x="1" y="20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7" y="14"/>
                      <a:pt x="8" y="14"/>
                      <a:pt x="9" y="14"/>
                    </a:cubicBezTo>
                    <a:cubicBezTo>
                      <a:pt x="10" y="14"/>
                      <a:pt x="11" y="14"/>
                      <a:pt x="11" y="15"/>
                    </a:cubicBezTo>
                    <a:cubicBezTo>
                      <a:pt x="23" y="26"/>
                      <a:pt x="23" y="26"/>
                      <a:pt x="23" y="26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8" y="1"/>
                      <a:pt x="49" y="0"/>
                      <a:pt x="50" y="0"/>
                    </a:cubicBezTo>
                    <a:cubicBezTo>
                      <a:pt x="51" y="0"/>
                      <a:pt x="52" y="1"/>
                      <a:pt x="53" y="1"/>
                    </a:cubicBezTo>
                    <a:cubicBezTo>
                      <a:pt x="58" y="7"/>
                      <a:pt x="58" y="7"/>
                      <a:pt x="58" y="7"/>
                    </a:cubicBezTo>
                    <a:cubicBezTo>
                      <a:pt x="58" y="7"/>
                      <a:pt x="59" y="8"/>
                      <a:pt x="59" y="9"/>
                    </a:cubicBezTo>
                    <a:cubicBezTo>
                      <a:pt x="59" y="10"/>
                      <a:pt x="58" y="11"/>
                      <a:pt x="58" y="12"/>
                    </a:cubicBezTo>
                    <a:close/>
                  </a:path>
                </a:pathLst>
              </a:custGeom>
              <a:solidFill>
                <a:srgbClr val="00B9D2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5" name="TextBox 21"/>
              <p:cNvSpPr txBox="1"/>
              <p:nvPr/>
            </p:nvSpPr>
            <p:spPr>
              <a:xfrm>
                <a:off x="1144169" y="2397829"/>
                <a:ext cx="4457997" cy="1364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400" i="0" u="none" strike="noStrike" kern="0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 Light" panose="020B0502040204020203" pitchFamily="34" charset="-122"/>
                    <a:ea typeface="微软雅黑 Light" panose="020B0502040204020203" pitchFamily="34" charset="-122"/>
                    <a:cs typeface="Open Sans" panose="020B0606030504020204" pitchFamily="34" charset="0"/>
                  </a:defRPr>
                </a:lvl1pPr>
              </a:lstStyle>
              <a:p>
                <a:r>
                  <a:rPr lang="en-US" dirty="0"/>
                  <a:t>Geographic Distribution </a:t>
                </a:r>
                <a:r>
                  <a:rPr lang="zh-CN" altLang="en-US" dirty="0"/>
                  <a:t>地域分布​：</a:t>
                </a:r>
                <a:endParaRPr lang="zh-CN" altLang="en-US" dirty="0"/>
              </a:p>
              <a:p>
                <a:r>
                  <a:rPr lang="en-US" altLang="zh-CN" dirty="0"/>
                  <a:t>50% </a:t>
                </a:r>
                <a:r>
                  <a:rPr lang="en-US" dirty="0"/>
                  <a:t>North American brands（50%</a:t>
                </a:r>
                <a:r>
                  <a:rPr lang="zh-CN" altLang="en-US" dirty="0"/>
                  <a:t>为北美品牌）</a:t>
                </a:r>
                <a:endParaRPr lang="zh-CN" altLang="en-US" dirty="0"/>
              </a:p>
              <a:p>
                <a:r>
                  <a:rPr lang="en-US" altLang="zh-CN" dirty="0"/>
                  <a:t>30% </a:t>
                </a:r>
                <a:r>
                  <a:rPr lang="en-US" dirty="0"/>
                  <a:t>European brands （30%</a:t>
                </a:r>
                <a:r>
                  <a:rPr lang="zh-CN" altLang="en-US" dirty="0"/>
                  <a:t>为欧洲品牌）</a:t>
                </a:r>
                <a:endParaRPr lang="zh-CN" altLang="en-US" dirty="0"/>
              </a:p>
              <a:p>
                <a:r>
                  <a:rPr lang="en-US" altLang="zh-CN" dirty="0"/>
                  <a:t>20% </a:t>
                </a:r>
                <a:r>
                  <a:rPr lang="en-US" dirty="0"/>
                  <a:t>Asian brands (Malaysia, Singapore, etc.) （20%</a:t>
                </a:r>
                <a:r>
                  <a:rPr lang="zh-CN" altLang="en-US" dirty="0"/>
                  <a:t>为亚洲品牌（如马来西亚、新加坡等））</a:t>
                </a:r>
                <a:endParaRPr lang="zh-CN" altLang="en-US" dirty="0"/>
              </a:p>
            </p:txBody>
          </p:sp>
        </p:grpSp>
        <p:grpSp>
          <p:nvGrpSpPr>
            <p:cNvPr id="69" name="Group 7"/>
            <p:cNvGrpSpPr/>
            <p:nvPr/>
          </p:nvGrpSpPr>
          <p:grpSpPr>
            <a:xfrm>
              <a:off x="6477596" y="1846067"/>
              <a:ext cx="5066704" cy="329706"/>
              <a:chOff x="841204" y="2397829"/>
              <a:chExt cx="5066704" cy="329706"/>
            </a:xfrm>
          </p:grpSpPr>
          <p:sp>
            <p:nvSpPr>
              <p:cNvPr id="70" name="Freeform 29"/>
              <p:cNvSpPr/>
              <p:nvPr/>
            </p:nvSpPr>
            <p:spPr bwMode="auto">
              <a:xfrm>
                <a:off x="841204" y="2482193"/>
                <a:ext cx="197601" cy="152479"/>
              </a:xfrm>
              <a:custGeom>
                <a:avLst/>
                <a:gdLst>
                  <a:gd name="T0" fmla="*/ 198196 w 59"/>
                  <a:gd name="T1" fmla="*/ 41487 h 45"/>
                  <a:gd name="T2" fmla="*/ 102515 w 59"/>
                  <a:gd name="T3" fmla="*/ 134832 h 45"/>
                  <a:gd name="T4" fmla="*/ 85429 w 59"/>
                  <a:gd name="T5" fmla="*/ 152118 h 45"/>
                  <a:gd name="T6" fmla="*/ 78595 w 59"/>
                  <a:gd name="T7" fmla="*/ 155575 h 45"/>
                  <a:gd name="T8" fmla="*/ 68343 w 59"/>
                  <a:gd name="T9" fmla="*/ 152118 h 45"/>
                  <a:gd name="T10" fmla="*/ 51258 w 59"/>
                  <a:gd name="T11" fmla="*/ 134832 h 45"/>
                  <a:gd name="T12" fmla="*/ 3417 w 59"/>
                  <a:gd name="T13" fmla="*/ 89888 h 45"/>
                  <a:gd name="T14" fmla="*/ 0 w 59"/>
                  <a:gd name="T15" fmla="*/ 79516 h 45"/>
                  <a:gd name="T16" fmla="*/ 3417 w 59"/>
                  <a:gd name="T17" fmla="*/ 69144 h 45"/>
                  <a:gd name="T18" fmla="*/ 20503 w 59"/>
                  <a:gd name="T19" fmla="*/ 51858 h 45"/>
                  <a:gd name="T20" fmla="*/ 30755 w 59"/>
                  <a:gd name="T21" fmla="*/ 48401 h 45"/>
                  <a:gd name="T22" fmla="*/ 37589 w 59"/>
                  <a:gd name="T23" fmla="*/ 51858 h 45"/>
                  <a:gd name="T24" fmla="*/ 78595 w 59"/>
                  <a:gd name="T25" fmla="*/ 89888 h 45"/>
                  <a:gd name="T26" fmla="*/ 160607 w 59"/>
                  <a:gd name="T27" fmla="*/ 3457 h 45"/>
                  <a:gd name="T28" fmla="*/ 170858 w 59"/>
                  <a:gd name="T29" fmla="*/ 0 h 45"/>
                  <a:gd name="T30" fmla="*/ 181110 w 59"/>
                  <a:gd name="T31" fmla="*/ 3457 h 45"/>
                  <a:gd name="T32" fmla="*/ 198196 w 59"/>
                  <a:gd name="T33" fmla="*/ 24201 h 45"/>
                  <a:gd name="T34" fmla="*/ 201613 w 59"/>
                  <a:gd name="T35" fmla="*/ 31115 h 45"/>
                  <a:gd name="T36" fmla="*/ 198196 w 59"/>
                  <a:gd name="T37" fmla="*/ 41487 h 4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59" h="45">
                    <a:moveTo>
                      <a:pt x="58" y="12"/>
                    </a:moveTo>
                    <a:cubicBezTo>
                      <a:pt x="30" y="39"/>
                      <a:pt x="30" y="39"/>
                      <a:pt x="30" y="39"/>
                    </a:cubicBezTo>
                    <a:cubicBezTo>
                      <a:pt x="25" y="44"/>
                      <a:pt x="25" y="44"/>
                      <a:pt x="25" y="44"/>
                    </a:cubicBezTo>
                    <a:cubicBezTo>
                      <a:pt x="24" y="45"/>
                      <a:pt x="24" y="45"/>
                      <a:pt x="23" y="45"/>
                    </a:cubicBezTo>
                    <a:cubicBezTo>
                      <a:pt x="22" y="45"/>
                      <a:pt x="21" y="45"/>
                      <a:pt x="20" y="44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0" y="25"/>
                      <a:pt x="0" y="24"/>
                      <a:pt x="0" y="23"/>
                    </a:cubicBezTo>
                    <a:cubicBezTo>
                      <a:pt x="0" y="22"/>
                      <a:pt x="0" y="21"/>
                      <a:pt x="1" y="20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7" y="14"/>
                      <a:pt x="8" y="14"/>
                      <a:pt x="9" y="14"/>
                    </a:cubicBezTo>
                    <a:cubicBezTo>
                      <a:pt x="10" y="14"/>
                      <a:pt x="11" y="14"/>
                      <a:pt x="11" y="15"/>
                    </a:cubicBezTo>
                    <a:cubicBezTo>
                      <a:pt x="23" y="26"/>
                      <a:pt x="23" y="26"/>
                      <a:pt x="23" y="26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8" y="1"/>
                      <a:pt x="49" y="0"/>
                      <a:pt x="50" y="0"/>
                    </a:cubicBezTo>
                    <a:cubicBezTo>
                      <a:pt x="51" y="0"/>
                      <a:pt x="52" y="1"/>
                      <a:pt x="53" y="1"/>
                    </a:cubicBezTo>
                    <a:cubicBezTo>
                      <a:pt x="58" y="7"/>
                      <a:pt x="58" y="7"/>
                      <a:pt x="58" y="7"/>
                    </a:cubicBezTo>
                    <a:cubicBezTo>
                      <a:pt x="58" y="7"/>
                      <a:pt x="59" y="8"/>
                      <a:pt x="59" y="9"/>
                    </a:cubicBezTo>
                    <a:cubicBezTo>
                      <a:pt x="59" y="10"/>
                      <a:pt x="58" y="11"/>
                      <a:pt x="58" y="12"/>
                    </a:cubicBezTo>
                    <a:close/>
                  </a:path>
                </a:pathLst>
              </a:custGeom>
              <a:solidFill>
                <a:srgbClr val="00B9D2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1" name="TextBox 9"/>
              <p:cNvSpPr txBox="1"/>
              <p:nvPr/>
            </p:nvSpPr>
            <p:spPr>
              <a:xfrm>
                <a:off x="1144170" y="2397829"/>
                <a:ext cx="4763738" cy="297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400" i="0" u="none" strike="noStrike" kern="0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 Light" panose="020B0502040204020203" pitchFamily="34" charset="-122"/>
                    <a:ea typeface="微软雅黑 Light" panose="020B0502040204020203" pitchFamily="34" charset="-122"/>
                    <a:cs typeface="Open Sans" panose="020B0606030504020204" pitchFamily="34" charset="0"/>
                  </a:defRPr>
                </a:lvl1pPr>
              </a:lstStyle>
              <a:p>
                <a:r>
                  <a:rPr lang="en-US" dirty="0"/>
                  <a:t>​Primary Customers​ </a:t>
                </a:r>
                <a:r>
                  <a:rPr lang="zh-CN" altLang="en-US" dirty="0"/>
                  <a:t>主要客户​</a:t>
                </a:r>
                <a:endParaRPr lang="zh-CN" altLang="en-US" dirty="0"/>
              </a:p>
            </p:txBody>
          </p:sp>
        </p:grpSp>
        <p:sp>
          <p:nvSpPr>
            <p:cNvPr id="73" name="矩形: 圆角 72"/>
            <p:cNvSpPr/>
            <p:nvPr/>
          </p:nvSpPr>
          <p:spPr>
            <a:xfrm>
              <a:off x="6165085" y="1268413"/>
              <a:ext cx="5510979" cy="4860925"/>
            </a:xfrm>
            <a:prstGeom prst="roundRect">
              <a:avLst>
                <a:gd name="adj" fmla="val 1775"/>
              </a:avLst>
            </a:prstGeom>
            <a:noFill/>
            <a:ln>
              <a:solidFill>
                <a:srgbClr val="00B9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主流电商平台如下</a:t>
            </a:r>
            <a:r>
              <a:rPr lang="en-US" altLang="zh-CN" dirty="0"/>
              <a:t>Cross-border e-commerce platforms mainly cover the following</a:t>
            </a:r>
            <a:endParaRPr lang="en-US" altLang="zh-CN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435" y="1476375"/>
            <a:ext cx="11513820" cy="4603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515937" y="1268413"/>
            <a:ext cx="6072391" cy="2541017"/>
          </a:xfrm>
          <a:prstGeom prst="roundRect">
            <a:avLst>
              <a:gd name="adj" fmla="val 4919"/>
            </a:avLst>
          </a:prstGeom>
          <a:solidFill>
            <a:srgbClr val="00B9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515937" y="3905097"/>
            <a:ext cx="6072391" cy="2224241"/>
          </a:xfrm>
          <a:prstGeom prst="roundRect">
            <a:avLst>
              <a:gd name="adj" fmla="val 49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核心价值​ </a:t>
            </a:r>
            <a:r>
              <a:rPr lang="en-US" altLang="zh-CN" dirty="0"/>
              <a:t>Core Value</a:t>
            </a:r>
            <a:endParaRPr lang="zh-CN" altLang="en-US" dirty="0"/>
          </a:p>
        </p:txBody>
      </p:sp>
      <p:sp>
        <p:nvSpPr>
          <p:cNvPr id="2" name="TextBox 5"/>
          <p:cNvSpPr txBox="1"/>
          <p:nvPr/>
        </p:nvSpPr>
        <p:spPr>
          <a:xfrm>
            <a:off x="795337" y="1437395"/>
            <a:ext cx="5300663" cy="1841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i="0" u="none" strike="noStrike" kern="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Open Sans" panose="020B0606030504020204" pitchFamily="34" charset="0"/>
              </a:rPr>
              <a:t>Behind every great brand is a powerful supply chain. We are that foundation for your global success.</a:t>
            </a:r>
            <a:endParaRPr kumimoji="0" lang="en-US" sz="1600" i="0" u="none" strike="noStrike" kern="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Open Sans" panose="020B0606030504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i="0" u="none" strike="noStrike" kern="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Open Sans" panose="020B0606030504020204" pitchFamily="34" charset="0"/>
              </a:rPr>
              <a:t>Helping your brand reach the world and build its reputation.</a:t>
            </a:r>
            <a:endParaRPr kumimoji="0" lang="en-US" sz="1600" i="0" u="none" strike="noStrike" kern="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Open Sans" panose="020B0606030504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Open Sans" panose="020B0606030504020204" pitchFamily="34" charset="0"/>
              </a:rPr>
              <a:t>每一个卓越品牌的背后，都有一条强大的供应链。我们正是您全球成功的基石，助力您的品牌畅行全球。</a:t>
            </a:r>
            <a:endParaRPr kumimoji="0" lang="zh-CN" altLang="en-US" sz="1600" i="0" u="none" strike="noStrike" kern="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Open Sans" panose="020B0606030504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7205" y="3989705"/>
            <a:ext cx="5329555" cy="17252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i="0" u="none" strike="noStrike" kern="0" cap="none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Open Sans" panose="020B0606030504020204" pitchFamily="34" charset="0"/>
              </a:defRPr>
            </a:lvl1pPr>
          </a:lstStyle>
          <a:p>
            <a:r>
              <a:rPr lang="en-US" altLang="zh-CN" sz="1600" b="1" dirty="0">
                <a:solidFill>
                  <a:srgbClr val="00B9D2"/>
                </a:solidFill>
              </a:rPr>
              <a:t>Schedule a Free Consultation​ </a:t>
            </a:r>
            <a:endParaRPr lang="en-US" altLang="zh-CN" sz="1600" b="1" dirty="0">
              <a:solidFill>
                <a:srgbClr val="00B9D2"/>
              </a:solidFill>
            </a:endParaRPr>
          </a:p>
          <a:p>
            <a:r>
              <a:rPr lang="zh-CN" altLang="en-US" sz="1600" b="1" dirty="0">
                <a:solidFill>
                  <a:srgbClr val="00B9D2"/>
                </a:solidFill>
              </a:rPr>
              <a:t>预约免费咨询</a:t>
            </a:r>
            <a:endParaRPr lang="zh-CN" altLang="en-US" sz="1600" b="1" dirty="0">
              <a:solidFill>
                <a:srgbClr val="00B9D2"/>
              </a:solidFill>
            </a:endParaRPr>
          </a:p>
          <a:p>
            <a:r>
              <a:rPr lang="en-US" altLang="zh-CN" sz="1600" b="1" dirty="0">
                <a:solidFill>
                  <a:srgbClr val="00B9D2"/>
                </a:solidFill>
              </a:rPr>
              <a:t>​Get a Custom Quote in 24 Hours​ </a:t>
            </a:r>
            <a:endParaRPr lang="en-US" altLang="zh-CN" sz="1600" b="1" dirty="0">
              <a:solidFill>
                <a:srgbClr val="00B9D2"/>
              </a:solidFill>
            </a:endParaRPr>
          </a:p>
          <a:p>
            <a:r>
              <a:rPr lang="en-US" altLang="zh-CN" sz="1600" b="1" dirty="0">
                <a:solidFill>
                  <a:srgbClr val="00B9D2"/>
                </a:solidFill>
              </a:rPr>
              <a:t>24</a:t>
            </a:r>
            <a:r>
              <a:rPr lang="zh-CN" altLang="en-US" sz="1600" b="1" dirty="0">
                <a:solidFill>
                  <a:srgbClr val="00B9D2"/>
                </a:solidFill>
              </a:rPr>
              <a:t>小时内获取定制报价</a:t>
            </a:r>
            <a:endParaRPr lang="zh-CN" altLang="en-US" sz="1600" b="1" dirty="0">
              <a:solidFill>
                <a:srgbClr val="00B9D2"/>
              </a:solidFill>
            </a:endParaRPr>
          </a:p>
          <a:p>
            <a:r>
              <a:rPr lang="en-US" altLang="zh-CN" sz="1600" b="1" dirty="0" err="1">
                <a:solidFill>
                  <a:srgbClr val="00B9D2"/>
                </a:solidFill>
              </a:rPr>
              <a:t>Ccontact</a:t>
            </a:r>
            <a:r>
              <a:rPr lang="en-US" altLang="zh-CN" sz="1600" b="1" dirty="0">
                <a:solidFill>
                  <a:srgbClr val="00B9D2"/>
                </a:solidFill>
              </a:rPr>
              <a:t> Information</a:t>
            </a:r>
            <a:r>
              <a:rPr lang="zh-CN" altLang="en-US" sz="1600" b="1" dirty="0">
                <a:solidFill>
                  <a:srgbClr val="00B9D2"/>
                </a:solidFill>
              </a:rPr>
              <a:t>联系方式</a:t>
            </a:r>
            <a:endParaRPr lang="zh-CN" altLang="en-US" sz="1600" b="1" dirty="0">
              <a:solidFill>
                <a:srgbClr val="00B9D2"/>
              </a:solidFill>
            </a:endParaRPr>
          </a:p>
          <a:p>
            <a:r>
              <a:rPr lang="en-US" altLang="zh-CN" sz="1600" b="1" dirty="0">
                <a:solidFill>
                  <a:srgbClr val="00B9D2"/>
                </a:solidFill>
              </a:rPr>
              <a:t>E</a:t>
            </a:r>
            <a:r>
              <a:rPr lang="en-US" altLang="zh-CN" sz="1600" b="1" dirty="0">
                <a:solidFill>
                  <a:srgbClr val="00B9D2"/>
                </a:solidFill>
              </a:rPr>
              <a:t>mail: partner.globallink.sc@gmail.com</a:t>
            </a:r>
            <a:endParaRPr lang="en-US" altLang="zh-CN" sz="1600" b="1" dirty="0">
              <a:solidFill>
                <a:srgbClr val="00B9D2"/>
              </a:solidFill>
            </a:endParaRPr>
          </a:p>
          <a:p>
            <a:r>
              <a:rPr lang="en-US" altLang="zh-CN" sz="1600" b="1" dirty="0">
                <a:solidFill>
                  <a:srgbClr val="00B9D2"/>
                </a:solidFill>
              </a:rPr>
              <a:t>Ava Phone: + 86 191 5232 9812</a:t>
            </a:r>
            <a:endParaRPr lang="en-US" altLang="zh-CN" sz="1600" b="1" dirty="0">
              <a:solidFill>
                <a:srgbClr val="00B9D2"/>
              </a:solidFill>
            </a:endParaRPr>
          </a:p>
          <a:p>
            <a:endParaRPr lang="en-US" altLang="zh-CN" sz="1600" b="1" dirty="0">
              <a:solidFill>
                <a:srgbClr val="00B9D2"/>
              </a:solidFill>
            </a:endParaRPr>
          </a:p>
        </p:txBody>
      </p:sp>
      <p:pic>
        <p:nvPicPr>
          <p:cNvPr id="6" name="图片 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289"/>
          <a:stretch>
            <a:fillRect/>
          </a:stretch>
        </p:blipFill>
        <p:spPr>
          <a:xfrm>
            <a:off x="8661626" y="1268413"/>
            <a:ext cx="3014436" cy="4860925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6632892" y="1268413"/>
            <a:ext cx="1984171" cy="4860925"/>
            <a:chOff x="6181204" y="1268413"/>
            <a:chExt cx="2435859" cy="5967493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81204" y="1268413"/>
              <a:ext cx="2435859" cy="1365931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81204" y="2664674"/>
              <a:ext cx="2435859" cy="1370385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81204" y="4065389"/>
              <a:ext cx="2435858" cy="1370384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81205" y="5466103"/>
              <a:ext cx="2435858" cy="1769803"/>
            </a:xfrm>
            <a:prstGeom prst="rect">
              <a:avLst/>
            </a:prstGeom>
          </p:spPr>
        </p:pic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7545" y="3989070"/>
            <a:ext cx="1983740" cy="2016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图片 98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0" name="矩形 99"/>
          <p:cNvSpPr/>
          <p:nvPr/>
        </p:nvSpPr>
        <p:spPr>
          <a:xfrm>
            <a:off x="0" y="0"/>
            <a:ext cx="12191998" cy="6858000"/>
          </a:xfrm>
          <a:prstGeom prst="rect">
            <a:avLst/>
          </a:prstGeom>
          <a:gradFill flip="none" rotWithShape="1">
            <a:gsLst>
              <a:gs pos="0">
                <a:srgbClr val="040C21">
                  <a:alpha val="70000"/>
                </a:srgbClr>
              </a:gs>
              <a:gs pos="48000">
                <a:srgbClr val="061830">
                  <a:alpha val="70000"/>
                </a:srgbClr>
              </a:gs>
              <a:gs pos="100000">
                <a:srgbClr val="0C3957">
                  <a:alpha val="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3" name="Group 85"/>
          <p:cNvGrpSpPr/>
          <p:nvPr/>
        </p:nvGrpSpPr>
        <p:grpSpPr>
          <a:xfrm>
            <a:off x="6275604" y="1268412"/>
            <a:ext cx="5400457" cy="4869202"/>
            <a:chOff x="2006641" y="2397540"/>
            <a:chExt cx="8599254" cy="5697824"/>
          </a:xfrm>
        </p:grpSpPr>
        <p:sp>
          <p:nvSpPr>
            <p:cNvPr id="88" name="Rectangle: Rounded Corners 90"/>
            <p:cNvSpPr/>
            <p:nvPr/>
          </p:nvSpPr>
          <p:spPr>
            <a:xfrm>
              <a:off x="2006641" y="2397544"/>
              <a:ext cx="8599254" cy="5697820"/>
            </a:xfrm>
            <a:prstGeom prst="roundRect">
              <a:avLst>
                <a:gd name="adj" fmla="val 3171"/>
              </a:avLst>
            </a:prstGeom>
            <a:solidFill>
              <a:srgbClr val="015681">
                <a:alpha val="55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sx="90000" sy="90000" algn="ctr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2857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Rectangle: Top Corners Rounded 92"/>
            <p:cNvSpPr/>
            <p:nvPr/>
          </p:nvSpPr>
          <p:spPr>
            <a:xfrm>
              <a:off x="2006641" y="2397540"/>
              <a:ext cx="8599254" cy="201662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2857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12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1" name="Group 59"/>
          <p:cNvGrpSpPr/>
          <p:nvPr/>
        </p:nvGrpSpPr>
        <p:grpSpPr>
          <a:xfrm>
            <a:off x="515937" y="1260140"/>
            <a:ext cx="5400460" cy="4869200"/>
            <a:chOff x="2006639" y="2397540"/>
            <a:chExt cx="8599257" cy="5697811"/>
          </a:xfrm>
        </p:grpSpPr>
        <p:sp>
          <p:nvSpPr>
            <p:cNvPr id="66" name="Rectangle: Rounded Corners 64"/>
            <p:cNvSpPr/>
            <p:nvPr/>
          </p:nvSpPr>
          <p:spPr>
            <a:xfrm>
              <a:off x="2006641" y="2397541"/>
              <a:ext cx="8599255" cy="5697810"/>
            </a:xfrm>
            <a:prstGeom prst="roundRect">
              <a:avLst>
                <a:gd name="adj" fmla="val 3937"/>
              </a:avLst>
            </a:prstGeom>
            <a:solidFill>
              <a:srgbClr val="015681">
                <a:alpha val="55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sx="90000" sy="90000" algn="ctr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2857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Rectangle: Top Corners Rounded 66"/>
            <p:cNvSpPr/>
            <p:nvPr/>
          </p:nvSpPr>
          <p:spPr>
            <a:xfrm>
              <a:off x="2006639" y="2397540"/>
              <a:ext cx="8599255" cy="211342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2857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12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2" name="Group 60"/>
          <p:cNvGrpSpPr/>
          <p:nvPr/>
        </p:nvGrpSpPr>
        <p:grpSpPr>
          <a:xfrm>
            <a:off x="747658" y="1667967"/>
            <a:ext cx="539241" cy="539240"/>
            <a:chOff x="8332318" y="3422521"/>
            <a:chExt cx="485834" cy="485832"/>
          </a:xfrm>
        </p:grpSpPr>
        <p:sp>
          <p:nvSpPr>
            <p:cNvPr id="63" name="Oval 61"/>
            <p:cNvSpPr/>
            <p:nvPr/>
          </p:nvSpPr>
          <p:spPr>
            <a:xfrm>
              <a:off x="8332318" y="3422521"/>
              <a:ext cx="485834" cy="485832"/>
            </a:xfrm>
            <a:prstGeom prst="ellipse">
              <a:avLst/>
            </a:prstGeom>
            <a:solidFill>
              <a:srgbClr val="015681">
                <a:alpha val="3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2857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Oval 62"/>
            <p:cNvSpPr/>
            <p:nvPr/>
          </p:nvSpPr>
          <p:spPr>
            <a:xfrm>
              <a:off x="8385361" y="3475564"/>
              <a:ext cx="379747" cy="379746"/>
            </a:xfrm>
            <a:prstGeom prst="ellipse">
              <a:avLst/>
            </a:prstGeom>
            <a:solidFill>
              <a:srgbClr val="00B9D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2857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Freeform 229"/>
            <p:cNvSpPr/>
            <p:nvPr/>
          </p:nvSpPr>
          <p:spPr bwMode="auto">
            <a:xfrm>
              <a:off x="8504072" y="3616544"/>
              <a:ext cx="142328" cy="97786"/>
            </a:xfrm>
            <a:custGeom>
              <a:avLst/>
              <a:gdLst>
                <a:gd name="T0" fmla="*/ 124 w 16128"/>
                <a:gd name="T1" fmla="*/ 7223 h 11872"/>
                <a:gd name="T2" fmla="*/ 59 w 16128"/>
                <a:gd name="T3" fmla="*/ 7113 h 11872"/>
                <a:gd name="T4" fmla="*/ 18 w 16128"/>
                <a:gd name="T5" fmla="*/ 6994 h 11872"/>
                <a:gd name="T6" fmla="*/ 1 w 16128"/>
                <a:gd name="T7" fmla="*/ 6871 h 11872"/>
                <a:gd name="T8" fmla="*/ 7 w 16128"/>
                <a:gd name="T9" fmla="*/ 6747 h 11872"/>
                <a:gd name="T10" fmla="*/ 36 w 16128"/>
                <a:gd name="T11" fmla="*/ 6626 h 11872"/>
                <a:gd name="T12" fmla="*/ 90 w 16128"/>
                <a:gd name="T13" fmla="*/ 6512 h 11872"/>
                <a:gd name="T14" fmla="*/ 165 w 16128"/>
                <a:gd name="T15" fmla="*/ 6408 h 11872"/>
                <a:gd name="T16" fmla="*/ 1850 w 16128"/>
                <a:gd name="T17" fmla="*/ 4727 h 11872"/>
                <a:gd name="T18" fmla="*/ 1957 w 16128"/>
                <a:gd name="T19" fmla="*/ 4656 h 11872"/>
                <a:gd name="T20" fmla="*/ 2073 w 16128"/>
                <a:gd name="T21" fmla="*/ 4609 h 11872"/>
                <a:gd name="T22" fmla="*/ 2195 w 16128"/>
                <a:gd name="T23" fmla="*/ 4586 h 11872"/>
                <a:gd name="T24" fmla="*/ 2319 w 16128"/>
                <a:gd name="T25" fmla="*/ 4586 h 11872"/>
                <a:gd name="T26" fmla="*/ 2441 w 16128"/>
                <a:gd name="T27" fmla="*/ 4609 h 11872"/>
                <a:gd name="T28" fmla="*/ 2558 w 16128"/>
                <a:gd name="T29" fmla="*/ 4656 h 11872"/>
                <a:gd name="T30" fmla="*/ 2665 w 16128"/>
                <a:gd name="T31" fmla="*/ 4727 h 11872"/>
                <a:gd name="T32" fmla="*/ 5357 w 16128"/>
                <a:gd name="T33" fmla="*/ 7406 h 11872"/>
                <a:gd name="T34" fmla="*/ 5460 w 16128"/>
                <a:gd name="T35" fmla="*/ 7483 h 11872"/>
                <a:gd name="T36" fmla="*/ 5575 w 16128"/>
                <a:gd name="T37" fmla="*/ 7535 h 11872"/>
                <a:gd name="T38" fmla="*/ 5696 w 16128"/>
                <a:gd name="T39" fmla="*/ 7565 h 11872"/>
                <a:gd name="T40" fmla="*/ 5819 w 16128"/>
                <a:gd name="T41" fmla="*/ 7571 h 11872"/>
                <a:gd name="T42" fmla="*/ 5942 w 16128"/>
                <a:gd name="T43" fmla="*/ 7552 h 11872"/>
                <a:gd name="T44" fmla="*/ 6060 w 16128"/>
                <a:gd name="T45" fmla="*/ 7512 h 11872"/>
                <a:gd name="T46" fmla="*/ 6170 w 16128"/>
                <a:gd name="T47" fmla="*/ 7447 h 11872"/>
                <a:gd name="T48" fmla="*/ 13421 w 16128"/>
                <a:gd name="T49" fmla="*/ 190 h 11872"/>
                <a:gd name="T50" fmla="*/ 13521 w 16128"/>
                <a:gd name="T51" fmla="*/ 107 h 11872"/>
                <a:gd name="T52" fmla="*/ 13634 w 16128"/>
                <a:gd name="T53" fmla="*/ 47 h 11872"/>
                <a:gd name="T54" fmla="*/ 13753 w 16128"/>
                <a:gd name="T55" fmla="*/ 12 h 11872"/>
                <a:gd name="T56" fmla="*/ 13877 w 16128"/>
                <a:gd name="T57" fmla="*/ 0 h 11872"/>
                <a:gd name="T58" fmla="*/ 14000 w 16128"/>
                <a:gd name="T59" fmla="*/ 11 h 11872"/>
                <a:gd name="T60" fmla="*/ 14120 w 16128"/>
                <a:gd name="T61" fmla="*/ 46 h 11872"/>
                <a:gd name="T62" fmla="*/ 14233 w 16128"/>
                <a:gd name="T63" fmla="*/ 105 h 11872"/>
                <a:gd name="T64" fmla="*/ 14334 w 16128"/>
                <a:gd name="T65" fmla="*/ 186 h 11872"/>
                <a:gd name="T66" fmla="*/ 16003 w 16128"/>
                <a:gd name="T67" fmla="*/ 1855 h 11872"/>
                <a:gd name="T68" fmla="*/ 16068 w 16128"/>
                <a:gd name="T69" fmla="*/ 1964 h 11872"/>
                <a:gd name="T70" fmla="*/ 16109 w 16128"/>
                <a:gd name="T71" fmla="*/ 2082 h 11872"/>
                <a:gd name="T72" fmla="*/ 16127 w 16128"/>
                <a:gd name="T73" fmla="*/ 2205 h 11872"/>
                <a:gd name="T74" fmla="*/ 16122 w 16128"/>
                <a:gd name="T75" fmla="*/ 2328 h 11872"/>
                <a:gd name="T76" fmla="*/ 16093 w 16128"/>
                <a:gd name="T77" fmla="*/ 2449 h 11872"/>
                <a:gd name="T78" fmla="*/ 16039 w 16128"/>
                <a:gd name="T79" fmla="*/ 2564 h 11872"/>
                <a:gd name="T80" fmla="*/ 15964 w 16128"/>
                <a:gd name="T81" fmla="*/ 2667 h 11872"/>
                <a:gd name="T82" fmla="*/ 7188 w 16128"/>
                <a:gd name="T83" fmla="*/ 11462 h 11872"/>
                <a:gd name="T84" fmla="*/ 7074 w 16128"/>
                <a:gd name="T85" fmla="*/ 11550 h 11872"/>
                <a:gd name="T86" fmla="*/ 6943 w 16128"/>
                <a:gd name="T87" fmla="*/ 11632 h 11872"/>
                <a:gd name="T88" fmla="*/ 6801 w 16128"/>
                <a:gd name="T89" fmla="*/ 11706 h 11872"/>
                <a:gd name="T90" fmla="*/ 6652 w 16128"/>
                <a:gd name="T91" fmla="*/ 11767 h 11872"/>
                <a:gd name="T92" fmla="*/ 6500 w 16128"/>
                <a:gd name="T93" fmla="*/ 11817 h 11872"/>
                <a:gd name="T94" fmla="*/ 6349 w 16128"/>
                <a:gd name="T95" fmla="*/ 11852 h 11872"/>
                <a:gd name="T96" fmla="*/ 6205 w 16128"/>
                <a:gd name="T97" fmla="*/ 11870 h 11872"/>
                <a:gd name="T98" fmla="*/ 5352 w 16128"/>
                <a:gd name="T99" fmla="*/ 11871 h 11872"/>
                <a:gd name="T100" fmla="*/ 5210 w 16128"/>
                <a:gd name="T101" fmla="*/ 11858 h 11872"/>
                <a:gd name="T102" fmla="*/ 5062 w 16128"/>
                <a:gd name="T103" fmla="*/ 11827 h 11872"/>
                <a:gd name="T104" fmla="*/ 4910 w 16128"/>
                <a:gd name="T105" fmla="*/ 11780 h 11872"/>
                <a:gd name="T106" fmla="*/ 4760 w 16128"/>
                <a:gd name="T107" fmla="*/ 11722 h 11872"/>
                <a:gd name="T108" fmla="*/ 4615 w 16128"/>
                <a:gd name="T109" fmla="*/ 11651 h 11872"/>
                <a:gd name="T110" fmla="*/ 4481 w 16128"/>
                <a:gd name="T111" fmla="*/ 11572 h 11872"/>
                <a:gd name="T112" fmla="*/ 4363 w 16128"/>
                <a:gd name="T113" fmla="*/ 11484 h 11872"/>
                <a:gd name="T114" fmla="*/ 187 w 16128"/>
                <a:gd name="T115" fmla="*/ 7297 h 11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128" h="11872">
                  <a:moveTo>
                    <a:pt x="187" y="7297"/>
                  </a:moveTo>
                  <a:lnTo>
                    <a:pt x="164" y="7273"/>
                  </a:lnTo>
                  <a:lnTo>
                    <a:pt x="143" y="7248"/>
                  </a:lnTo>
                  <a:lnTo>
                    <a:pt x="124" y="7223"/>
                  </a:lnTo>
                  <a:lnTo>
                    <a:pt x="106" y="7196"/>
                  </a:lnTo>
                  <a:lnTo>
                    <a:pt x="89" y="7168"/>
                  </a:lnTo>
                  <a:lnTo>
                    <a:pt x="74" y="7141"/>
                  </a:lnTo>
                  <a:lnTo>
                    <a:pt x="59" y="7113"/>
                  </a:lnTo>
                  <a:lnTo>
                    <a:pt x="46" y="7084"/>
                  </a:lnTo>
                  <a:lnTo>
                    <a:pt x="35" y="7054"/>
                  </a:lnTo>
                  <a:lnTo>
                    <a:pt x="26" y="7024"/>
                  </a:lnTo>
                  <a:lnTo>
                    <a:pt x="18" y="6994"/>
                  </a:lnTo>
                  <a:lnTo>
                    <a:pt x="12" y="6964"/>
                  </a:lnTo>
                  <a:lnTo>
                    <a:pt x="6" y="6933"/>
                  </a:lnTo>
                  <a:lnTo>
                    <a:pt x="3" y="6902"/>
                  </a:lnTo>
                  <a:lnTo>
                    <a:pt x="1" y="6871"/>
                  </a:lnTo>
                  <a:lnTo>
                    <a:pt x="0" y="6841"/>
                  </a:lnTo>
                  <a:lnTo>
                    <a:pt x="1" y="6809"/>
                  </a:lnTo>
                  <a:lnTo>
                    <a:pt x="3" y="6778"/>
                  </a:lnTo>
                  <a:lnTo>
                    <a:pt x="7" y="6747"/>
                  </a:lnTo>
                  <a:lnTo>
                    <a:pt x="12" y="6717"/>
                  </a:lnTo>
                  <a:lnTo>
                    <a:pt x="18" y="6687"/>
                  </a:lnTo>
                  <a:lnTo>
                    <a:pt x="26" y="6656"/>
                  </a:lnTo>
                  <a:lnTo>
                    <a:pt x="36" y="6626"/>
                  </a:lnTo>
                  <a:lnTo>
                    <a:pt x="47" y="6597"/>
                  </a:lnTo>
                  <a:lnTo>
                    <a:pt x="59" y="6569"/>
                  </a:lnTo>
                  <a:lnTo>
                    <a:pt x="74" y="6539"/>
                  </a:lnTo>
                  <a:lnTo>
                    <a:pt x="90" y="6512"/>
                  </a:lnTo>
                  <a:lnTo>
                    <a:pt x="106" y="6485"/>
                  </a:lnTo>
                  <a:lnTo>
                    <a:pt x="125" y="6459"/>
                  </a:lnTo>
                  <a:lnTo>
                    <a:pt x="144" y="6432"/>
                  </a:lnTo>
                  <a:lnTo>
                    <a:pt x="165" y="6408"/>
                  </a:lnTo>
                  <a:lnTo>
                    <a:pt x="188" y="6384"/>
                  </a:lnTo>
                  <a:lnTo>
                    <a:pt x="1801" y="4771"/>
                  </a:lnTo>
                  <a:lnTo>
                    <a:pt x="1824" y="4748"/>
                  </a:lnTo>
                  <a:lnTo>
                    <a:pt x="1850" y="4727"/>
                  </a:lnTo>
                  <a:lnTo>
                    <a:pt x="1876" y="4707"/>
                  </a:lnTo>
                  <a:lnTo>
                    <a:pt x="1902" y="4689"/>
                  </a:lnTo>
                  <a:lnTo>
                    <a:pt x="1929" y="4671"/>
                  </a:lnTo>
                  <a:lnTo>
                    <a:pt x="1957" y="4656"/>
                  </a:lnTo>
                  <a:lnTo>
                    <a:pt x="1985" y="4642"/>
                  </a:lnTo>
                  <a:lnTo>
                    <a:pt x="2014" y="4630"/>
                  </a:lnTo>
                  <a:lnTo>
                    <a:pt x="2043" y="4619"/>
                  </a:lnTo>
                  <a:lnTo>
                    <a:pt x="2073" y="4609"/>
                  </a:lnTo>
                  <a:lnTo>
                    <a:pt x="2104" y="4601"/>
                  </a:lnTo>
                  <a:lnTo>
                    <a:pt x="2134" y="4595"/>
                  </a:lnTo>
                  <a:lnTo>
                    <a:pt x="2164" y="4590"/>
                  </a:lnTo>
                  <a:lnTo>
                    <a:pt x="2195" y="4586"/>
                  </a:lnTo>
                  <a:lnTo>
                    <a:pt x="2227" y="4584"/>
                  </a:lnTo>
                  <a:lnTo>
                    <a:pt x="2257" y="4583"/>
                  </a:lnTo>
                  <a:lnTo>
                    <a:pt x="2288" y="4584"/>
                  </a:lnTo>
                  <a:lnTo>
                    <a:pt x="2319" y="4586"/>
                  </a:lnTo>
                  <a:lnTo>
                    <a:pt x="2350" y="4590"/>
                  </a:lnTo>
                  <a:lnTo>
                    <a:pt x="2381" y="4595"/>
                  </a:lnTo>
                  <a:lnTo>
                    <a:pt x="2411" y="4601"/>
                  </a:lnTo>
                  <a:lnTo>
                    <a:pt x="2441" y="4609"/>
                  </a:lnTo>
                  <a:lnTo>
                    <a:pt x="2472" y="4619"/>
                  </a:lnTo>
                  <a:lnTo>
                    <a:pt x="2501" y="4630"/>
                  </a:lnTo>
                  <a:lnTo>
                    <a:pt x="2529" y="4642"/>
                  </a:lnTo>
                  <a:lnTo>
                    <a:pt x="2558" y="4656"/>
                  </a:lnTo>
                  <a:lnTo>
                    <a:pt x="2586" y="4671"/>
                  </a:lnTo>
                  <a:lnTo>
                    <a:pt x="2613" y="4689"/>
                  </a:lnTo>
                  <a:lnTo>
                    <a:pt x="2639" y="4707"/>
                  </a:lnTo>
                  <a:lnTo>
                    <a:pt x="2665" y="4727"/>
                  </a:lnTo>
                  <a:lnTo>
                    <a:pt x="2689" y="4748"/>
                  </a:lnTo>
                  <a:lnTo>
                    <a:pt x="2714" y="4770"/>
                  </a:lnTo>
                  <a:lnTo>
                    <a:pt x="5332" y="7384"/>
                  </a:lnTo>
                  <a:lnTo>
                    <a:pt x="5357" y="7406"/>
                  </a:lnTo>
                  <a:lnTo>
                    <a:pt x="5382" y="7427"/>
                  </a:lnTo>
                  <a:lnTo>
                    <a:pt x="5407" y="7448"/>
                  </a:lnTo>
                  <a:lnTo>
                    <a:pt x="5433" y="7466"/>
                  </a:lnTo>
                  <a:lnTo>
                    <a:pt x="5460" y="7483"/>
                  </a:lnTo>
                  <a:lnTo>
                    <a:pt x="5489" y="7498"/>
                  </a:lnTo>
                  <a:lnTo>
                    <a:pt x="5517" y="7512"/>
                  </a:lnTo>
                  <a:lnTo>
                    <a:pt x="5546" y="7524"/>
                  </a:lnTo>
                  <a:lnTo>
                    <a:pt x="5575" y="7535"/>
                  </a:lnTo>
                  <a:lnTo>
                    <a:pt x="5604" y="7545"/>
                  </a:lnTo>
                  <a:lnTo>
                    <a:pt x="5635" y="7553"/>
                  </a:lnTo>
                  <a:lnTo>
                    <a:pt x="5665" y="7559"/>
                  </a:lnTo>
                  <a:lnTo>
                    <a:pt x="5696" y="7565"/>
                  </a:lnTo>
                  <a:lnTo>
                    <a:pt x="5726" y="7569"/>
                  </a:lnTo>
                  <a:lnTo>
                    <a:pt x="5758" y="7571"/>
                  </a:lnTo>
                  <a:lnTo>
                    <a:pt x="5789" y="7572"/>
                  </a:lnTo>
                  <a:lnTo>
                    <a:pt x="5819" y="7571"/>
                  </a:lnTo>
                  <a:lnTo>
                    <a:pt x="5850" y="7569"/>
                  </a:lnTo>
                  <a:lnTo>
                    <a:pt x="5882" y="7565"/>
                  </a:lnTo>
                  <a:lnTo>
                    <a:pt x="5912" y="7559"/>
                  </a:lnTo>
                  <a:lnTo>
                    <a:pt x="5942" y="7552"/>
                  </a:lnTo>
                  <a:lnTo>
                    <a:pt x="5972" y="7544"/>
                  </a:lnTo>
                  <a:lnTo>
                    <a:pt x="6003" y="7535"/>
                  </a:lnTo>
                  <a:lnTo>
                    <a:pt x="6032" y="7524"/>
                  </a:lnTo>
                  <a:lnTo>
                    <a:pt x="6060" y="7512"/>
                  </a:lnTo>
                  <a:lnTo>
                    <a:pt x="6089" y="7498"/>
                  </a:lnTo>
                  <a:lnTo>
                    <a:pt x="6117" y="7482"/>
                  </a:lnTo>
                  <a:lnTo>
                    <a:pt x="6144" y="7465"/>
                  </a:lnTo>
                  <a:lnTo>
                    <a:pt x="6170" y="7447"/>
                  </a:lnTo>
                  <a:lnTo>
                    <a:pt x="6196" y="7426"/>
                  </a:lnTo>
                  <a:lnTo>
                    <a:pt x="6220" y="7405"/>
                  </a:lnTo>
                  <a:lnTo>
                    <a:pt x="6245" y="7383"/>
                  </a:lnTo>
                  <a:lnTo>
                    <a:pt x="13421" y="190"/>
                  </a:lnTo>
                  <a:lnTo>
                    <a:pt x="13445" y="166"/>
                  </a:lnTo>
                  <a:lnTo>
                    <a:pt x="13470" y="145"/>
                  </a:lnTo>
                  <a:lnTo>
                    <a:pt x="13495" y="125"/>
                  </a:lnTo>
                  <a:lnTo>
                    <a:pt x="13521" y="107"/>
                  </a:lnTo>
                  <a:lnTo>
                    <a:pt x="13549" y="90"/>
                  </a:lnTo>
                  <a:lnTo>
                    <a:pt x="13577" y="75"/>
                  </a:lnTo>
                  <a:lnTo>
                    <a:pt x="13605" y="60"/>
                  </a:lnTo>
                  <a:lnTo>
                    <a:pt x="13634" y="47"/>
                  </a:lnTo>
                  <a:lnTo>
                    <a:pt x="13663" y="36"/>
                  </a:lnTo>
                  <a:lnTo>
                    <a:pt x="13693" y="27"/>
                  </a:lnTo>
                  <a:lnTo>
                    <a:pt x="13723" y="19"/>
                  </a:lnTo>
                  <a:lnTo>
                    <a:pt x="13753" y="12"/>
                  </a:lnTo>
                  <a:lnTo>
                    <a:pt x="13784" y="7"/>
                  </a:lnTo>
                  <a:lnTo>
                    <a:pt x="13815" y="3"/>
                  </a:lnTo>
                  <a:lnTo>
                    <a:pt x="13846" y="1"/>
                  </a:lnTo>
                  <a:lnTo>
                    <a:pt x="13877" y="0"/>
                  </a:lnTo>
                  <a:lnTo>
                    <a:pt x="13908" y="1"/>
                  </a:lnTo>
                  <a:lnTo>
                    <a:pt x="13939" y="3"/>
                  </a:lnTo>
                  <a:lnTo>
                    <a:pt x="13970" y="6"/>
                  </a:lnTo>
                  <a:lnTo>
                    <a:pt x="14000" y="11"/>
                  </a:lnTo>
                  <a:lnTo>
                    <a:pt x="14031" y="18"/>
                  </a:lnTo>
                  <a:lnTo>
                    <a:pt x="14062" y="26"/>
                  </a:lnTo>
                  <a:lnTo>
                    <a:pt x="14091" y="35"/>
                  </a:lnTo>
                  <a:lnTo>
                    <a:pt x="14120" y="46"/>
                  </a:lnTo>
                  <a:lnTo>
                    <a:pt x="14149" y="58"/>
                  </a:lnTo>
                  <a:lnTo>
                    <a:pt x="14178" y="73"/>
                  </a:lnTo>
                  <a:lnTo>
                    <a:pt x="14206" y="88"/>
                  </a:lnTo>
                  <a:lnTo>
                    <a:pt x="14233" y="105"/>
                  </a:lnTo>
                  <a:lnTo>
                    <a:pt x="14259" y="123"/>
                  </a:lnTo>
                  <a:lnTo>
                    <a:pt x="14285" y="143"/>
                  </a:lnTo>
                  <a:lnTo>
                    <a:pt x="14310" y="164"/>
                  </a:lnTo>
                  <a:lnTo>
                    <a:pt x="14334" y="186"/>
                  </a:lnTo>
                  <a:lnTo>
                    <a:pt x="15938" y="1780"/>
                  </a:lnTo>
                  <a:lnTo>
                    <a:pt x="15962" y="1804"/>
                  </a:lnTo>
                  <a:lnTo>
                    <a:pt x="15983" y="1829"/>
                  </a:lnTo>
                  <a:lnTo>
                    <a:pt x="16003" y="1855"/>
                  </a:lnTo>
                  <a:lnTo>
                    <a:pt x="16021" y="1881"/>
                  </a:lnTo>
                  <a:lnTo>
                    <a:pt x="16038" y="1908"/>
                  </a:lnTo>
                  <a:lnTo>
                    <a:pt x="16053" y="1935"/>
                  </a:lnTo>
                  <a:lnTo>
                    <a:pt x="16068" y="1964"/>
                  </a:lnTo>
                  <a:lnTo>
                    <a:pt x="16081" y="1993"/>
                  </a:lnTo>
                  <a:lnTo>
                    <a:pt x="16092" y="2022"/>
                  </a:lnTo>
                  <a:lnTo>
                    <a:pt x="16101" y="2051"/>
                  </a:lnTo>
                  <a:lnTo>
                    <a:pt x="16109" y="2082"/>
                  </a:lnTo>
                  <a:lnTo>
                    <a:pt x="16116" y="2112"/>
                  </a:lnTo>
                  <a:lnTo>
                    <a:pt x="16121" y="2143"/>
                  </a:lnTo>
                  <a:lnTo>
                    <a:pt x="16125" y="2173"/>
                  </a:lnTo>
                  <a:lnTo>
                    <a:pt x="16127" y="2205"/>
                  </a:lnTo>
                  <a:lnTo>
                    <a:pt x="16128" y="2236"/>
                  </a:lnTo>
                  <a:lnTo>
                    <a:pt x="16127" y="2266"/>
                  </a:lnTo>
                  <a:lnTo>
                    <a:pt x="16125" y="2297"/>
                  </a:lnTo>
                  <a:lnTo>
                    <a:pt x="16122" y="2328"/>
                  </a:lnTo>
                  <a:lnTo>
                    <a:pt x="16117" y="2359"/>
                  </a:lnTo>
                  <a:lnTo>
                    <a:pt x="16110" y="2389"/>
                  </a:lnTo>
                  <a:lnTo>
                    <a:pt x="16102" y="2419"/>
                  </a:lnTo>
                  <a:lnTo>
                    <a:pt x="16093" y="2449"/>
                  </a:lnTo>
                  <a:lnTo>
                    <a:pt x="16082" y="2478"/>
                  </a:lnTo>
                  <a:lnTo>
                    <a:pt x="16069" y="2507"/>
                  </a:lnTo>
                  <a:lnTo>
                    <a:pt x="16055" y="2535"/>
                  </a:lnTo>
                  <a:lnTo>
                    <a:pt x="16039" y="2564"/>
                  </a:lnTo>
                  <a:lnTo>
                    <a:pt x="16023" y="2591"/>
                  </a:lnTo>
                  <a:lnTo>
                    <a:pt x="16004" y="2617"/>
                  </a:lnTo>
                  <a:lnTo>
                    <a:pt x="15985" y="2642"/>
                  </a:lnTo>
                  <a:lnTo>
                    <a:pt x="15964" y="2667"/>
                  </a:lnTo>
                  <a:lnTo>
                    <a:pt x="15941" y="2692"/>
                  </a:lnTo>
                  <a:lnTo>
                    <a:pt x="7238" y="11415"/>
                  </a:lnTo>
                  <a:lnTo>
                    <a:pt x="7214" y="11439"/>
                  </a:lnTo>
                  <a:lnTo>
                    <a:pt x="7188" y="11462"/>
                  </a:lnTo>
                  <a:lnTo>
                    <a:pt x="7162" y="11485"/>
                  </a:lnTo>
                  <a:lnTo>
                    <a:pt x="7134" y="11507"/>
                  </a:lnTo>
                  <a:lnTo>
                    <a:pt x="7104" y="11529"/>
                  </a:lnTo>
                  <a:lnTo>
                    <a:pt x="7074" y="11550"/>
                  </a:lnTo>
                  <a:lnTo>
                    <a:pt x="7043" y="11572"/>
                  </a:lnTo>
                  <a:lnTo>
                    <a:pt x="7011" y="11593"/>
                  </a:lnTo>
                  <a:lnTo>
                    <a:pt x="6977" y="11613"/>
                  </a:lnTo>
                  <a:lnTo>
                    <a:pt x="6943" y="11632"/>
                  </a:lnTo>
                  <a:lnTo>
                    <a:pt x="6909" y="11651"/>
                  </a:lnTo>
                  <a:lnTo>
                    <a:pt x="6874" y="11670"/>
                  </a:lnTo>
                  <a:lnTo>
                    <a:pt x="6837" y="11688"/>
                  </a:lnTo>
                  <a:lnTo>
                    <a:pt x="6801" y="11706"/>
                  </a:lnTo>
                  <a:lnTo>
                    <a:pt x="6765" y="11722"/>
                  </a:lnTo>
                  <a:lnTo>
                    <a:pt x="6727" y="11738"/>
                  </a:lnTo>
                  <a:lnTo>
                    <a:pt x="6689" y="11753"/>
                  </a:lnTo>
                  <a:lnTo>
                    <a:pt x="6652" y="11767"/>
                  </a:lnTo>
                  <a:lnTo>
                    <a:pt x="6613" y="11781"/>
                  </a:lnTo>
                  <a:lnTo>
                    <a:pt x="6576" y="11793"/>
                  </a:lnTo>
                  <a:lnTo>
                    <a:pt x="6538" y="11805"/>
                  </a:lnTo>
                  <a:lnTo>
                    <a:pt x="6500" y="11817"/>
                  </a:lnTo>
                  <a:lnTo>
                    <a:pt x="6461" y="11827"/>
                  </a:lnTo>
                  <a:lnTo>
                    <a:pt x="6424" y="11836"/>
                  </a:lnTo>
                  <a:lnTo>
                    <a:pt x="6387" y="11844"/>
                  </a:lnTo>
                  <a:lnTo>
                    <a:pt x="6349" y="11852"/>
                  </a:lnTo>
                  <a:lnTo>
                    <a:pt x="6313" y="11858"/>
                  </a:lnTo>
                  <a:lnTo>
                    <a:pt x="6277" y="11863"/>
                  </a:lnTo>
                  <a:lnTo>
                    <a:pt x="6241" y="11867"/>
                  </a:lnTo>
                  <a:lnTo>
                    <a:pt x="6205" y="11870"/>
                  </a:lnTo>
                  <a:lnTo>
                    <a:pt x="6171" y="11871"/>
                  </a:lnTo>
                  <a:lnTo>
                    <a:pt x="6138" y="11872"/>
                  </a:lnTo>
                  <a:lnTo>
                    <a:pt x="5386" y="11872"/>
                  </a:lnTo>
                  <a:lnTo>
                    <a:pt x="5352" y="11871"/>
                  </a:lnTo>
                  <a:lnTo>
                    <a:pt x="5318" y="11870"/>
                  </a:lnTo>
                  <a:lnTo>
                    <a:pt x="5283" y="11867"/>
                  </a:lnTo>
                  <a:lnTo>
                    <a:pt x="5247" y="11863"/>
                  </a:lnTo>
                  <a:lnTo>
                    <a:pt x="5210" y="11858"/>
                  </a:lnTo>
                  <a:lnTo>
                    <a:pt x="5174" y="11851"/>
                  </a:lnTo>
                  <a:lnTo>
                    <a:pt x="5137" y="11844"/>
                  </a:lnTo>
                  <a:lnTo>
                    <a:pt x="5099" y="11836"/>
                  </a:lnTo>
                  <a:lnTo>
                    <a:pt x="5062" y="11827"/>
                  </a:lnTo>
                  <a:lnTo>
                    <a:pt x="5024" y="11817"/>
                  </a:lnTo>
                  <a:lnTo>
                    <a:pt x="4986" y="11805"/>
                  </a:lnTo>
                  <a:lnTo>
                    <a:pt x="4948" y="11793"/>
                  </a:lnTo>
                  <a:lnTo>
                    <a:pt x="4910" y="11780"/>
                  </a:lnTo>
                  <a:lnTo>
                    <a:pt x="4872" y="11767"/>
                  </a:lnTo>
                  <a:lnTo>
                    <a:pt x="4834" y="11753"/>
                  </a:lnTo>
                  <a:lnTo>
                    <a:pt x="4796" y="11738"/>
                  </a:lnTo>
                  <a:lnTo>
                    <a:pt x="4760" y="11722"/>
                  </a:lnTo>
                  <a:lnTo>
                    <a:pt x="4722" y="11705"/>
                  </a:lnTo>
                  <a:lnTo>
                    <a:pt x="4686" y="11688"/>
                  </a:lnTo>
                  <a:lnTo>
                    <a:pt x="4650" y="11669"/>
                  </a:lnTo>
                  <a:lnTo>
                    <a:pt x="4615" y="11651"/>
                  </a:lnTo>
                  <a:lnTo>
                    <a:pt x="4580" y="11632"/>
                  </a:lnTo>
                  <a:lnTo>
                    <a:pt x="4546" y="11612"/>
                  </a:lnTo>
                  <a:lnTo>
                    <a:pt x="4513" y="11592"/>
                  </a:lnTo>
                  <a:lnTo>
                    <a:pt x="4481" y="11572"/>
                  </a:lnTo>
                  <a:lnTo>
                    <a:pt x="4449" y="11550"/>
                  </a:lnTo>
                  <a:lnTo>
                    <a:pt x="4419" y="11528"/>
                  </a:lnTo>
                  <a:lnTo>
                    <a:pt x="4390" y="11506"/>
                  </a:lnTo>
                  <a:lnTo>
                    <a:pt x="4363" y="11484"/>
                  </a:lnTo>
                  <a:lnTo>
                    <a:pt x="4335" y="11462"/>
                  </a:lnTo>
                  <a:lnTo>
                    <a:pt x="4310" y="11439"/>
                  </a:lnTo>
                  <a:lnTo>
                    <a:pt x="4286" y="11414"/>
                  </a:lnTo>
                  <a:lnTo>
                    <a:pt x="187" y="7297"/>
                  </a:lnTo>
                  <a:close/>
                </a:path>
              </a:pathLst>
            </a:custGeom>
            <a:solidFill>
              <a:sysClr val="window" lastClr="FFFFFF"/>
            </a:solidFill>
            <a:ln w="19050">
              <a:noFill/>
            </a:ln>
          </p:spPr>
          <p:txBody>
            <a:bodyPr vert="horz" wrap="square" lIns="57150" tIns="28575" rIns="57150" bIns="28575" numCol="1" anchor="t" anchorCtr="0" compatLnSpc="1"/>
            <a:lstStyle/>
            <a:p>
              <a:pPr marL="0" marR="0" lvl="0" indent="0" defTabSz="2857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 Light" panose="020B0403030101060003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FAQ</a:t>
            </a: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1219995" y="1669405"/>
            <a:ext cx="4293076" cy="4154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b="1" i="0" dirty="0">
                <a:solidFill>
                  <a:srgbClr val="00B9D2"/>
                </a:solidFill>
                <a:latin typeface="+mj-ea"/>
                <a:ea typeface="+mj-ea"/>
              </a:rPr>
              <a:t>What’s included in your standard handling fees?</a:t>
            </a:r>
            <a:endParaRPr lang="en-US" altLang="zh-CN" b="1" i="0" dirty="0">
              <a:solidFill>
                <a:srgbClr val="00B9D2"/>
              </a:solidFill>
              <a:latin typeface="+mj-ea"/>
              <a:ea typeface="+mj-ea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00B9D2"/>
                </a:solidFill>
                <a:latin typeface="+mj-ea"/>
                <a:ea typeface="+mj-ea"/>
              </a:rPr>
              <a:t>标准手续费包括哪些内容？</a:t>
            </a:r>
            <a:endParaRPr lang="zh-CN" altLang="en-US" b="1" dirty="0">
              <a:solidFill>
                <a:srgbClr val="00B9D2"/>
              </a:solidFill>
              <a:latin typeface="+mj-ea"/>
              <a:ea typeface="+mj-ea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en-US" altLang="zh-CN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indent="0">
              <a:lnSpc>
                <a:spcPct val="150000"/>
              </a:lnSpc>
            </a:pPr>
            <a:r>
              <a:rPr lang="en-US" altLang="zh-CN" sz="16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Our standard handling fee includes: Item receiving → item inspection → scanning into our system → storage in our warehouse → sync orders → pick → pack → ship to other country</a:t>
            </a:r>
            <a:endParaRPr lang="en-US" altLang="zh-CN" sz="16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600" b="1" i="0" dirty="0">
                <a:solidFill>
                  <a:schemeClr val="bg1"/>
                </a:solidFill>
                <a:latin typeface="+mj-ea"/>
                <a:ea typeface="+mj-ea"/>
              </a:rPr>
              <a:t>我们的标准手续费包括：物品接收→物品检查→扫描到我们的系统→存储在我们的仓库中→同步订单→拣选→包装→发货到其他</a:t>
            </a:r>
            <a:r>
              <a:rPr lang="zh-CN" altLang="en-US" sz="1600" b="1" i="0" dirty="0">
                <a:solidFill>
                  <a:schemeClr val="bg1"/>
                </a:solidFill>
                <a:latin typeface="+mj-ea"/>
                <a:ea typeface="+mj-ea"/>
              </a:rPr>
              <a:t>国家</a:t>
            </a:r>
            <a:endParaRPr lang="zh-CN" altLang="en-US" sz="1600" b="1" i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070530" y="1720840"/>
            <a:ext cx="4426198" cy="2722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b="1" i="0" dirty="0">
                <a:solidFill>
                  <a:srgbClr val="00B9D2"/>
                </a:solidFill>
                <a:latin typeface="+mj-ea"/>
                <a:ea typeface="+mj-ea"/>
              </a:rPr>
              <a:t>What sort of customized services do you provide?</a:t>
            </a:r>
            <a:endParaRPr lang="en-US" altLang="zh-CN" b="1" i="0" dirty="0">
              <a:solidFill>
                <a:srgbClr val="00B9D2"/>
              </a:solidFill>
              <a:latin typeface="+mj-ea"/>
              <a:ea typeface="+mj-ea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00B9D2"/>
                </a:solidFill>
                <a:latin typeface="+mj-ea"/>
                <a:ea typeface="+mj-ea"/>
              </a:rPr>
              <a:t>你们提供什么样的定制服务？</a:t>
            </a:r>
            <a:endParaRPr lang="zh-CN" altLang="en-US" b="1" dirty="0">
              <a:solidFill>
                <a:srgbClr val="00B9D2"/>
              </a:solidFill>
              <a:latin typeface="+mj-ea"/>
              <a:ea typeface="+mj-ea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en-US" altLang="zh-CN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· </a:t>
            </a:r>
            <a:r>
              <a:rPr lang="en-US" altLang="zh-CN" sz="16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Custom packaging</a:t>
            </a:r>
            <a:r>
              <a:rPr lang="zh-CN" altLang="en-US" sz="1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定制包装</a:t>
            </a:r>
            <a:endParaRPr lang="en-US" altLang="zh-CN" sz="16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· Kitting and assembly</a:t>
            </a:r>
            <a:r>
              <a:rPr lang="zh-CN" altLang="en-US" sz="1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配套和组装</a:t>
            </a:r>
            <a:endParaRPr lang="en-US" altLang="zh-CN" sz="16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· Labeling</a:t>
            </a:r>
            <a:r>
              <a:rPr lang="zh-CN" altLang="en-US" sz="1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标签</a:t>
            </a:r>
            <a:r>
              <a:rPr lang="en-US" altLang="zh-CN" sz="1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and more</a:t>
            </a:r>
            <a:endParaRPr lang="en-US" altLang="zh-CN" sz="16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indent="0">
              <a:lnSpc>
                <a:spcPct val="150000"/>
              </a:lnSpc>
            </a:pPr>
            <a:r>
              <a:rPr lang="en-US" altLang="zh-CN" sz="16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· and more</a:t>
            </a:r>
            <a:r>
              <a:rPr lang="zh-CN" altLang="en-US" sz="16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以及更多</a:t>
            </a:r>
            <a:endParaRPr lang="en-US" altLang="zh-CN" sz="16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93" name="Group 86"/>
          <p:cNvGrpSpPr/>
          <p:nvPr/>
        </p:nvGrpSpPr>
        <p:grpSpPr>
          <a:xfrm>
            <a:off x="6487644" y="1759768"/>
            <a:ext cx="525511" cy="525508"/>
            <a:chOff x="8332318" y="3422521"/>
            <a:chExt cx="485834" cy="485832"/>
          </a:xfrm>
        </p:grpSpPr>
        <p:sp>
          <p:nvSpPr>
            <p:cNvPr id="94" name="Oval 87"/>
            <p:cNvSpPr/>
            <p:nvPr/>
          </p:nvSpPr>
          <p:spPr>
            <a:xfrm>
              <a:off x="8332318" y="3422521"/>
              <a:ext cx="485834" cy="485832"/>
            </a:xfrm>
            <a:prstGeom prst="ellipse">
              <a:avLst/>
            </a:prstGeom>
            <a:solidFill>
              <a:srgbClr val="C00000">
                <a:alpha val="3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2857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Oval 88"/>
            <p:cNvSpPr/>
            <p:nvPr/>
          </p:nvSpPr>
          <p:spPr>
            <a:xfrm>
              <a:off x="8385361" y="3475564"/>
              <a:ext cx="379747" cy="379746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2857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Freeform 229"/>
            <p:cNvSpPr/>
            <p:nvPr/>
          </p:nvSpPr>
          <p:spPr bwMode="auto">
            <a:xfrm>
              <a:off x="8504072" y="3616544"/>
              <a:ext cx="142328" cy="97786"/>
            </a:xfrm>
            <a:custGeom>
              <a:avLst/>
              <a:gdLst>
                <a:gd name="T0" fmla="*/ 124 w 16128"/>
                <a:gd name="T1" fmla="*/ 7223 h 11872"/>
                <a:gd name="T2" fmla="*/ 59 w 16128"/>
                <a:gd name="T3" fmla="*/ 7113 h 11872"/>
                <a:gd name="T4" fmla="*/ 18 w 16128"/>
                <a:gd name="T5" fmla="*/ 6994 h 11872"/>
                <a:gd name="T6" fmla="*/ 1 w 16128"/>
                <a:gd name="T7" fmla="*/ 6871 h 11872"/>
                <a:gd name="T8" fmla="*/ 7 w 16128"/>
                <a:gd name="T9" fmla="*/ 6747 h 11872"/>
                <a:gd name="T10" fmla="*/ 36 w 16128"/>
                <a:gd name="T11" fmla="*/ 6626 h 11872"/>
                <a:gd name="T12" fmla="*/ 90 w 16128"/>
                <a:gd name="T13" fmla="*/ 6512 h 11872"/>
                <a:gd name="T14" fmla="*/ 165 w 16128"/>
                <a:gd name="T15" fmla="*/ 6408 h 11872"/>
                <a:gd name="T16" fmla="*/ 1850 w 16128"/>
                <a:gd name="T17" fmla="*/ 4727 h 11872"/>
                <a:gd name="T18" fmla="*/ 1957 w 16128"/>
                <a:gd name="T19" fmla="*/ 4656 h 11872"/>
                <a:gd name="T20" fmla="*/ 2073 w 16128"/>
                <a:gd name="T21" fmla="*/ 4609 h 11872"/>
                <a:gd name="T22" fmla="*/ 2195 w 16128"/>
                <a:gd name="T23" fmla="*/ 4586 h 11872"/>
                <a:gd name="T24" fmla="*/ 2319 w 16128"/>
                <a:gd name="T25" fmla="*/ 4586 h 11872"/>
                <a:gd name="T26" fmla="*/ 2441 w 16128"/>
                <a:gd name="T27" fmla="*/ 4609 h 11872"/>
                <a:gd name="T28" fmla="*/ 2558 w 16128"/>
                <a:gd name="T29" fmla="*/ 4656 h 11872"/>
                <a:gd name="T30" fmla="*/ 2665 w 16128"/>
                <a:gd name="T31" fmla="*/ 4727 h 11872"/>
                <a:gd name="T32" fmla="*/ 5357 w 16128"/>
                <a:gd name="T33" fmla="*/ 7406 h 11872"/>
                <a:gd name="T34" fmla="*/ 5460 w 16128"/>
                <a:gd name="T35" fmla="*/ 7483 h 11872"/>
                <a:gd name="T36" fmla="*/ 5575 w 16128"/>
                <a:gd name="T37" fmla="*/ 7535 h 11872"/>
                <a:gd name="T38" fmla="*/ 5696 w 16128"/>
                <a:gd name="T39" fmla="*/ 7565 h 11872"/>
                <a:gd name="T40" fmla="*/ 5819 w 16128"/>
                <a:gd name="T41" fmla="*/ 7571 h 11872"/>
                <a:gd name="T42" fmla="*/ 5942 w 16128"/>
                <a:gd name="T43" fmla="*/ 7552 h 11872"/>
                <a:gd name="T44" fmla="*/ 6060 w 16128"/>
                <a:gd name="T45" fmla="*/ 7512 h 11872"/>
                <a:gd name="T46" fmla="*/ 6170 w 16128"/>
                <a:gd name="T47" fmla="*/ 7447 h 11872"/>
                <a:gd name="T48" fmla="*/ 13421 w 16128"/>
                <a:gd name="T49" fmla="*/ 190 h 11872"/>
                <a:gd name="T50" fmla="*/ 13521 w 16128"/>
                <a:gd name="T51" fmla="*/ 107 h 11872"/>
                <a:gd name="T52" fmla="*/ 13634 w 16128"/>
                <a:gd name="T53" fmla="*/ 47 h 11872"/>
                <a:gd name="T54" fmla="*/ 13753 w 16128"/>
                <a:gd name="T55" fmla="*/ 12 h 11872"/>
                <a:gd name="T56" fmla="*/ 13877 w 16128"/>
                <a:gd name="T57" fmla="*/ 0 h 11872"/>
                <a:gd name="T58" fmla="*/ 14000 w 16128"/>
                <a:gd name="T59" fmla="*/ 11 h 11872"/>
                <a:gd name="T60" fmla="*/ 14120 w 16128"/>
                <a:gd name="T61" fmla="*/ 46 h 11872"/>
                <a:gd name="T62" fmla="*/ 14233 w 16128"/>
                <a:gd name="T63" fmla="*/ 105 h 11872"/>
                <a:gd name="T64" fmla="*/ 14334 w 16128"/>
                <a:gd name="T65" fmla="*/ 186 h 11872"/>
                <a:gd name="T66" fmla="*/ 16003 w 16128"/>
                <a:gd name="T67" fmla="*/ 1855 h 11872"/>
                <a:gd name="T68" fmla="*/ 16068 w 16128"/>
                <a:gd name="T69" fmla="*/ 1964 h 11872"/>
                <a:gd name="T70" fmla="*/ 16109 w 16128"/>
                <a:gd name="T71" fmla="*/ 2082 h 11872"/>
                <a:gd name="T72" fmla="*/ 16127 w 16128"/>
                <a:gd name="T73" fmla="*/ 2205 h 11872"/>
                <a:gd name="T74" fmla="*/ 16122 w 16128"/>
                <a:gd name="T75" fmla="*/ 2328 h 11872"/>
                <a:gd name="T76" fmla="*/ 16093 w 16128"/>
                <a:gd name="T77" fmla="*/ 2449 h 11872"/>
                <a:gd name="T78" fmla="*/ 16039 w 16128"/>
                <a:gd name="T79" fmla="*/ 2564 h 11872"/>
                <a:gd name="T80" fmla="*/ 15964 w 16128"/>
                <a:gd name="T81" fmla="*/ 2667 h 11872"/>
                <a:gd name="T82" fmla="*/ 7188 w 16128"/>
                <a:gd name="T83" fmla="*/ 11462 h 11872"/>
                <a:gd name="T84" fmla="*/ 7074 w 16128"/>
                <a:gd name="T85" fmla="*/ 11550 h 11872"/>
                <a:gd name="T86" fmla="*/ 6943 w 16128"/>
                <a:gd name="T87" fmla="*/ 11632 h 11872"/>
                <a:gd name="T88" fmla="*/ 6801 w 16128"/>
                <a:gd name="T89" fmla="*/ 11706 h 11872"/>
                <a:gd name="T90" fmla="*/ 6652 w 16128"/>
                <a:gd name="T91" fmla="*/ 11767 h 11872"/>
                <a:gd name="T92" fmla="*/ 6500 w 16128"/>
                <a:gd name="T93" fmla="*/ 11817 h 11872"/>
                <a:gd name="T94" fmla="*/ 6349 w 16128"/>
                <a:gd name="T95" fmla="*/ 11852 h 11872"/>
                <a:gd name="T96" fmla="*/ 6205 w 16128"/>
                <a:gd name="T97" fmla="*/ 11870 h 11872"/>
                <a:gd name="T98" fmla="*/ 5352 w 16128"/>
                <a:gd name="T99" fmla="*/ 11871 h 11872"/>
                <a:gd name="T100" fmla="*/ 5210 w 16128"/>
                <a:gd name="T101" fmla="*/ 11858 h 11872"/>
                <a:gd name="T102" fmla="*/ 5062 w 16128"/>
                <a:gd name="T103" fmla="*/ 11827 h 11872"/>
                <a:gd name="T104" fmla="*/ 4910 w 16128"/>
                <a:gd name="T105" fmla="*/ 11780 h 11872"/>
                <a:gd name="T106" fmla="*/ 4760 w 16128"/>
                <a:gd name="T107" fmla="*/ 11722 h 11872"/>
                <a:gd name="T108" fmla="*/ 4615 w 16128"/>
                <a:gd name="T109" fmla="*/ 11651 h 11872"/>
                <a:gd name="T110" fmla="*/ 4481 w 16128"/>
                <a:gd name="T111" fmla="*/ 11572 h 11872"/>
                <a:gd name="T112" fmla="*/ 4363 w 16128"/>
                <a:gd name="T113" fmla="*/ 11484 h 11872"/>
                <a:gd name="T114" fmla="*/ 187 w 16128"/>
                <a:gd name="T115" fmla="*/ 7297 h 11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128" h="11872">
                  <a:moveTo>
                    <a:pt x="187" y="7297"/>
                  </a:moveTo>
                  <a:lnTo>
                    <a:pt x="164" y="7273"/>
                  </a:lnTo>
                  <a:lnTo>
                    <a:pt x="143" y="7248"/>
                  </a:lnTo>
                  <a:lnTo>
                    <a:pt x="124" y="7223"/>
                  </a:lnTo>
                  <a:lnTo>
                    <a:pt x="106" y="7196"/>
                  </a:lnTo>
                  <a:lnTo>
                    <a:pt x="89" y="7168"/>
                  </a:lnTo>
                  <a:lnTo>
                    <a:pt x="74" y="7141"/>
                  </a:lnTo>
                  <a:lnTo>
                    <a:pt x="59" y="7113"/>
                  </a:lnTo>
                  <a:lnTo>
                    <a:pt x="46" y="7084"/>
                  </a:lnTo>
                  <a:lnTo>
                    <a:pt x="35" y="7054"/>
                  </a:lnTo>
                  <a:lnTo>
                    <a:pt x="26" y="7024"/>
                  </a:lnTo>
                  <a:lnTo>
                    <a:pt x="18" y="6994"/>
                  </a:lnTo>
                  <a:lnTo>
                    <a:pt x="12" y="6964"/>
                  </a:lnTo>
                  <a:lnTo>
                    <a:pt x="6" y="6933"/>
                  </a:lnTo>
                  <a:lnTo>
                    <a:pt x="3" y="6902"/>
                  </a:lnTo>
                  <a:lnTo>
                    <a:pt x="1" y="6871"/>
                  </a:lnTo>
                  <a:lnTo>
                    <a:pt x="0" y="6841"/>
                  </a:lnTo>
                  <a:lnTo>
                    <a:pt x="1" y="6809"/>
                  </a:lnTo>
                  <a:lnTo>
                    <a:pt x="3" y="6778"/>
                  </a:lnTo>
                  <a:lnTo>
                    <a:pt x="7" y="6747"/>
                  </a:lnTo>
                  <a:lnTo>
                    <a:pt x="12" y="6717"/>
                  </a:lnTo>
                  <a:lnTo>
                    <a:pt x="18" y="6687"/>
                  </a:lnTo>
                  <a:lnTo>
                    <a:pt x="26" y="6656"/>
                  </a:lnTo>
                  <a:lnTo>
                    <a:pt x="36" y="6626"/>
                  </a:lnTo>
                  <a:lnTo>
                    <a:pt x="47" y="6597"/>
                  </a:lnTo>
                  <a:lnTo>
                    <a:pt x="59" y="6569"/>
                  </a:lnTo>
                  <a:lnTo>
                    <a:pt x="74" y="6539"/>
                  </a:lnTo>
                  <a:lnTo>
                    <a:pt x="90" y="6512"/>
                  </a:lnTo>
                  <a:lnTo>
                    <a:pt x="106" y="6485"/>
                  </a:lnTo>
                  <a:lnTo>
                    <a:pt x="125" y="6459"/>
                  </a:lnTo>
                  <a:lnTo>
                    <a:pt x="144" y="6432"/>
                  </a:lnTo>
                  <a:lnTo>
                    <a:pt x="165" y="6408"/>
                  </a:lnTo>
                  <a:lnTo>
                    <a:pt x="188" y="6384"/>
                  </a:lnTo>
                  <a:lnTo>
                    <a:pt x="1801" y="4771"/>
                  </a:lnTo>
                  <a:lnTo>
                    <a:pt x="1824" y="4748"/>
                  </a:lnTo>
                  <a:lnTo>
                    <a:pt x="1850" y="4727"/>
                  </a:lnTo>
                  <a:lnTo>
                    <a:pt x="1876" y="4707"/>
                  </a:lnTo>
                  <a:lnTo>
                    <a:pt x="1902" y="4689"/>
                  </a:lnTo>
                  <a:lnTo>
                    <a:pt x="1929" y="4671"/>
                  </a:lnTo>
                  <a:lnTo>
                    <a:pt x="1957" y="4656"/>
                  </a:lnTo>
                  <a:lnTo>
                    <a:pt x="1985" y="4642"/>
                  </a:lnTo>
                  <a:lnTo>
                    <a:pt x="2014" y="4630"/>
                  </a:lnTo>
                  <a:lnTo>
                    <a:pt x="2043" y="4619"/>
                  </a:lnTo>
                  <a:lnTo>
                    <a:pt x="2073" y="4609"/>
                  </a:lnTo>
                  <a:lnTo>
                    <a:pt x="2104" y="4601"/>
                  </a:lnTo>
                  <a:lnTo>
                    <a:pt x="2134" y="4595"/>
                  </a:lnTo>
                  <a:lnTo>
                    <a:pt x="2164" y="4590"/>
                  </a:lnTo>
                  <a:lnTo>
                    <a:pt x="2195" y="4586"/>
                  </a:lnTo>
                  <a:lnTo>
                    <a:pt x="2227" y="4584"/>
                  </a:lnTo>
                  <a:lnTo>
                    <a:pt x="2257" y="4583"/>
                  </a:lnTo>
                  <a:lnTo>
                    <a:pt x="2288" y="4584"/>
                  </a:lnTo>
                  <a:lnTo>
                    <a:pt x="2319" y="4586"/>
                  </a:lnTo>
                  <a:lnTo>
                    <a:pt x="2350" y="4590"/>
                  </a:lnTo>
                  <a:lnTo>
                    <a:pt x="2381" y="4595"/>
                  </a:lnTo>
                  <a:lnTo>
                    <a:pt x="2411" y="4601"/>
                  </a:lnTo>
                  <a:lnTo>
                    <a:pt x="2441" y="4609"/>
                  </a:lnTo>
                  <a:lnTo>
                    <a:pt x="2472" y="4619"/>
                  </a:lnTo>
                  <a:lnTo>
                    <a:pt x="2501" y="4630"/>
                  </a:lnTo>
                  <a:lnTo>
                    <a:pt x="2529" y="4642"/>
                  </a:lnTo>
                  <a:lnTo>
                    <a:pt x="2558" y="4656"/>
                  </a:lnTo>
                  <a:lnTo>
                    <a:pt x="2586" y="4671"/>
                  </a:lnTo>
                  <a:lnTo>
                    <a:pt x="2613" y="4689"/>
                  </a:lnTo>
                  <a:lnTo>
                    <a:pt x="2639" y="4707"/>
                  </a:lnTo>
                  <a:lnTo>
                    <a:pt x="2665" y="4727"/>
                  </a:lnTo>
                  <a:lnTo>
                    <a:pt x="2689" y="4748"/>
                  </a:lnTo>
                  <a:lnTo>
                    <a:pt x="2714" y="4770"/>
                  </a:lnTo>
                  <a:lnTo>
                    <a:pt x="5332" y="7384"/>
                  </a:lnTo>
                  <a:lnTo>
                    <a:pt x="5357" y="7406"/>
                  </a:lnTo>
                  <a:lnTo>
                    <a:pt x="5382" y="7427"/>
                  </a:lnTo>
                  <a:lnTo>
                    <a:pt x="5407" y="7448"/>
                  </a:lnTo>
                  <a:lnTo>
                    <a:pt x="5433" y="7466"/>
                  </a:lnTo>
                  <a:lnTo>
                    <a:pt x="5460" y="7483"/>
                  </a:lnTo>
                  <a:lnTo>
                    <a:pt x="5489" y="7498"/>
                  </a:lnTo>
                  <a:lnTo>
                    <a:pt x="5517" y="7512"/>
                  </a:lnTo>
                  <a:lnTo>
                    <a:pt x="5546" y="7524"/>
                  </a:lnTo>
                  <a:lnTo>
                    <a:pt x="5575" y="7535"/>
                  </a:lnTo>
                  <a:lnTo>
                    <a:pt x="5604" y="7545"/>
                  </a:lnTo>
                  <a:lnTo>
                    <a:pt x="5635" y="7553"/>
                  </a:lnTo>
                  <a:lnTo>
                    <a:pt x="5665" y="7559"/>
                  </a:lnTo>
                  <a:lnTo>
                    <a:pt x="5696" y="7565"/>
                  </a:lnTo>
                  <a:lnTo>
                    <a:pt x="5726" y="7569"/>
                  </a:lnTo>
                  <a:lnTo>
                    <a:pt x="5758" y="7571"/>
                  </a:lnTo>
                  <a:lnTo>
                    <a:pt x="5789" y="7572"/>
                  </a:lnTo>
                  <a:lnTo>
                    <a:pt x="5819" y="7571"/>
                  </a:lnTo>
                  <a:lnTo>
                    <a:pt x="5850" y="7569"/>
                  </a:lnTo>
                  <a:lnTo>
                    <a:pt x="5882" y="7565"/>
                  </a:lnTo>
                  <a:lnTo>
                    <a:pt x="5912" y="7559"/>
                  </a:lnTo>
                  <a:lnTo>
                    <a:pt x="5942" y="7552"/>
                  </a:lnTo>
                  <a:lnTo>
                    <a:pt x="5972" y="7544"/>
                  </a:lnTo>
                  <a:lnTo>
                    <a:pt x="6003" y="7535"/>
                  </a:lnTo>
                  <a:lnTo>
                    <a:pt x="6032" y="7524"/>
                  </a:lnTo>
                  <a:lnTo>
                    <a:pt x="6060" y="7512"/>
                  </a:lnTo>
                  <a:lnTo>
                    <a:pt x="6089" y="7498"/>
                  </a:lnTo>
                  <a:lnTo>
                    <a:pt x="6117" y="7482"/>
                  </a:lnTo>
                  <a:lnTo>
                    <a:pt x="6144" y="7465"/>
                  </a:lnTo>
                  <a:lnTo>
                    <a:pt x="6170" y="7447"/>
                  </a:lnTo>
                  <a:lnTo>
                    <a:pt x="6196" y="7426"/>
                  </a:lnTo>
                  <a:lnTo>
                    <a:pt x="6220" y="7405"/>
                  </a:lnTo>
                  <a:lnTo>
                    <a:pt x="6245" y="7383"/>
                  </a:lnTo>
                  <a:lnTo>
                    <a:pt x="13421" y="190"/>
                  </a:lnTo>
                  <a:lnTo>
                    <a:pt x="13445" y="166"/>
                  </a:lnTo>
                  <a:lnTo>
                    <a:pt x="13470" y="145"/>
                  </a:lnTo>
                  <a:lnTo>
                    <a:pt x="13495" y="125"/>
                  </a:lnTo>
                  <a:lnTo>
                    <a:pt x="13521" y="107"/>
                  </a:lnTo>
                  <a:lnTo>
                    <a:pt x="13549" y="90"/>
                  </a:lnTo>
                  <a:lnTo>
                    <a:pt x="13577" y="75"/>
                  </a:lnTo>
                  <a:lnTo>
                    <a:pt x="13605" y="60"/>
                  </a:lnTo>
                  <a:lnTo>
                    <a:pt x="13634" y="47"/>
                  </a:lnTo>
                  <a:lnTo>
                    <a:pt x="13663" y="36"/>
                  </a:lnTo>
                  <a:lnTo>
                    <a:pt x="13693" y="27"/>
                  </a:lnTo>
                  <a:lnTo>
                    <a:pt x="13723" y="19"/>
                  </a:lnTo>
                  <a:lnTo>
                    <a:pt x="13753" y="12"/>
                  </a:lnTo>
                  <a:lnTo>
                    <a:pt x="13784" y="7"/>
                  </a:lnTo>
                  <a:lnTo>
                    <a:pt x="13815" y="3"/>
                  </a:lnTo>
                  <a:lnTo>
                    <a:pt x="13846" y="1"/>
                  </a:lnTo>
                  <a:lnTo>
                    <a:pt x="13877" y="0"/>
                  </a:lnTo>
                  <a:lnTo>
                    <a:pt x="13908" y="1"/>
                  </a:lnTo>
                  <a:lnTo>
                    <a:pt x="13939" y="3"/>
                  </a:lnTo>
                  <a:lnTo>
                    <a:pt x="13970" y="6"/>
                  </a:lnTo>
                  <a:lnTo>
                    <a:pt x="14000" y="11"/>
                  </a:lnTo>
                  <a:lnTo>
                    <a:pt x="14031" y="18"/>
                  </a:lnTo>
                  <a:lnTo>
                    <a:pt x="14062" y="26"/>
                  </a:lnTo>
                  <a:lnTo>
                    <a:pt x="14091" y="35"/>
                  </a:lnTo>
                  <a:lnTo>
                    <a:pt x="14120" y="46"/>
                  </a:lnTo>
                  <a:lnTo>
                    <a:pt x="14149" y="58"/>
                  </a:lnTo>
                  <a:lnTo>
                    <a:pt x="14178" y="73"/>
                  </a:lnTo>
                  <a:lnTo>
                    <a:pt x="14206" y="88"/>
                  </a:lnTo>
                  <a:lnTo>
                    <a:pt x="14233" y="105"/>
                  </a:lnTo>
                  <a:lnTo>
                    <a:pt x="14259" y="123"/>
                  </a:lnTo>
                  <a:lnTo>
                    <a:pt x="14285" y="143"/>
                  </a:lnTo>
                  <a:lnTo>
                    <a:pt x="14310" y="164"/>
                  </a:lnTo>
                  <a:lnTo>
                    <a:pt x="14334" y="186"/>
                  </a:lnTo>
                  <a:lnTo>
                    <a:pt x="15938" y="1780"/>
                  </a:lnTo>
                  <a:lnTo>
                    <a:pt x="15962" y="1804"/>
                  </a:lnTo>
                  <a:lnTo>
                    <a:pt x="15983" y="1829"/>
                  </a:lnTo>
                  <a:lnTo>
                    <a:pt x="16003" y="1855"/>
                  </a:lnTo>
                  <a:lnTo>
                    <a:pt x="16021" y="1881"/>
                  </a:lnTo>
                  <a:lnTo>
                    <a:pt x="16038" y="1908"/>
                  </a:lnTo>
                  <a:lnTo>
                    <a:pt x="16053" y="1935"/>
                  </a:lnTo>
                  <a:lnTo>
                    <a:pt x="16068" y="1964"/>
                  </a:lnTo>
                  <a:lnTo>
                    <a:pt x="16081" y="1993"/>
                  </a:lnTo>
                  <a:lnTo>
                    <a:pt x="16092" y="2022"/>
                  </a:lnTo>
                  <a:lnTo>
                    <a:pt x="16101" y="2051"/>
                  </a:lnTo>
                  <a:lnTo>
                    <a:pt x="16109" y="2082"/>
                  </a:lnTo>
                  <a:lnTo>
                    <a:pt x="16116" y="2112"/>
                  </a:lnTo>
                  <a:lnTo>
                    <a:pt x="16121" y="2143"/>
                  </a:lnTo>
                  <a:lnTo>
                    <a:pt x="16125" y="2173"/>
                  </a:lnTo>
                  <a:lnTo>
                    <a:pt x="16127" y="2205"/>
                  </a:lnTo>
                  <a:lnTo>
                    <a:pt x="16128" y="2236"/>
                  </a:lnTo>
                  <a:lnTo>
                    <a:pt x="16127" y="2266"/>
                  </a:lnTo>
                  <a:lnTo>
                    <a:pt x="16125" y="2297"/>
                  </a:lnTo>
                  <a:lnTo>
                    <a:pt x="16122" y="2328"/>
                  </a:lnTo>
                  <a:lnTo>
                    <a:pt x="16117" y="2359"/>
                  </a:lnTo>
                  <a:lnTo>
                    <a:pt x="16110" y="2389"/>
                  </a:lnTo>
                  <a:lnTo>
                    <a:pt x="16102" y="2419"/>
                  </a:lnTo>
                  <a:lnTo>
                    <a:pt x="16093" y="2449"/>
                  </a:lnTo>
                  <a:lnTo>
                    <a:pt x="16082" y="2478"/>
                  </a:lnTo>
                  <a:lnTo>
                    <a:pt x="16069" y="2507"/>
                  </a:lnTo>
                  <a:lnTo>
                    <a:pt x="16055" y="2535"/>
                  </a:lnTo>
                  <a:lnTo>
                    <a:pt x="16039" y="2564"/>
                  </a:lnTo>
                  <a:lnTo>
                    <a:pt x="16023" y="2591"/>
                  </a:lnTo>
                  <a:lnTo>
                    <a:pt x="16004" y="2617"/>
                  </a:lnTo>
                  <a:lnTo>
                    <a:pt x="15985" y="2642"/>
                  </a:lnTo>
                  <a:lnTo>
                    <a:pt x="15964" y="2667"/>
                  </a:lnTo>
                  <a:lnTo>
                    <a:pt x="15941" y="2692"/>
                  </a:lnTo>
                  <a:lnTo>
                    <a:pt x="7238" y="11415"/>
                  </a:lnTo>
                  <a:lnTo>
                    <a:pt x="7214" y="11439"/>
                  </a:lnTo>
                  <a:lnTo>
                    <a:pt x="7188" y="11462"/>
                  </a:lnTo>
                  <a:lnTo>
                    <a:pt x="7162" y="11485"/>
                  </a:lnTo>
                  <a:lnTo>
                    <a:pt x="7134" y="11507"/>
                  </a:lnTo>
                  <a:lnTo>
                    <a:pt x="7104" y="11529"/>
                  </a:lnTo>
                  <a:lnTo>
                    <a:pt x="7074" y="11550"/>
                  </a:lnTo>
                  <a:lnTo>
                    <a:pt x="7043" y="11572"/>
                  </a:lnTo>
                  <a:lnTo>
                    <a:pt x="7011" y="11593"/>
                  </a:lnTo>
                  <a:lnTo>
                    <a:pt x="6977" y="11613"/>
                  </a:lnTo>
                  <a:lnTo>
                    <a:pt x="6943" y="11632"/>
                  </a:lnTo>
                  <a:lnTo>
                    <a:pt x="6909" y="11651"/>
                  </a:lnTo>
                  <a:lnTo>
                    <a:pt x="6874" y="11670"/>
                  </a:lnTo>
                  <a:lnTo>
                    <a:pt x="6837" y="11688"/>
                  </a:lnTo>
                  <a:lnTo>
                    <a:pt x="6801" y="11706"/>
                  </a:lnTo>
                  <a:lnTo>
                    <a:pt x="6765" y="11722"/>
                  </a:lnTo>
                  <a:lnTo>
                    <a:pt x="6727" y="11738"/>
                  </a:lnTo>
                  <a:lnTo>
                    <a:pt x="6689" y="11753"/>
                  </a:lnTo>
                  <a:lnTo>
                    <a:pt x="6652" y="11767"/>
                  </a:lnTo>
                  <a:lnTo>
                    <a:pt x="6613" y="11781"/>
                  </a:lnTo>
                  <a:lnTo>
                    <a:pt x="6576" y="11793"/>
                  </a:lnTo>
                  <a:lnTo>
                    <a:pt x="6538" y="11805"/>
                  </a:lnTo>
                  <a:lnTo>
                    <a:pt x="6500" y="11817"/>
                  </a:lnTo>
                  <a:lnTo>
                    <a:pt x="6461" y="11827"/>
                  </a:lnTo>
                  <a:lnTo>
                    <a:pt x="6424" y="11836"/>
                  </a:lnTo>
                  <a:lnTo>
                    <a:pt x="6387" y="11844"/>
                  </a:lnTo>
                  <a:lnTo>
                    <a:pt x="6349" y="11852"/>
                  </a:lnTo>
                  <a:lnTo>
                    <a:pt x="6313" y="11858"/>
                  </a:lnTo>
                  <a:lnTo>
                    <a:pt x="6277" y="11863"/>
                  </a:lnTo>
                  <a:lnTo>
                    <a:pt x="6241" y="11867"/>
                  </a:lnTo>
                  <a:lnTo>
                    <a:pt x="6205" y="11870"/>
                  </a:lnTo>
                  <a:lnTo>
                    <a:pt x="6171" y="11871"/>
                  </a:lnTo>
                  <a:lnTo>
                    <a:pt x="6138" y="11872"/>
                  </a:lnTo>
                  <a:lnTo>
                    <a:pt x="5386" y="11872"/>
                  </a:lnTo>
                  <a:lnTo>
                    <a:pt x="5352" y="11871"/>
                  </a:lnTo>
                  <a:lnTo>
                    <a:pt x="5318" y="11870"/>
                  </a:lnTo>
                  <a:lnTo>
                    <a:pt x="5283" y="11867"/>
                  </a:lnTo>
                  <a:lnTo>
                    <a:pt x="5247" y="11863"/>
                  </a:lnTo>
                  <a:lnTo>
                    <a:pt x="5210" y="11858"/>
                  </a:lnTo>
                  <a:lnTo>
                    <a:pt x="5174" y="11851"/>
                  </a:lnTo>
                  <a:lnTo>
                    <a:pt x="5137" y="11844"/>
                  </a:lnTo>
                  <a:lnTo>
                    <a:pt x="5099" y="11836"/>
                  </a:lnTo>
                  <a:lnTo>
                    <a:pt x="5062" y="11827"/>
                  </a:lnTo>
                  <a:lnTo>
                    <a:pt x="5024" y="11817"/>
                  </a:lnTo>
                  <a:lnTo>
                    <a:pt x="4986" y="11805"/>
                  </a:lnTo>
                  <a:lnTo>
                    <a:pt x="4948" y="11793"/>
                  </a:lnTo>
                  <a:lnTo>
                    <a:pt x="4910" y="11780"/>
                  </a:lnTo>
                  <a:lnTo>
                    <a:pt x="4872" y="11767"/>
                  </a:lnTo>
                  <a:lnTo>
                    <a:pt x="4834" y="11753"/>
                  </a:lnTo>
                  <a:lnTo>
                    <a:pt x="4796" y="11738"/>
                  </a:lnTo>
                  <a:lnTo>
                    <a:pt x="4760" y="11722"/>
                  </a:lnTo>
                  <a:lnTo>
                    <a:pt x="4722" y="11705"/>
                  </a:lnTo>
                  <a:lnTo>
                    <a:pt x="4686" y="11688"/>
                  </a:lnTo>
                  <a:lnTo>
                    <a:pt x="4650" y="11669"/>
                  </a:lnTo>
                  <a:lnTo>
                    <a:pt x="4615" y="11651"/>
                  </a:lnTo>
                  <a:lnTo>
                    <a:pt x="4580" y="11632"/>
                  </a:lnTo>
                  <a:lnTo>
                    <a:pt x="4546" y="11612"/>
                  </a:lnTo>
                  <a:lnTo>
                    <a:pt x="4513" y="11592"/>
                  </a:lnTo>
                  <a:lnTo>
                    <a:pt x="4481" y="11572"/>
                  </a:lnTo>
                  <a:lnTo>
                    <a:pt x="4449" y="11550"/>
                  </a:lnTo>
                  <a:lnTo>
                    <a:pt x="4419" y="11528"/>
                  </a:lnTo>
                  <a:lnTo>
                    <a:pt x="4390" y="11506"/>
                  </a:lnTo>
                  <a:lnTo>
                    <a:pt x="4363" y="11484"/>
                  </a:lnTo>
                  <a:lnTo>
                    <a:pt x="4335" y="11462"/>
                  </a:lnTo>
                  <a:lnTo>
                    <a:pt x="4310" y="11439"/>
                  </a:lnTo>
                  <a:lnTo>
                    <a:pt x="4286" y="11414"/>
                  </a:lnTo>
                  <a:lnTo>
                    <a:pt x="187" y="7297"/>
                  </a:lnTo>
                  <a:close/>
                </a:path>
              </a:pathLst>
            </a:custGeom>
            <a:solidFill>
              <a:sysClr val="window" lastClr="FFFFFF"/>
            </a:solidFill>
            <a:ln w="19050">
              <a:noFill/>
            </a:ln>
          </p:spPr>
          <p:txBody>
            <a:bodyPr vert="horz" wrap="square" lIns="57150" tIns="28575" rIns="57150" bIns="28575" numCol="1" anchor="t" anchorCtr="0" compatLnSpc="1"/>
            <a:lstStyle/>
            <a:p>
              <a:pPr marL="0" marR="0" lvl="0" indent="0" defTabSz="2857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 Light" panose="020B0403030101060003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104" name="组合 103"/>
          <p:cNvGrpSpPr/>
          <p:nvPr/>
        </p:nvGrpSpPr>
        <p:grpSpPr>
          <a:xfrm>
            <a:off x="0" y="848476"/>
            <a:ext cx="12192000" cy="252000"/>
            <a:chOff x="0" y="848476"/>
            <a:chExt cx="12192000" cy="252000"/>
          </a:xfrm>
        </p:grpSpPr>
        <p:sp>
          <p:nvSpPr>
            <p:cNvPr id="101" name="Round Single Corner Rectangle 22"/>
            <p:cNvSpPr/>
            <p:nvPr/>
          </p:nvSpPr>
          <p:spPr>
            <a:xfrm flipH="1">
              <a:off x="9960000" y="848476"/>
              <a:ext cx="2232000" cy="252000"/>
            </a:xfrm>
            <a:prstGeom prst="round1Rect">
              <a:avLst>
                <a:gd name="adj" fmla="val 50000"/>
              </a:avLst>
            </a:prstGeom>
            <a:solidFill>
              <a:srgbClr val="C00000"/>
            </a:solidFill>
            <a:ln w="254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02" name="TextBox 24"/>
            <p:cNvSpPr txBox="1"/>
            <p:nvPr/>
          </p:nvSpPr>
          <p:spPr>
            <a:xfrm>
              <a:off x="9977710" y="866754"/>
              <a:ext cx="1971675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>
                <a:defRPr sz="800" spc="200" baseline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defRPr>
              </a:lvl1pPr>
            </a:lstStyle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0" cap="none" spc="20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 Light" panose="020B0306030504020204" pitchFamily="34" charset="0"/>
                  <a:cs typeface="Open Sans Light" panose="020B0306030504020204" pitchFamily="34" charset="0"/>
                </a:rPr>
                <a:t>链接世界  </a:t>
              </a:r>
              <a:r>
                <a:rPr kumimoji="0" lang="en-US" altLang="zh-CN" sz="800" b="0" i="0" u="none" strike="noStrike" kern="0" cap="none" spc="20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|  </a:t>
              </a:r>
              <a:r>
                <a:rPr kumimoji="0" lang="en-US" sz="800" b="0" i="0" u="none" strike="noStrike" kern="0" cap="none" spc="20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link the world</a:t>
              </a:r>
              <a:endPara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103" name="Round Single Corner Rectangle 22"/>
            <p:cNvSpPr/>
            <p:nvPr/>
          </p:nvSpPr>
          <p:spPr>
            <a:xfrm>
              <a:off x="0" y="848476"/>
              <a:ext cx="9900000" cy="252000"/>
            </a:xfrm>
            <a:prstGeom prst="round1Rect">
              <a:avLst>
                <a:gd name="adj" fmla="val 50000"/>
              </a:avLst>
            </a:prstGeom>
            <a:gradFill flip="none" rotWithShape="1">
              <a:gsLst>
                <a:gs pos="21000">
                  <a:srgbClr val="015681"/>
                </a:gs>
                <a:gs pos="100000">
                  <a:srgbClr val="01B8D1"/>
                </a:gs>
              </a:gsLst>
              <a:lin ang="0" scaled="1"/>
              <a:tileRect/>
            </a:gradFill>
            <a:ln w="254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92A4C"/>
              </a:gs>
              <a:gs pos="70000">
                <a:srgbClr val="05142B"/>
              </a:gs>
              <a:gs pos="100000">
                <a:srgbClr val="030B20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161128" y="1416441"/>
            <a:ext cx="5869744" cy="15905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rmAutofit/>
          </a:bodyPr>
          <a:lstStyle>
            <a:defPPr>
              <a:defRPr lang="zh-CN"/>
            </a:defPPr>
            <a:lvl1pPr algn="r"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05D3F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endParaRPr kumimoji="0" lang="en-US" altLang="zh-CN" sz="7200" b="1" i="0" u="none" strike="noStrike" kern="1200" cap="none" spc="0" normalizeH="0" baseline="0" noProof="0" dirty="0">
              <a:ln>
                <a:noFill/>
              </a:ln>
              <a:solidFill>
                <a:srgbClr val="05D3F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4500" y="3736975"/>
            <a:ext cx="2493645" cy="31210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985" y="3737610"/>
            <a:ext cx="2743835" cy="31007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562985" y="3395345"/>
            <a:ext cx="1704975" cy="43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bg1"/>
                </a:solidFill>
              </a:rPr>
              <a:t>Wechat</a:t>
            </a:r>
            <a:r>
              <a:rPr lang="zh-CN" altLang="en-US" b="1">
                <a:solidFill>
                  <a:schemeClr val="bg1"/>
                </a:solidFill>
              </a:rPr>
              <a:t>微信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570720" y="3259455"/>
            <a:ext cx="2412365" cy="43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bg1"/>
                </a:solidFill>
              </a:rPr>
              <a:t>Xiaohongshu</a:t>
            </a:r>
            <a:r>
              <a:rPr lang="zh-CN" altLang="en-US" b="1">
                <a:solidFill>
                  <a:schemeClr val="bg1"/>
                </a:solidFill>
              </a:rPr>
              <a:t>小红书</a:t>
            </a:r>
            <a:endParaRPr lang="zh-CN" altLang="en-US" b="1">
              <a:solidFill>
                <a:schemeClr val="bg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98240"/>
            <a:ext cx="2807335" cy="315976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50825" y="3259455"/>
            <a:ext cx="1704975" cy="43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bg1"/>
                </a:solidFill>
              </a:rPr>
              <a:t>Y</a:t>
            </a:r>
            <a:r>
              <a:rPr lang="en-US" altLang="zh-CN" b="1">
                <a:solidFill>
                  <a:schemeClr val="bg1"/>
                </a:solidFill>
              </a:rPr>
              <a:t>ouTube</a:t>
            </a:r>
            <a:endParaRPr lang="en-US" altLang="zh-CN" b="1">
              <a:solidFill>
                <a:schemeClr val="bg1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4675" y="3717290"/>
            <a:ext cx="3750310" cy="312102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433185" y="3298190"/>
            <a:ext cx="1704975" cy="43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bg1"/>
                </a:solidFill>
              </a:rPr>
              <a:t>Instagram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0" y="216535"/>
            <a:ext cx="725297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chemeClr val="bg1"/>
                </a:solidFill>
                <a:sym typeface="+mn-ea"/>
              </a:rPr>
              <a:t>Contact us : partner.globallink.sc@gmail.com</a:t>
            </a:r>
            <a:endParaRPr lang="en-US" altLang="zh-CN" sz="2800" b="1" dirty="0">
              <a:solidFill>
                <a:schemeClr val="bg1"/>
              </a:solidFill>
              <a:sym typeface="+mn-ea"/>
            </a:endParaRPr>
          </a:p>
          <a:p>
            <a:r>
              <a:rPr lang="en-US" altLang="zh-CN" sz="2800" b="1" dirty="0">
                <a:solidFill>
                  <a:schemeClr val="bg1"/>
                </a:solidFill>
                <a:sym typeface="+mn-ea"/>
              </a:rPr>
              <a:t>Phone: + 86 191 5232 9812</a:t>
            </a:r>
            <a:endParaRPr lang="en-US" altLang="zh-CN" sz="2800" b="1" dirty="0">
              <a:solidFill>
                <a:schemeClr val="bg1"/>
              </a:solidFill>
            </a:endParaRPr>
          </a:p>
          <a:p>
            <a:endParaRPr lang="en-US" altLang="zh-CN" sz="2800" b="1" dirty="0">
              <a:solidFill>
                <a:schemeClr val="bg1"/>
              </a:solidFill>
            </a:endParaRPr>
          </a:p>
          <a:p>
            <a:endParaRPr lang="en-US" altLang="zh-CN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EXTBOXSTYLE_SHAPETYPE" val="0"/>
  <p:tag name="KSO_WM_UNIT_TEXTBOXSTYLE_TEMPLATETYPE" val="1"/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6_42*f*1"/>
  <p:tag name="KSO_WM_TEMPLATE_CATEGORY" val="mixed"/>
  <p:tag name="KSO_WM_TEMPLATE_INDEX" val="20201886"/>
  <p:tag name="KSO_WM_UNIT_LAYERLEVEL" val="1"/>
  <p:tag name="KSO_WM_TAG_VERSION" val="1.0"/>
  <p:tag name="KSO_WM_BEAUTIFY_FLAG" val="#wm#"/>
  <p:tag name="KSO_WM_UNIT_PRESET_TEXT" val="单击此处输入小标题"/>
  <p:tag name="KSO_WM_UNIT_TEXTBOXSTYLE_GUID" val="{9bb83113-1614-4126-8b53-e3e1cdd7aeea}"/>
  <p:tag name="KSO_WM_UNIT_TEXTBOXSTYLE_TEMPLATEID" val="3135005"/>
  <p:tag name="KSO_WM_UNIT_TEXTBOXSTYLE_TYPE" val="5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5040</Words>
  <Application>WPS 演示</Application>
  <PresentationFormat>宽屏</PresentationFormat>
  <Paragraphs>295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7" baseType="lpstr">
      <vt:lpstr>Arial</vt:lpstr>
      <vt:lpstr>宋体</vt:lpstr>
      <vt:lpstr>Wingdings</vt:lpstr>
      <vt:lpstr>微软雅黑 Light</vt:lpstr>
      <vt:lpstr>汉仪中黑KW</vt:lpstr>
      <vt:lpstr>Poppins ExtraBold</vt:lpstr>
      <vt:lpstr>Open Sans Light</vt:lpstr>
      <vt:lpstr>New Peninim MT Regular</vt:lpstr>
      <vt:lpstr>微软雅黑</vt:lpstr>
      <vt:lpstr>Arial</vt:lpstr>
      <vt:lpstr>Arial Regular</vt:lpstr>
      <vt:lpstr>Calibri</vt:lpstr>
      <vt:lpstr>Open Sans</vt:lpstr>
      <vt:lpstr>Raleway Light</vt:lpstr>
      <vt:lpstr>汉仪旗黑</vt:lpstr>
      <vt:lpstr>Helvetica Neue</vt:lpstr>
      <vt:lpstr>宋体</vt:lpstr>
      <vt:lpstr>Arial Unicode MS</vt:lpstr>
      <vt:lpstr>等线</vt:lpstr>
      <vt:lpstr>汉仪中等线KW</vt:lpstr>
      <vt:lpstr>苹方-简</vt:lpstr>
      <vt:lpstr>汉仪书宋二KW</vt:lpstr>
      <vt:lpstr>微软雅黑</vt:lpstr>
      <vt:lpstr>微软雅黑 Light</vt:lpstr>
      <vt:lpstr>WPS</vt:lpstr>
      <vt:lpstr>链接世界  link the world</vt:lpstr>
      <vt:lpstr>PowerPoint 演示文稿</vt:lpstr>
      <vt:lpstr>关于我们 About us</vt:lpstr>
      <vt:lpstr>核心优势 Competition advantage</vt:lpstr>
      <vt:lpstr>尾程派送是影响客户体验的关键环节 Last-mile delivery is a key link affecting customer experience.</vt:lpstr>
      <vt:lpstr>品牌理念 Brand philosophy</vt:lpstr>
      <vt:lpstr>四步核心流程 / 4-Step Core Workflow​</vt:lpstr>
      <vt:lpstr>卓越服务​ Service Excellence​</vt:lpstr>
      <vt:lpstr>主流电商平台如下Cross-border e-commerce platforms mainly cover the following</vt:lpstr>
      <vt:lpstr>核心价值​ Core Value</vt:lpstr>
      <vt:lpstr>FAQ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邓子</dc:creator>
  <cp:lastModifiedBy>Cart</cp:lastModifiedBy>
  <cp:revision>34</cp:revision>
  <dcterms:created xsi:type="dcterms:W3CDTF">2025-10-27T05:48:23Z</dcterms:created>
  <dcterms:modified xsi:type="dcterms:W3CDTF">2025-10-27T05:48:23Z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2052-6.15.1.8935</vt:lpwstr>
  </property>
  <property fmtid="{D5CDD505-2E9C-101B-9397-08002B2CF9AE}" pid="3" name="ICV">
    <vt:lpwstr>5F75DE8E82FB104CA707FF682D396A74_43</vt:lpwstr>
  </property>
</Properties>
</file>